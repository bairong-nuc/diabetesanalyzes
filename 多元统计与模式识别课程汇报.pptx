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2"/>
  </p:sldMasterIdLst>
  <p:notesMasterIdLst>
    <p:notesMasterId r:id="rId29"/>
  </p:notesMasterIdLst>
  <p:sldIdLst>
    <p:sldId id="277" r:id="rId3"/>
    <p:sldId id="257" r:id="rId4"/>
    <p:sldId id="295" r:id="rId5"/>
    <p:sldId id="285" r:id="rId6"/>
    <p:sldId id="258" r:id="rId7"/>
    <p:sldId id="293" r:id="rId8"/>
    <p:sldId id="294" r:id="rId9"/>
    <p:sldId id="296" r:id="rId10"/>
    <p:sldId id="297" r:id="rId11"/>
    <p:sldId id="298" r:id="rId12"/>
    <p:sldId id="302" r:id="rId13"/>
    <p:sldId id="303" r:id="rId14"/>
    <p:sldId id="299" r:id="rId15"/>
    <p:sldId id="300" r:id="rId16"/>
    <p:sldId id="301" r:id="rId17"/>
    <p:sldId id="304" r:id="rId18"/>
    <p:sldId id="305" r:id="rId19"/>
    <p:sldId id="307" r:id="rId20"/>
    <p:sldId id="308" r:id="rId21"/>
    <p:sldId id="309" r:id="rId22"/>
    <p:sldId id="310" r:id="rId23"/>
    <p:sldId id="312" r:id="rId24"/>
    <p:sldId id="313" r:id="rId25"/>
    <p:sldId id="314" r:id="rId26"/>
    <p:sldId id="315" r:id="rId27"/>
    <p:sldId id="316"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6" userDrawn="1">
          <p15:clr>
            <a:srgbClr val="747775"/>
          </p15:clr>
        </p15:guide>
        <p15:guide id="2" pos="2872"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2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25" autoAdjust="0"/>
    <p:restoredTop sz="94660"/>
  </p:normalViewPr>
  <p:slideViewPr>
    <p:cSldViewPr snapToGrid="0" showGuides="1">
      <p:cViewPr varScale="1">
        <p:scale>
          <a:sx n="132" d="100"/>
          <a:sy n="132" d="100"/>
        </p:scale>
        <p:origin x="156" y="40"/>
      </p:cViewPr>
      <p:guideLst>
        <p:guide orient="horz" pos="1646"/>
        <p:guide pos="287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29.03.2026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B4327-933C-CEDE-CB30-3390CB265AE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6E225C7-1AF9-B7C7-09DF-A2C2473E52F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ED922E2-7B15-142B-98DD-38266ADCC7F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0C79C40-B672-E3DE-C412-C5E94F1C99F8}"/>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7E68E2B-C612-4123-3EAD-831CFAAFC70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0A17323-1E71-48B3-6324-6136FB44A1E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F5F2A3D-2E17-7F58-5D1D-F085C171E83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3240586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CE986-F621-79BD-1B0F-19556F728A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E1CE37-1BC8-86FA-4514-563C32648DB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053E0BB-E826-632A-6A90-93B7830B94F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ABD2A7B-7F24-70AE-2D06-6CC7D624C91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707B696-A746-59A6-E641-448813990D3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1A78AD8-CB19-F4A9-27C8-A9D899F6FFA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045B65E-5555-71AC-0DEB-48A12597D7A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2446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31C6B-6D2C-FC86-EB76-1986635B236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CED1938-5126-3004-8BF1-9BC043B7E52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9F402FD-411F-F071-E73F-92AB92E6885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590D34-FDB1-16EB-DDB0-CB003EB4ADB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EFCC6EF-A955-3F51-7E04-6706CFBC04E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584A24E9-B3BC-EDE5-E53D-11D41B88926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E04FCF3-3367-1559-5FF6-FD1B1667AE1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712032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C6E1-1404-DDD0-4D60-8A64BEC12337}"/>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36BCEF9-A630-C4E3-C3D3-60DB219574E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EE3ABFE-861C-27AE-556C-EE69ED79366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89D86AD3-5472-B79A-BE01-EA5E77E124C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F08A26A-7265-86CE-6355-550C39D2783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417EDF7-352D-CFFF-B957-D7A3A08A999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84EC14E-8387-0BFA-0650-A76CC479A22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327471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731F7-D9DE-58AF-2200-84F5BA0191A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8EADA7-F6AC-9A79-7143-AD5B30AC6B7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0A1D3CE-7748-2672-D5F2-82615FA583A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9D22658-19F9-30FD-C0F0-3FDE0801259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077E84D-B4BC-2325-2080-633CF9CB4F8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7858DC0D-BB05-860D-8BB3-B36EE44B9F5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CD5640E-56DE-0F23-B7F9-71C38F0FBA3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302272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90763" y="512763"/>
            <a:ext cx="4562475" cy="2566987"/>
          </a:xfrm>
        </p:spPr>
      </p:sp>
      <p:sp>
        <p:nvSpPr>
          <p:cNvPr id="3" name="备注占位符 2"/>
          <p:cNvSpPr>
            <a:spLocks noGrp="1"/>
          </p:cNvSpPr>
          <p:nvPr>
            <p:ph type="body" idx="1"/>
          </p:nvPr>
        </p:nvSpPr>
        <p:spPr/>
        <p:txBody>
          <a:bodyPr/>
          <a:lstStyle/>
          <a:p>
            <a:r>
              <a:rPr lang="zh-CN" altLang="en-US" dirty="0"/>
              <a:t>解释两张输出图片</a:t>
            </a:r>
          </a:p>
        </p:txBody>
      </p:sp>
      <p:sp>
        <p:nvSpPr>
          <p:cNvPr id="4" name="灯片编号占位符 3"/>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27347627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A5223-63E7-41F2-513B-882DB72B612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2D74D3D-DF0A-7CBF-35C5-001A900A1C9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E32AFCBA-C826-5AC6-7B6A-1B8067B0A7E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989ACAE-69A0-C78A-2666-7CA275BE929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4B1D8E1-31B3-12B1-6CFE-3993FB6CBD8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0FE7B9F9-522F-442B-19B8-AFEA8483C61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11079F5-63C5-0524-EEC6-B09DA7D7032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5838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5C8-0C23-491C-DA3F-957C584E3B8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D791EF1-B92A-22E8-AD3B-5856115AD1C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8614FDDB-4A49-2B6B-8D3A-EABB21173DAF}"/>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FB3DAE53-C524-7B86-E8C8-28F8F55AC37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DE3222E-E1A3-2301-4479-301D433CCFE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endParaRPr lang="en-US" sz="1400" b="0" i="0" u="none" strike="noStrike" dirty="0">
              <a:solidFill>
                <a:srgbClr val="000000"/>
              </a:solidFill>
            </a:endParaRPr>
          </a:p>
        </p:txBody>
      </p:sp>
      <p:sp>
        <p:nvSpPr>
          <p:cNvPr id="6" name="Footer Placeholder 5">
            <a:extLst>
              <a:ext uri="{FF2B5EF4-FFF2-40B4-BE49-F238E27FC236}">
                <a16:creationId xmlns:a16="http://schemas.microsoft.com/office/drawing/2014/main" id="{E434155D-A56C-77B5-32DA-82D7B8607F7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5F8602C-3302-EB8F-68CC-8CC404312BE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3996059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90763" y="512763"/>
            <a:ext cx="4562475" cy="2566987"/>
          </a:xfrm>
        </p:spPr>
      </p:sp>
      <p:sp>
        <p:nvSpPr>
          <p:cNvPr id="3" name="备注占位符 2"/>
          <p:cNvSpPr>
            <a:spLocks noGrp="1"/>
          </p:cNvSpPr>
          <p:nvPr>
            <p:ph type="body" idx="1"/>
          </p:nvPr>
        </p:nvSpPr>
        <p:spPr/>
        <p:txBody>
          <a:bodyPr/>
          <a:lstStyle/>
          <a:p>
            <a:r>
              <a:rPr lang="zh-CN" altLang="en-US" dirty="0"/>
              <a:t>解释为什么原点从</a:t>
            </a:r>
            <a:r>
              <a:rPr lang="en-US" altLang="zh-CN" dirty="0"/>
              <a:t>0,0</a:t>
            </a:r>
            <a:r>
              <a:rPr lang="zh-CN" altLang="en-US" dirty="0"/>
              <a:t>开始</a:t>
            </a:r>
          </a:p>
        </p:txBody>
      </p:sp>
      <p:sp>
        <p:nvSpPr>
          <p:cNvPr id="4" name="灯片编号占位符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1118675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kaggle.com/datasets/mathchi/diabetes-data-set/data"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diabetes.csv"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mailto:vgs@aplcen.apl.jhu.edu"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2.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形 29"/>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p:cNvPicPr>
            <a:picLocks noChangeAspect="1"/>
          </p:cNvPicPr>
          <p:nvPr/>
        </p:nvPicPr>
        <p:blipFill>
          <a:blip r:embed="rId6"/>
          <a:stretch>
            <a:fillRect/>
          </a:stretch>
        </p:blipFill>
        <p:spPr>
          <a:xfrm>
            <a:off x="5309235" y="400685"/>
            <a:ext cx="1502410" cy="1504315"/>
          </a:xfrm>
          <a:prstGeom prst="rect">
            <a:avLst/>
          </a:prstGeom>
        </p:spPr>
      </p:pic>
      <p:sp>
        <p:nvSpPr>
          <p:cNvPr id="10" name="文本框 9"/>
          <p:cNvSpPr txBox="1"/>
          <p:nvPr/>
        </p:nvSpPr>
        <p:spPr>
          <a:xfrm>
            <a:off x="1015365" y="2294255"/>
            <a:ext cx="10467340" cy="583565"/>
          </a:xfrm>
          <a:prstGeom prst="rect">
            <a:avLst/>
          </a:prstGeom>
          <a:noFill/>
        </p:spPr>
        <p:txBody>
          <a:bodyPr wrap="square" rtlCol="0">
            <a:spAutoFit/>
          </a:bodyPr>
          <a:lstStyle/>
          <a:p>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基于机器学习的血糖预测模型研究与应用</a:t>
            </a:r>
            <a:endParaRPr lang="en-US"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endParaRPr>
          </a:p>
        </p:txBody>
      </p:sp>
      <p:sp>
        <p:nvSpPr>
          <p:cNvPr id="11" name="AutoShape 7"/>
          <p:cNvSpPr/>
          <p:nvPr/>
        </p:nvSpPr>
        <p:spPr>
          <a:xfrm>
            <a:off x="2286000" y="3429000"/>
            <a:ext cx="7620000" cy="508000"/>
          </a:xfrm>
          <a:prstGeom prst="rect">
            <a:avLst/>
          </a:prstGeom>
          <a:noFill/>
          <a:ln w="12700" cap="flat" cmpd="sng">
            <a:noFill/>
            <a:prstDash val="solid"/>
            <a:round/>
          </a:ln>
        </p:spPr>
        <p:txBody>
          <a:bodyPr vert="horz" wrap="none" lIns="0" tIns="0" rIns="0" bIns="0" rtlCol="0" anchor="t" anchorCtr="0"/>
          <a:lstStyle/>
          <a:p>
            <a:pPr indent="0" algn="ctr">
              <a:lnSpc>
                <a:spcPct val="125000"/>
              </a:lnSpc>
              <a:defRPr/>
            </a:pPr>
            <a:r>
              <a:rPr lang="en-US" sz="2000" b="0" i="0" u="none" strike="noStrike" spc="400">
                <a:solidFill>
                  <a:schemeClr val="tx1"/>
                </a:solidFill>
                <a:latin typeface="+mn-ea"/>
                <a:ea typeface="+mn-ea"/>
                <a:cs typeface="Noto Sans SC" panose="020B0200000000000000" charset="-122"/>
                <a:sym typeface="Noto Sans SC" panose="020B0200000000000000" charset="-122"/>
              </a:rPr>
              <a:t>课程汇报</a:t>
            </a:r>
          </a:p>
        </p:txBody>
      </p:sp>
      <p:cxnSp>
        <p:nvCxnSpPr>
          <p:cNvPr id="13" name="直接连接符 12"/>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466330" y="5352415"/>
            <a:ext cx="6647180" cy="583565"/>
          </a:xfrm>
          <a:prstGeom prst="rect">
            <a:avLst/>
          </a:prstGeom>
          <a:noFill/>
        </p:spPr>
        <p:txBody>
          <a:bodyPr wrap="square" rtlCol="0">
            <a:spAutoFit/>
          </a:bodyPr>
          <a:lstStyle/>
          <a:p>
            <a:r>
              <a:rPr 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汇报人：S202513003 </a:t>
            </a:r>
            <a:r>
              <a:rPr lang="zh-CN" altLang="en-US" sz="1600"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rPr>
              <a:t>龚柏荣</a:t>
            </a:r>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
        <p:nvSpPr>
          <p:cNvPr id="2" name="文本框 1"/>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3" name="AutoShape 3"/>
          <p:cNvSpPr/>
          <p:nvPr/>
        </p:nvSpPr>
        <p:spPr>
          <a:xfrm>
            <a:off x="-45085" y="0"/>
            <a:ext cx="12192000" cy="6858000"/>
          </a:xfrm>
          <a:prstGeom prst="roundRect">
            <a:avLst>
              <a:gd name="adj" fmla="val 0"/>
            </a:avLst>
          </a:prstGeom>
          <a:solidFill>
            <a:srgbClr val="FFFFFF">
              <a:alpha val="9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AutoShape 4"/>
          <p:cNvSpPr/>
          <p:nvPr/>
        </p:nvSpPr>
        <p:spPr>
          <a:xfrm>
            <a:off x="762000" y="508000"/>
            <a:ext cx="89408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200" b="1" i="0" u="none" strike="noStrike" dirty="0" err="1">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dirty="0"/>
          </a:p>
        </p:txBody>
      </p:sp>
      <p:sp>
        <p:nvSpPr>
          <p:cNvPr id="5" name="AutoShape 5"/>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AutoShape 6"/>
          <p:cNvSpPr/>
          <p:nvPr/>
        </p:nvSpPr>
        <p:spPr>
          <a:xfrm>
            <a:off x="761999" y="149225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7" name="AutoShape 7"/>
          <p:cNvSpPr/>
          <p:nvPr/>
        </p:nvSpPr>
        <p:spPr>
          <a:xfrm>
            <a:off x="1016000" y="1778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1016000" y="1778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endParaRPr lang="en-US" sz="1100"/>
          </a:p>
        </p:txBody>
      </p:sp>
      <p:sp>
        <p:nvSpPr>
          <p:cNvPr id="9" name="AutoShape 9"/>
          <p:cNvSpPr/>
          <p:nvPr/>
        </p:nvSpPr>
        <p:spPr>
          <a:xfrm>
            <a:off x="1905000" y="1778000"/>
            <a:ext cx="7620000" cy="381000"/>
          </a:xfrm>
          <a:prstGeom prst="rect">
            <a:avLst/>
          </a:prstGeom>
          <a:noFill/>
          <a:ln w="12700" cap="flat" cmpd="sng">
            <a:noFill/>
            <a:prstDash val="solid"/>
            <a:round/>
          </a:ln>
        </p:spPr>
        <p:txBody>
          <a:bodyPr vert="horz" wrap="square" lIns="0" tIns="0" rIns="0" bIns="0" rtlCol="0" anchor="ctr" anchorCtr="0"/>
          <a:lstStyle/>
          <a:p>
            <a:pPr>
              <a:lnSpc>
                <a:spcPct val="125000"/>
              </a:lnSpc>
              <a:defRPr/>
            </a:pPr>
            <a:r>
              <a:rPr lang="zh-CN" altLang="en-US" sz="2000" b="1" dirty="0">
                <a:solidFill>
                  <a:srgbClr val="1F2329"/>
                </a:solidFill>
                <a:ea typeface="Noto Sans SC" panose="020B0200000000000000" charset="-122"/>
              </a:rPr>
              <a:t>研究目标与数据集介绍</a:t>
            </a:r>
            <a:endParaRPr lang="en-US" sz="2000" b="1" dirty="0">
              <a:solidFill>
                <a:srgbClr val="1F2329"/>
              </a:solidFill>
              <a:ea typeface="Noto Sans SC" panose="020B0200000000000000" charset="-122"/>
            </a:endParaRPr>
          </a:p>
        </p:txBody>
      </p:sp>
      <p:sp>
        <p:nvSpPr>
          <p:cNvPr id="11" name="AutoShape 11"/>
          <p:cNvSpPr/>
          <p:nvPr/>
        </p:nvSpPr>
        <p:spPr>
          <a:xfrm>
            <a:off x="762000" y="2603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dirty="0"/>
          </a:p>
        </p:txBody>
      </p:sp>
      <p:sp>
        <p:nvSpPr>
          <p:cNvPr id="12" name="AutoShape 12"/>
          <p:cNvSpPr/>
          <p:nvPr/>
        </p:nvSpPr>
        <p:spPr>
          <a:xfrm>
            <a:off x="1016000" y="2857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3" name="AutoShape 13"/>
          <p:cNvSpPr/>
          <p:nvPr/>
        </p:nvSpPr>
        <p:spPr>
          <a:xfrm>
            <a:off x="1016000" y="2857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endParaRPr lang="en-US" sz="1100"/>
          </a:p>
        </p:txBody>
      </p:sp>
      <p:sp>
        <p:nvSpPr>
          <p:cNvPr id="14" name="AutoShape 14"/>
          <p:cNvSpPr/>
          <p:nvPr/>
        </p:nvSpPr>
        <p:spPr>
          <a:xfrm>
            <a:off x="1905000" y="2857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数据分析与传统机器学习</a:t>
            </a:r>
            <a:endParaRPr lang="en-US" sz="1100" dirty="0"/>
          </a:p>
        </p:txBody>
      </p:sp>
      <p:sp>
        <p:nvSpPr>
          <p:cNvPr id="16" name="AutoShape 16"/>
          <p:cNvSpPr/>
          <p:nvPr/>
        </p:nvSpPr>
        <p:spPr>
          <a:xfrm>
            <a:off x="762000" y="36830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17" name="AutoShape 17"/>
          <p:cNvSpPr/>
          <p:nvPr/>
        </p:nvSpPr>
        <p:spPr>
          <a:xfrm>
            <a:off x="1016000" y="39370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18" name="AutoShape 18"/>
          <p:cNvSpPr/>
          <p:nvPr/>
        </p:nvSpPr>
        <p:spPr>
          <a:xfrm>
            <a:off x="1016000" y="39370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endParaRPr lang="en-US" sz="1100"/>
          </a:p>
        </p:txBody>
      </p:sp>
      <p:sp>
        <p:nvSpPr>
          <p:cNvPr id="19" name="AutoShape 19"/>
          <p:cNvSpPr/>
          <p:nvPr/>
        </p:nvSpPr>
        <p:spPr>
          <a:xfrm>
            <a:off x="1905000" y="39370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数据分析与深度学习</a:t>
            </a:r>
            <a:endParaRPr lang="en-US" sz="1100" dirty="0"/>
          </a:p>
        </p:txBody>
      </p:sp>
      <p:sp>
        <p:nvSpPr>
          <p:cNvPr id="21" name="AutoShape 21"/>
          <p:cNvSpPr/>
          <p:nvPr/>
        </p:nvSpPr>
        <p:spPr>
          <a:xfrm>
            <a:off x="762000" y="4762500"/>
            <a:ext cx="10668000" cy="889000"/>
          </a:xfrm>
          <a:prstGeom prst="roundRect">
            <a:avLst>
              <a:gd name="adj" fmla="val 14285"/>
            </a:avLst>
          </a:prstGeom>
          <a:solidFill>
            <a:srgbClr val="F5F7FA">
              <a:alpha val="100000"/>
            </a:srgbClr>
          </a:solidFill>
          <a:ln cap="flat" cmpd="sng">
            <a:solidFill>
              <a:srgbClr val="C6D0E1">
                <a:alpha val="100000"/>
              </a:srgbClr>
            </a:solidFill>
            <a:prstDash val="solid"/>
            <a:round/>
          </a:ln>
        </p:spPr>
        <p:txBody>
          <a:bodyPr vert="horz" wrap="square" lIns="63500" tIns="63500" rIns="63500" bIns="63500" rtlCol="0" anchor="ctr"/>
          <a:lstStyle/>
          <a:p>
            <a:pPr algn="ctr">
              <a:defRPr/>
            </a:pPr>
            <a:endParaRPr/>
          </a:p>
        </p:txBody>
      </p:sp>
      <p:sp>
        <p:nvSpPr>
          <p:cNvPr id="22" name="AutoShape 22"/>
          <p:cNvSpPr/>
          <p:nvPr/>
        </p:nvSpPr>
        <p:spPr>
          <a:xfrm>
            <a:off x="1016000" y="5016500"/>
            <a:ext cx="635000" cy="381000"/>
          </a:xfrm>
          <a:prstGeom prst="roundRect">
            <a:avLst>
              <a:gd name="adj" fmla="val 16666"/>
            </a:avLst>
          </a:prstGeom>
          <a:solidFill>
            <a:srgbClr val="0052FF">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23" name="AutoShape 23"/>
          <p:cNvSpPr/>
          <p:nvPr/>
        </p:nvSpPr>
        <p:spPr>
          <a:xfrm>
            <a:off x="1016000" y="5016500"/>
            <a:ext cx="635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endParaRPr lang="en-US" sz="1100"/>
          </a:p>
        </p:txBody>
      </p:sp>
      <p:sp>
        <p:nvSpPr>
          <p:cNvPr id="24" name="AutoShape 24"/>
          <p:cNvSpPr/>
          <p:nvPr/>
        </p:nvSpPr>
        <p:spPr>
          <a:xfrm>
            <a:off x="1905000" y="5016500"/>
            <a:ext cx="762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zh-CN" altLang="en-US" sz="2000" b="1" dirty="0">
                <a:solidFill>
                  <a:srgbClr val="1F2329"/>
                </a:solidFill>
                <a:ea typeface="Noto Sans SC" panose="020B0200000000000000" charset="-122"/>
                <a:sym typeface="Noto Sans SC" panose="020B0200000000000000" charset="-122"/>
              </a:rPr>
              <a:t>总结与资源分享</a:t>
            </a:r>
            <a:endParaRPr lang="en-US" sz="1100" dirty="0"/>
          </a:p>
        </p:txBody>
      </p:sp>
      <p:sp>
        <p:nvSpPr>
          <p:cNvPr id="26" name="AutoShape 26"/>
          <p:cNvSpPr/>
          <p:nvPr/>
        </p:nvSpPr>
        <p:spPr>
          <a:xfrm>
            <a:off x="66675" y="7175500"/>
            <a:ext cx="12192000" cy="1016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1711D-7044-CC12-BA74-BD51D09FF65B}"/>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A2C7F093-AD9A-8DAD-8CCD-83FAAB9FD09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02839AD7-5449-9CFE-A92D-541B7F670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0B57879A-CD31-CDF8-DA6D-ED6CD4C431DB}"/>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BBCFB23D-D117-E347-D2E7-782BC1E8BE36}"/>
              </a:ext>
            </a:extLst>
          </p:cNvPr>
          <p:cNvSpPr txBox="1"/>
          <p:nvPr/>
        </p:nvSpPr>
        <p:spPr>
          <a:xfrm>
            <a:off x="276225" y="2407104"/>
            <a:ext cx="10467340" cy="584775"/>
          </a:xfrm>
          <a:prstGeom prst="rect">
            <a:avLst/>
          </a:prstGeom>
          <a:noFill/>
        </p:spPr>
        <p:txBody>
          <a:bodyPr wrap="square" rtlCol="0">
            <a:spAutoFit/>
          </a:bodyPr>
          <a:lstStyle/>
          <a:p>
            <a:pPr algn="ctr"/>
            <a:r>
              <a:rPr lang="zh-CN" altLang="en-US" sz="3200" b="1" dirty="0">
                <a:solidFill>
                  <a:schemeClr val="tx1"/>
                </a:solidFill>
                <a:latin typeface="黑体" panose="02010609060101010101" charset="-122"/>
                <a:ea typeface="黑体" panose="02010609060101010101" charset="-122"/>
                <a:cs typeface="Noto Sans SC" panose="020B0200000000000000" charset="-122"/>
                <a:sym typeface="Noto Sans SC" panose="020B0200000000000000" charset="-122"/>
              </a:rPr>
              <a:t>      </a:t>
            </a:r>
            <a:r>
              <a:rPr lang="zh-CN" altLang="en-US" sz="3200" b="1" dirty="0">
                <a:solidFill>
                  <a:srgbClr val="1F2329"/>
                </a:solidFill>
                <a:ea typeface="Noto Sans SC" panose="020B0200000000000000" charset="-122"/>
              </a:rPr>
              <a:t>研究目标与数据集介绍</a:t>
            </a: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362C7DC7-3378-3E12-EF7C-082AD09DD4E0}"/>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054511F-8191-41C7-1134-FBD02D0FA9A9}"/>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2189111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a:extLst>
              <a:ext uri="{FF2B5EF4-FFF2-40B4-BE49-F238E27FC236}">
                <a16:creationId xmlns:a16="http://schemas.microsoft.com/office/drawing/2014/main" id="{C9D9EA5D-C87E-79F2-1E35-B2B06C0A820C}"/>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论文思路框架</a:t>
            </a:r>
            <a:endParaRPr lang="en-US" sz="1100" dirty="0"/>
          </a:p>
        </p:txBody>
      </p:sp>
      <p:sp>
        <p:nvSpPr>
          <p:cNvPr id="3" name="AutoShape 3">
            <a:extLst>
              <a:ext uri="{FF2B5EF4-FFF2-40B4-BE49-F238E27FC236}">
                <a16:creationId xmlns:a16="http://schemas.microsoft.com/office/drawing/2014/main" id="{D166D94B-F032-EB4B-7901-8046CF895595}"/>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文本框 3">
            <a:extLst>
              <a:ext uri="{FF2B5EF4-FFF2-40B4-BE49-F238E27FC236}">
                <a16:creationId xmlns:a16="http://schemas.microsoft.com/office/drawing/2014/main" id="{8E4990A0-E8D0-37A9-8C67-571A60637E76}"/>
              </a:ext>
            </a:extLst>
          </p:cNvPr>
          <p:cNvSpPr txBox="1"/>
          <p:nvPr/>
        </p:nvSpPr>
        <p:spPr>
          <a:xfrm>
            <a:off x="762000" y="1391055"/>
            <a:ext cx="9583366" cy="2246769"/>
          </a:xfrm>
          <a:prstGeom prst="rect">
            <a:avLst/>
          </a:prstGeom>
          <a:noFill/>
        </p:spPr>
        <p:txBody>
          <a:bodyPr wrap="square" rtlCol="0">
            <a:spAutoFit/>
          </a:bodyPr>
          <a:lstStyle/>
          <a:p>
            <a:r>
              <a:rPr lang="zh-CN" altLang="en-US" dirty="0"/>
              <a:t>作者把血糖预测看作一个分类混合问题：</a:t>
            </a:r>
            <a:endParaRPr lang="en-US" altLang="zh-CN" dirty="0"/>
          </a:p>
          <a:p>
            <a:endParaRPr lang="en-US" altLang="zh-CN" dirty="0"/>
          </a:p>
          <a:p>
            <a:r>
              <a:rPr lang="zh-CN" altLang="en-US" dirty="0"/>
              <a:t>首先进行数据清洗，分析了特征值与分类之间的关系，使用深度学习的注意力机制与</a:t>
            </a:r>
            <a:r>
              <a:rPr lang="en-US" altLang="zh-CN" dirty="0"/>
              <a:t>CNN</a:t>
            </a:r>
            <a:r>
              <a:rPr lang="zh-CN" altLang="en-US" dirty="0"/>
              <a:t>训练模型</a:t>
            </a:r>
            <a:endParaRPr lang="en-US" altLang="zh-CN" dirty="0"/>
          </a:p>
          <a:p>
            <a:endParaRPr lang="en-US" altLang="zh-CN" dirty="0"/>
          </a:p>
          <a:p>
            <a:r>
              <a:rPr lang="zh-CN" altLang="en-US" dirty="0"/>
              <a:t>在此基础上，作者提出了基于粒子群优化的融合模型设计，和使用注意力机制与</a:t>
            </a:r>
            <a:r>
              <a:rPr lang="en-US" altLang="zh-CN" dirty="0"/>
              <a:t>CNN</a:t>
            </a:r>
            <a:r>
              <a:rPr lang="zh-CN" altLang="en-US" dirty="0"/>
              <a:t>做了对比，优化了识别效率</a:t>
            </a:r>
            <a:endParaRPr lang="en-US" altLang="zh-CN" dirty="0"/>
          </a:p>
          <a:p>
            <a:endParaRPr lang="en-US" altLang="zh-CN" dirty="0"/>
          </a:p>
          <a:p>
            <a:r>
              <a:rPr lang="zh-CN" altLang="en-US" dirty="0"/>
              <a:t>之后再用模型蒸馏等压缩手段在保证临床性能（低血糖召回、</a:t>
            </a:r>
            <a:r>
              <a:rPr lang="en-US" altLang="zh-CN" dirty="0"/>
              <a:t>Clarke grid A/B </a:t>
            </a:r>
            <a:r>
              <a:rPr lang="zh-CN" altLang="en-US" dirty="0"/>
              <a:t>）前提下满足延迟与存储约束。</a:t>
            </a:r>
            <a:endParaRPr lang="en-US" altLang="zh-CN" dirty="0"/>
          </a:p>
          <a:p>
            <a:endParaRPr lang="en-US" altLang="zh-CN" dirty="0"/>
          </a:p>
          <a:p>
            <a:r>
              <a:rPr lang="zh-CN" altLang="en-US" dirty="0"/>
              <a:t>最后将这个基于机器学习的血糖检测系统部署到</a:t>
            </a:r>
            <a:r>
              <a:rPr lang="en-US" altLang="zh-CN" dirty="0"/>
              <a:t>WEB</a:t>
            </a:r>
            <a:r>
              <a:rPr lang="zh-CN" altLang="en-US" dirty="0"/>
              <a:t>端。</a:t>
            </a:r>
          </a:p>
          <a:p>
            <a:endParaRPr lang="zh-CN" altLang="en-US" dirty="0"/>
          </a:p>
        </p:txBody>
      </p:sp>
      <p:sp>
        <p:nvSpPr>
          <p:cNvPr id="5" name="AutoShape 4">
            <a:extLst>
              <a:ext uri="{FF2B5EF4-FFF2-40B4-BE49-F238E27FC236}">
                <a16:creationId xmlns:a16="http://schemas.microsoft.com/office/drawing/2014/main" id="{B3D8910A-FF28-BDBE-32C6-265D12A5C744}"/>
              </a:ext>
            </a:extLst>
          </p:cNvPr>
          <p:cNvSpPr/>
          <p:nvPr/>
        </p:nvSpPr>
        <p:spPr>
          <a:xfrm>
            <a:off x="1190829" y="3637824"/>
            <a:ext cx="9640110" cy="2295728"/>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sz="1800" dirty="0"/>
          </a:p>
        </p:txBody>
      </p:sp>
      <p:sp>
        <p:nvSpPr>
          <p:cNvPr id="6" name="文本框 5">
            <a:extLst>
              <a:ext uri="{FF2B5EF4-FFF2-40B4-BE49-F238E27FC236}">
                <a16:creationId xmlns:a16="http://schemas.microsoft.com/office/drawing/2014/main" id="{67F90CE7-6F96-80D0-EF24-67204803A786}"/>
              </a:ext>
            </a:extLst>
          </p:cNvPr>
          <p:cNvSpPr txBox="1"/>
          <p:nvPr/>
        </p:nvSpPr>
        <p:spPr>
          <a:xfrm>
            <a:off x="1887168" y="4243911"/>
            <a:ext cx="9372600" cy="1169551"/>
          </a:xfrm>
          <a:prstGeom prst="rect">
            <a:avLst/>
          </a:prstGeom>
          <a:noFill/>
        </p:spPr>
        <p:txBody>
          <a:bodyPr wrap="square" rtlCol="0">
            <a:spAutoFit/>
          </a:bodyPr>
          <a:lstStyle/>
          <a:p>
            <a:r>
              <a:rPr lang="zh-CN" altLang="en-US" dirty="0"/>
              <a:t>任务类型：短期回归（预测未来 </a:t>
            </a:r>
            <a:r>
              <a:rPr lang="en-US" altLang="zh-CN" dirty="0"/>
              <a:t>60 min </a:t>
            </a:r>
            <a:r>
              <a:rPr lang="zh-CN" altLang="en-US" dirty="0"/>
              <a:t>的血糖值） → 抽象成分类任务（是否会发生高血糖）。</a:t>
            </a:r>
            <a:endParaRPr lang="en-US" altLang="zh-CN" dirty="0"/>
          </a:p>
          <a:p>
            <a:endParaRPr lang="en-US" altLang="zh-CN" dirty="0"/>
          </a:p>
          <a:p>
            <a:endParaRPr lang="en-US" altLang="zh-CN" dirty="0"/>
          </a:p>
          <a:p>
            <a:r>
              <a:rPr lang="zh-CN" altLang="en-US" dirty="0"/>
              <a:t>血糖分类任务为：连续时间的二分类</a:t>
            </a:r>
            <a:endParaRPr lang="en-US" altLang="zh-CN" dirty="0"/>
          </a:p>
          <a:p>
            <a:endParaRPr lang="en-US" altLang="zh-CN" dirty="0"/>
          </a:p>
        </p:txBody>
      </p:sp>
      <p:sp>
        <p:nvSpPr>
          <p:cNvPr id="7" name="AutoShape 19">
            <a:extLst>
              <a:ext uri="{FF2B5EF4-FFF2-40B4-BE49-F238E27FC236}">
                <a16:creationId xmlns:a16="http://schemas.microsoft.com/office/drawing/2014/main" id="{A99D94EF-874F-FFB6-743C-54A3A5B2F5F1}"/>
              </a:ext>
            </a:extLst>
          </p:cNvPr>
          <p:cNvSpPr/>
          <p:nvPr/>
        </p:nvSpPr>
        <p:spPr>
          <a:xfrm>
            <a:off x="762000" y="6182468"/>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Tree>
    <p:extLst>
      <p:ext uri="{BB962C8B-B14F-4D97-AF65-F5344CB8AC3E}">
        <p14:creationId xmlns:p14="http://schemas.microsoft.com/office/powerpoint/2010/main" val="505856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8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论文研究问题简化</a:t>
            </a:r>
            <a:endParaRPr lang="en-US" sz="1100" dirty="0"/>
          </a:p>
        </p:txBody>
      </p:sp>
      <p:sp>
        <p:nvSpPr>
          <p:cNvPr id="3" name="AutoShape 3"/>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762000" y="1572098"/>
            <a:ext cx="5207540" cy="4123446"/>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11" name="AutoShape 11"/>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21" name="文本框 20">
            <a:extLst>
              <a:ext uri="{FF2B5EF4-FFF2-40B4-BE49-F238E27FC236}">
                <a16:creationId xmlns:a16="http://schemas.microsoft.com/office/drawing/2014/main" id="{61832E48-7738-0E28-9537-03CA12FEACDB}"/>
              </a:ext>
            </a:extLst>
          </p:cNvPr>
          <p:cNvSpPr txBox="1"/>
          <p:nvPr/>
        </p:nvSpPr>
        <p:spPr>
          <a:xfrm>
            <a:off x="767403" y="1833664"/>
            <a:ext cx="5328597" cy="3754874"/>
          </a:xfrm>
          <a:prstGeom prst="rect">
            <a:avLst/>
          </a:prstGeom>
          <a:noFill/>
        </p:spPr>
        <p:txBody>
          <a:bodyPr wrap="square" rtlCol="0">
            <a:spAutoFit/>
          </a:bodyPr>
          <a:lstStyle/>
          <a:p>
            <a:pPr marL="342900" indent="-342900">
              <a:buFont typeface="Arial" panose="020B0604020202020204"/>
              <a:buAutoNum type="arabicPeriod"/>
            </a:pPr>
            <a:r>
              <a:rPr lang="zh-CN" altLang="en-US" dirty="0"/>
              <a:t>原论文输入数据包含时间序列，含时间戳均为 </a:t>
            </a:r>
            <a:r>
              <a:rPr lang="en-US" altLang="zh-CN" dirty="0"/>
              <a:t>UTC </a:t>
            </a:r>
            <a:r>
              <a:rPr lang="zh-CN" altLang="en-US" dirty="0"/>
              <a:t>且同步</a:t>
            </a:r>
            <a:endParaRPr lang="en-US" altLang="zh-CN" dirty="0"/>
          </a:p>
          <a:p>
            <a:pPr lvl="1"/>
            <a:endParaRPr lang="en-US" altLang="zh-CN" dirty="0"/>
          </a:p>
          <a:p>
            <a:pPr lvl="1"/>
            <a:r>
              <a:rPr lang="zh-CN" altLang="en-US" dirty="0"/>
              <a:t>数据量特别大且没有数据集。原论文中输入的数据大致有</a:t>
            </a:r>
            <a:endParaRPr lang="en-US" altLang="zh-CN" dirty="0"/>
          </a:p>
          <a:p>
            <a:pPr marL="285750" lvl="1" indent="-285750">
              <a:buFontTx/>
              <a:buChar char="-"/>
            </a:pPr>
            <a:endParaRPr lang="en-US" altLang="zh-CN" dirty="0"/>
          </a:p>
          <a:p>
            <a:pPr marL="285750" lvl="1" indent="-285750">
              <a:buFontTx/>
              <a:buChar char="-"/>
            </a:pPr>
            <a:r>
              <a:rPr lang="en-US" altLang="zh-CN" dirty="0"/>
              <a:t>CGM</a:t>
            </a:r>
            <a:r>
              <a:rPr lang="zh-CN" altLang="en-US" dirty="0"/>
              <a:t>（连续血糖，每</a:t>
            </a:r>
            <a:r>
              <a:rPr lang="en-US" altLang="zh-CN" dirty="0"/>
              <a:t>5 </a:t>
            </a:r>
            <a:r>
              <a:rPr lang="zh-CN" altLang="en-US" dirty="0"/>
              <a:t>分钟</a:t>
            </a:r>
            <a:r>
              <a:rPr lang="en-US" altLang="zh-CN" dirty="0"/>
              <a:t>/</a:t>
            </a:r>
            <a:r>
              <a:rPr lang="zh-CN" altLang="en-US" dirty="0"/>
              <a:t>采样）</a:t>
            </a:r>
            <a:endParaRPr lang="en-US" altLang="zh-CN" dirty="0"/>
          </a:p>
          <a:p>
            <a:pPr marL="285750" lvl="1" indent="-285750">
              <a:buFontTx/>
              <a:buChar char="-"/>
            </a:pPr>
            <a:endParaRPr lang="zh-CN" altLang="en-US" dirty="0"/>
          </a:p>
          <a:p>
            <a:pPr marL="285750" lvl="1" indent="-285750">
              <a:buFontTx/>
              <a:buChar char="-"/>
            </a:pPr>
            <a:r>
              <a:rPr lang="zh-CN" altLang="en-US" dirty="0"/>
              <a:t>胰岛素注射</a:t>
            </a:r>
            <a:r>
              <a:rPr lang="en-US" altLang="zh-CN" dirty="0"/>
              <a:t>/</a:t>
            </a:r>
            <a:r>
              <a:rPr lang="zh-CN" altLang="en-US" dirty="0"/>
              <a:t>泵事件（剂量、类型：餐时</a:t>
            </a:r>
            <a:r>
              <a:rPr lang="en-US" altLang="zh-CN" dirty="0"/>
              <a:t>/</a:t>
            </a:r>
            <a:r>
              <a:rPr lang="zh-CN" altLang="en-US" dirty="0"/>
              <a:t>基础、速效</a:t>
            </a:r>
            <a:r>
              <a:rPr lang="en-US" altLang="zh-CN" dirty="0"/>
              <a:t>/</a:t>
            </a:r>
            <a:r>
              <a:rPr lang="zh-CN" altLang="en-US" dirty="0"/>
              <a:t>长效）</a:t>
            </a:r>
            <a:endParaRPr lang="en-US" altLang="zh-CN" dirty="0"/>
          </a:p>
          <a:p>
            <a:pPr marL="285750" lvl="1" indent="-285750">
              <a:buFontTx/>
              <a:buChar char="-"/>
            </a:pPr>
            <a:endParaRPr lang="zh-CN" altLang="en-US" dirty="0"/>
          </a:p>
          <a:p>
            <a:pPr marL="285750" lvl="1" indent="-285750">
              <a:buFontTx/>
              <a:buChar char="-"/>
            </a:pPr>
            <a:r>
              <a:rPr lang="zh-CN" altLang="en-US" dirty="0"/>
              <a:t>摄入碳水（</a:t>
            </a:r>
            <a:r>
              <a:rPr lang="en-US" altLang="zh-CN" dirty="0"/>
              <a:t>carbs</a:t>
            </a:r>
            <a:r>
              <a:rPr lang="zh-CN" altLang="en-US" dirty="0"/>
              <a:t>）与餐类型（餐</a:t>
            </a:r>
            <a:r>
              <a:rPr lang="en-US" altLang="zh-CN" dirty="0"/>
              <a:t>/</a:t>
            </a:r>
            <a:r>
              <a:rPr lang="zh-CN" altLang="en-US" dirty="0"/>
              <a:t>零食</a:t>
            </a:r>
            <a:r>
              <a:rPr lang="en-US" altLang="zh-CN" dirty="0"/>
              <a:t>/</a:t>
            </a:r>
            <a:r>
              <a:rPr lang="zh-CN" altLang="en-US" dirty="0"/>
              <a:t>饮料）</a:t>
            </a:r>
            <a:endParaRPr lang="en-US" altLang="zh-CN" dirty="0"/>
          </a:p>
          <a:p>
            <a:pPr lvl="1"/>
            <a:endParaRPr lang="en-US" altLang="zh-CN" dirty="0"/>
          </a:p>
          <a:p>
            <a:pPr marL="285750" lvl="1" indent="-285750">
              <a:buFontTx/>
              <a:buChar char="-"/>
            </a:pPr>
            <a:r>
              <a:rPr lang="zh-CN" altLang="en-US" dirty="0"/>
              <a:t>人体活动</a:t>
            </a:r>
            <a:r>
              <a:rPr lang="en-US" altLang="zh-CN" dirty="0"/>
              <a:t>/</a:t>
            </a:r>
            <a:r>
              <a:rPr lang="zh-CN" altLang="en-US" dirty="0"/>
              <a:t>运动、心率</a:t>
            </a:r>
            <a:endParaRPr lang="en-US" altLang="zh-CN" dirty="0"/>
          </a:p>
          <a:p>
            <a:pPr marL="285750" lvl="1" indent="-285750">
              <a:buFontTx/>
              <a:buChar char="-"/>
            </a:pPr>
            <a:endParaRPr lang="en-US" altLang="zh-CN" dirty="0"/>
          </a:p>
          <a:p>
            <a:pPr marL="285750" lvl="1" indent="-285750">
              <a:buFontTx/>
              <a:buChar char="-"/>
            </a:pPr>
            <a:r>
              <a:rPr lang="zh-CN" altLang="en-US" dirty="0"/>
              <a:t>睡眠段</a:t>
            </a:r>
            <a:r>
              <a:rPr lang="en-US" altLang="zh-CN" dirty="0"/>
              <a:t>/</a:t>
            </a:r>
            <a:r>
              <a:rPr lang="zh-CN" altLang="en-US" dirty="0"/>
              <a:t>醒段（或用加速度推断）</a:t>
            </a:r>
            <a:endParaRPr lang="en-US" altLang="zh-CN" dirty="0"/>
          </a:p>
          <a:p>
            <a:pPr marL="285750" lvl="1" indent="-285750">
              <a:buFontTx/>
              <a:buChar char="-"/>
            </a:pPr>
            <a:endParaRPr lang="en-US" altLang="zh-CN" dirty="0"/>
          </a:p>
          <a:p>
            <a:pPr marL="285750" lvl="1" indent="-285750">
              <a:buFontTx/>
              <a:buChar char="-"/>
            </a:pPr>
            <a:r>
              <a:rPr lang="zh-CN" altLang="en-US" dirty="0"/>
              <a:t>人口统计</a:t>
            </a:r>
            <a:r>
              <a:rPr lang="en-US" altLang="zh-CN" dirty="0"/>
              <a:t>/</a:t>
            </a:r>
            <a:r>
              <a:rPr lang="zh-CN" altLang="en-US" dirty="0"/>
              <a:t>体征（年龄、体重、胰岛素敏感性等）</a:t>
            </a:r>
          </a:p>
          <a:p>
            <a:pPr lvl="2"/>
            <a:endParaRPr lang="en-US" altLang="zh-CN" dirty="0"/>
          </a:p>
          <a:p>
            <a:pPr marL="342900" indent="-342900">
              <a:buFont typeface="Arial" panose="020B0604020202020204"/>
              <a:buAutoNum type="arabicPeriod"/>
            </a:pPr>
            <a:endParaRPr lang="en-US" altLang="zh-CN" dirty="0"/>
          </a:p>
        </p:txBody>
      </p:sp>
      <p:sp>
        <p:nvSpPr>
          <p:cNvPr id="5" name="AutoShape 8">
            <a:extLst>
              <a:ext uri="{FF2B5EF4-FFF2-40B4-BE49-F238E27FC236}">
                <a16:creationId xmlns:a16="http://schemas.microsoft.com/office/drawing/2014/main" id="{D16D4F28-44B2-F577-06F3-D2FD5B109630}"/>
              </a:ext>
            </a:extLst>
          </p:cNvPr>
          <p:cNvSpPr/>
          <p:nvPr/>
        </p:nvSpPr>
        <p:spPr>
          <a:xfrm>
            <a:off x="6217057" y="1572097"/>
            <a:ext cx="5207540" cy="4123447"/>
          </a:xfrm>
          <a:prstGeom prst="roundRect">
            <a:avLst>
              <a:gd name="adj" fmla="val 10526"/>
            </a:avLst>
          </a:prstGeom>
          <a:solidFill>
            <a:srgbClr val="FFFFFF">
              <a:alpha val="100000"/>
            </a:srgbClr>
          </a:solidFill>
          <a:ln w="25400" cap="flat" cmpd="sng">
            <a:noFill/>
            <a:prstDash val="solid"/>
            <a:round/>
          </a:ln>
          <a:effectLst>
            <a:outerShdw blurRad="127000" dist="50800" dir="5400000" algn="tl" rotWithShape="0">
              <a:srgbClr val="000000">
                <a:alpha val="5000"/>
              </a:srgbClr>
            </a:outerShdw>
          </a:effectLst>
        </p:spPr>
        <p:txBody>
          <a:bodyPr vert="horz" wrap="square" lIns="63500" tIns="63500" rIns="63500" bIns="63500" rtlCol="0" anchor="ctr"/>
          <a:lstStyle/>
          <a:p>
            <a:pPr algn="ctr">
              <a:defRPr/>
            </a:pPr>
            <a:endParaRPr lang="zh-CN" altLang="en-US" dirty="0"/>
          </a:p>
        </p:txBody>
      </p:sp>
      <p:sp>
        <p:nvSpPr>
          <p:cNvPr id="9" name="文本框 8">
            <a:extLst>
              <a:ext uri="{FF2B5EF4-FFF2-40B4-BE49-F238E27FC236}">
                <a16:creationId xmlns:a16="http://schemas.microsoft.com/office/drawing/2014/main" id="{4FB50663-FC17-2B4E-B5E6-4454868FA666}"/>
              </a:ext>
            </a:extLst>
          </p:cNvPr>
          <p:cNvSpPr txBox="1"/>
          <p:nvPr/>
        </p:nvSpPr>
        <p:spPr>
          <a:xfrm>
            <a:off x="6478621" y="1833664"/>
            <a:ext cx="4610911" cy="3754874"/>
          </a:xfrm>
          <a:prstGeom prst="rect">
            <a:avLst/>
          </a:prstGeom>
          <a:noFill/>
        </p:spPr>
        <p:txBody>
          <a:bodyPr wrap="square" rtlCol="0">
            <a:spAutoFit/>
          </a:bodyPr>
          <a:lstStyle/>
          <a:p>
            <a:pPr marL="342900" indent="-342900">
              <a:buAutoNum type="arabicPeriod"/>
            </a:pPr>
            <a:r>
              <a:rPr lang="zh-CN" altLang="en-US" dirty="0"/>
              <a:t>为了减少数据量，这里我们不研究连续时间的输入</a:t>
            </a:r>
            <a:endParaRPr lang="en-US" altLang="zh-CN" dirty="0"/>
          </a:p>
          <a:p>
            <a:pPr marL="342900" indent="-342900">
              <a:buAutoNum type="arabicPeriod"/>
            </a:pPr>
            <a:endParaRPr lang="en-US" altLang="zh-CN" dirty="0"/>
          </a:p>
          <a:p>
            <a:r>
              <a:rPr lang="zh-CN" altLang="en-US" dirty="0"/>
              <a:t>数据删除时间这个维度，只研究固定时间的输入数据</a:t>
            </a:r>
            <a:endParaRPr lang="en-US" altLang="zh-CN" dirty="0"/>
          </a:p>
          <a:p>
            <a:endParaRPr lang="en-US" altLang="zh-CN" dirty="0"/>
          </a:p>
          <a:p>
            <a:endParaRPr lang="en-US" altLang="zh-CN" dirty="0"/>
          </a:p>
          <a:p>
            <a:pPr marL="342900" indent="-342900">
              <a:buAutoNum type="arabicPeriod" startAt="2"/>
            </a:pPr>
            <a:r>
              <a:rPr lang="zh-CN" altLang="en-US" dirty="0"/>
              <a:t>为了尽可能使得问题变得可复现，这里的预测结果</a:t>
            </a:r>
            <a:endParaRPr lang="en-US" altLang="zh-CN" dirty="0"/>
          </a:p>
          <a:p>
            <a:pPr marL="342900" indent="-342900">
              <a:buAutoNum type="arabicPeriod" startAt="2"/>
            </a:pPr>
            <a:endParaRPr lang="en-US" altLang="zh-CN" dirty="0"/>
          </a:p>
          <a:p>
            <a:r>
              <a:rPr lang="zh-CN" altLang="en-US" dirty="0"/>
              <a:t>时间维度也删除，也就是说我们只研究固定时刻输入数</a:t>
            </a:r>
            <a:endParaRPr lang="en-US" altLang="zh-CN" dirty="0"/>
          </a:p>
          <a:p>
            <a:endParaRPr lang="en-US" altLang="zh-CN" dirty="0"/>
          </a:p>
          <a:p>
            <a:r>
              <a:rPr lang="zh-CN" altLang="en-US" dirty="0"/>
              <a:t>据与输出结果</a:t>
            </a:r>
            <a:r>
              <a:rPr lang="en-US" altLang="zh-CN" dirty="0"/>
              <a:t>outcome</a:t>
            </a:r>
            <a:r>
              <a:rPr lang="zh-CN" altLang="en-US" dirty="0"/>
              <a:t>之间的关系</a:t>
            </a:r>
            <a:endParaRPr lang="en-US" altLang="zh-CN" dirty="0"/>
          </a:p>
          <a:p>
            <a:endParaRPr lang="en-US" altLang="zh-CN" dirty="0"/>
          </a:p>
          <a:p>
            <a:endParaRPr lang="en-US" altLang="zh-CN" dirty="0"/>
          </a:p>
          <a:p>
            <a:pPr marL="342900" indent="-342900">
              <a:buAutoNum type="arabicPeriod" startAt="3"/>
            </a:pPr>
            <a:r>
              <a:rPr lang="zh-CN" altLang="en-US" dirty="0"/>
              <a:t>总结：我们将原来论文研究的通过输入数据预测未</a:t>
            </a:r>
            <a:endParaRPr lang="en-US" altLang="zh-CN" dirty="0"/>
          </a:p>
          <a:p>
            <a:endParaRPr lang="en-US" altLang="zh-CN" dirty="0"/>
          </a:p>
          <a:p>
            <a:r>
              <a:rPr lang="zh-CN" altLang="en-US" dirty="0"/>
              <a:t>来</a:t>
            </a:r>
            <a:r>
              <a:rPr lang="en-US" altLang="zh-CN" dirty="0"/>
              <a:t>60</a:t>
            </a:r>
            <a:r>
              <a:rPr lang="zh-CN" altLang="en-US" dirty="0"/>
              <a:t>分钟是否会高血糖的连续时间的二分类简化为：</a:t>
            </a:r>
            <a:endParaRPr lang="en-US" altLang="zh-CN" dirty="0"/>
          </a:p>
          <a:p>
            <a:endParaRPr lang="en-US" altLang="zh-CN" dirty="0"/>
          </a:p>
          <a:p>
            <a:r>
              <a:rPr lang="zh-CN" altLang="en-US" dirty="0"/>
              <a:t>输入身体健康指标来推测这个人是否有糖尿病</a:t>
            </a:r>
            <a:r>
              <a:rPr lang="en-US" altLang="zh-CN" dirty="0"/>
              <a:t>(</a:t>
            </a:r>
            <a:r>
              <a:rPr lang="zh-CN" altLang="en-US" dirty="0"/>
              <a:t>可能性</a:t>
            </a:r>
            <a:r>
              <a:rPr lang="en-US" altLang="zh-CN" dirty="0"/>
              <a:t>)</a:t>
            </a: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330BF-5BF1-D858-0889-AEBCBB1564AE}"/>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0D9EF2F7-B937-1396-377B-F6EBA299BED3}"/>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A8FCBFA6-B5E7-6EEE-A6C2-0C309D51EBE9}"/>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F28CB72-A3AB-76BC-2644-D9158A93CD9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3CA0B97C-CBCF-900B-4265-C1508271044B}"/>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文本框 6">
            <a:extLst>
              <a:ext uri="{FF2B5EF4-FFF2-40B4-BE49-F238E27FC236}">
                <a16:creationId xmlns:a16="http://schemas.microsoft.com/office/drawing/2014/main" id="{A2893739-6F7E-073E-43E7-F76FB1C66962}"/>
              </a:ext>
            </a:extLst>
          </p:cNvPr>
          <p:cNvSpPr txBox="1"/>
          <p:nvPr/>
        </p:nvSpPr>
        <p:spPr>
          <a:xfrm>
            <a:off x="3035030" y="822523"/>
            <a:ext cx="2228495" cy="307777"/>
          </a:xfrm>
          <a:prstGeom prst="rect">
            <a:avLst/>
          </a:prstGeom>
          <a:noFill/>
        </p:spPr>
        <p:txBody>
          <a:bodyPr wrap="none" rtlCol="0">
            <a:spAutoFit/>
          </a:bodyPr>
          <a:lstStyle/>
          <a:p>
            <a:r>
              <a:rPr lang="en-US" altLang="zh-CN" dirty="0">
                <a:hlinkClick r:id="rId3"/>
              </a:rPr>
              <a:t>Kaggle </a:t>
            </a:r>
            <a:r>
              <a:rPr lang="zh-CN" altLang="en-US" dirty="0">
                <a:hlinkClick r:id="rId3"/>
              </a:rPr>
              <a:t>糖尿病公开数据集</a:t>
            </a:r>
            <a:endParaRPr lang="zh-CN" altLang="en-US" dirty="0"/>
          </a:p>
        </p:txBody>
      </p:sp>
      <p:sp>
        <p:nvSpPr>
          <p:cNvPr id="14" name="文本框 13">
            <a:extLst>
              <a:ext uri="{FF2B5EF4-FFF2-40B4-BE49-F238E27FC236}">
                <a16:creationId xmlns:a16="http://schemas.microsoft.com/office/drawing/2014/main" id="{DC2B349F-4820-C56F-F147-6040ED90E2C8}"/>
              </a:ext>
            </a:extLst>
          </p:cNvPr>
          <p:cNvSpPr txBox="1"/>
          <p:nvPr/>
        </p:nvSpPr>
        <p:spPr>
          <a:xfrm>
            <a:off x="762000" y="1434830"/>
            <a:ext cx="10541540" cy="800219"/>
          </a:xfrm>
          <a:prstGeom prst="rect">
            <a:avLst/>
          </a:prstGeom>
          <a:noFill/>
        </p:spPr>
        <p:txBody>
          <a:bodyPr wrap="square" rtlCol="0">
            <a:spAutoFit/>
          </a:bodyPr>
          <a:lstStyle/>
          <a:p>
            <a:r>
              <a:rPr lang="zh-CN" altLang="en-US" sz="1800" dirty="0">
                <a:solidFill>
                  <a:srgbClr val="0052FF"/>
                </a:solidFill>
              </a:rPr>
              <a:t>背景：</a:t>
            </a:r>
            <a:endParaRPr lang="en-US" altLang="zh-CN" sz="1800" dirty="0">
              <a:solidFill>
                <a:srgbClr val="0052FF"/>
              </a:solidFill>
            </a:endParaRPr>
          </a:p>
          <a:p>
            <a:endParaRPr lang="en-US" altLang="zh-CN" dirty="0"/>
          </a:p>
          <a:p>
            <a:r>
              <a:rPr lang="zh-CN" altLang="en-US" dirty="0"/>
              <a:t>该数据集最初来自美国国家糖尿病、消化和肾脏疾病研究所。其目标是根据诊断测量结果预测患者是否患有糖尿病。</a:t>
            </a:r>
          </a:p>
        </p:txBody>
      </p:sp>
      <p:sp>
        <p:nvSpPr>
          <p:cNvPr id="15" name="文本框 14">
            <a:extLst>
              <a:ext uri="{FF2B5EF4-FFF2-40B4-BE49-F238E27FC236}">
                <a16:creationId xmlns:a16="http://schemas.microsoft.com/office/drawing/2014/main" id="{63736C6B-EE37-6916-E43F-0351D1F4F758}"/>
              </a:ext>
            </a:extLst>
          </p:cNvPr>
          <p:cNvSpPr txBox="1"/>
          <p:nvPr/>
        </p:nvSpPr>
        <p:spPr>
          <a:xfrm>
            <a:off x="714223" y="2582573"/>
            <a:ext cx="10876284" cy="3170099"/>
          </a:xfrm>
          <a:prstGeom prst="rect">
            <a:avLst/>
          </a:prstGeom>
          <a:noFill/>
        </p:spPr>
        <p:txBody>
          <a:bodyPr wrap="square" rtlCol="0">
            <a:spAutoFit/>
          </a:bodyPr>
          <a:lstStyle/>
          <a:p>
            <a:r>
              <a:rPr lang="zh-CN" altLang="en-US" sz="1800" dirty="0">
                <a:solidFill>
                  <a:srgbClr val="0052FF"/>
                </a:solidFill>
              </a:rPr>
              <a:t>内容：</a:t>
            </a:r>
            <a:endParaRPr lang="en-US" altLang="zh-CN" sz="1800" dirty="0">
              <a:solidFill>
                <a:srgbClr val="0052FF"/>
              </a:solidFill>
            </a:endParaRPr>
          </a:p>
          <a:p>
            <a:endParaRPr lang="en-US" altLang="zh-CN" dirty="0">
              <a:solidFill>
                <a:schemeClr val="accent1"/>
              </a:solidFill>
            </a:endParaRPr>
          </a:p>
          <a:p>
            <a:r>
              <a:rPr lang="zh-CN" altLang="en-US" dirty="0"/>
              <a:t>从大型数据库中选取这些病例时，我们设置了若干限制条件。具体而言，所有患者均为至少 </a:t>
            </a:r>
            <a:r>
              <a:rPr lang="en-US" altLang="zh-CN" dirty="0"/>
              <a:t>21 </a:t>
            </a:r>
            <a:r>
              <a:rPr lang="zh-CN" altLang="en-US" dirty="0"/>
              <a:t>岁且具有皮马印第安人血统的女性。</a:t>
            </a:r>
            <a:endParaRPr lang="en-US" altLang="zh-CN" dirty="0"/>
          </a:p>
          <a:p>
            <a:endParaRPr lang="en-US" altLang="zh-CN" dirty="0"/>
          </a:p>
          <a:p>
            <a:pPr marL="285750" indent="-285750">
              <a:buFontTx/>
              <a:buChar char="-"/>
            </a:pPr>
            <a:r>
              <a:rPr lang="zh-CN" altLang="en-US" dirty="0"/>
              <a:t>妊娠次数：妊娠次数</a:t>
            </a:r>
            <a:endParaRPr lang="en-US" altLang="zh-CN" dirty="0"/>
          </a:p>
          <a:p>
            <a:pPr marL="285750" indent="-285750">
              <a:buFontTx/>
              <a:buChar char="-"/>
            </a:pPr>
            <a:endParaRPr lang="en-US" altLang="zh-CN" dirty="0"/>
          </a:p>
          <a:p>
            <a:pPr marL="285750" indent="-285750">
              <a:buFontTx/>
              <a:buChar char="-"/>
            </a:pPr>
            <a:r>
              <a:rPr lang="zh-CN" altLang="en-US" dirty="0"/>
              <a:t>血糖：口服葡萄糖耐量试验 </a:t>
            </a:r>
            <a:r>
              <a:rPr lang="en-US" altLang="zh-CN" dirty="0"/>
              <a:t>2 </a:t>
            </a:r>
            <a:r>
              <a:rPr lang="zh-CN" altLang="en-US" dirty="0"/>
              <a:t>小时后的血浆葡萄糖浓度</a:t>
            </a:r>
            <a:endParaRPr lang="en-US" altLang="zh-CN" dirty="0"/>
          </a:p>
          <a:p>
            <a:pPr marL="285750" indent="-285750">
              <a:buFontTx/>
              <a:buChar char="-"/>
            </a:pPr>
            <a:endParaRPr lang="en-US" altLang="zh-CN" dirty="0"/>
          </a:p>
          <a:p>
            <a:pPr marL="285750" indent="-285750">
              <a:buFontTx/>
              <a:buChar char="-"/>
            </a:pPr>
            <a:r>
              <a:rPr lang="zh-CN" altLang="en-US" dirty="0"/>
              <a:t>血压：舒张压（毫米汞柱）</a:t>
            </a:r>
            <a:endParaRPr lang="en-US" altLang="zh-CN" dirty="0"/>
          </a:p>
          <a:p>
            <a:pPr marL="285750" indent="-285750">
              <a:buFontTx/>
              <a:buChar char="-"/>
            </a:pPr>
            <a:endParaRPr lang="en-US" altLang="zh-CN" dirty="0"/>
          </a:p>
          <a:p>
            <a:pPr marL="285750" indent="-285750">
              <a:buFontTx/>
              <a:buChar char="-"/>
            </a:pPr>
            <a:r>
              <a:rPr lang="zh-CN" altLang="en-US" dirty="0"/>
              <a:t>皮肤厚度：肱三头肌皮褶厚度（毫米）</a:t>
            </a:r>
            <a:endParaRPr lang="en-US" altLang="zh-CN" dirty="0"/>
          </a:p>
          <a:p>
            <a:pPr marL="285750" indent="-285750">
              <a:buFontTx/>
              <a:buChar char="-"/>
            </a:pPr>
            <a:endParaRPr lang="en-US" altLang="zh-CN" dirty="0"/>
          </a:p>
          <a:p>
            <a:pPr marL="285750" indent="-285750">
              <a:buFontTx/>
              <a:buChar char="-"/>
            </a:pPr>
            <a:r>
              <a:rPr lang="zh-CN" altLang="en-US" dirty="0"/>
              <a:t>胰岛素：</a:t>
            </a:r>
            <a:r>
              <a:rPr lang="en-US" altLang="zh-CN" dirty="0"/>
              <a:t>2 </a:t>
            </a:r>
            <a:r>
              <a:rPr lang="zh-CN" altLang="en-US" dirty="0"/>
              <a:t>小时血清胰岛素（微单位</a:t>
            </a:r>
            <a:r>
              <a:rPr lang="en-US" altLang="zh-CN" dirty="0"/>
              <a:t>/</a:t>
            </a:r>
            <a:r>
              <a:rPr lang="zh-CN" altLang="en-US" dirty="0"/>
              <a:t>毫升）</a:t>
            </a:r>
            <a:endParaRPr lang="en-US" altLang="zh-CN" dirty="0"/>
          </a:p>
          <a:p>
            <a:pPr marL="285750" indent="-285750">
              <a:buFontTx/>
              <a:buChar char="-"/>
            </a:pPr>
            <a:endParaRPr lang="en-US" altLang="zh-CN" dirty="0"/>
          </a:p>
        </p:txBody>
      </p:sp>
      <p:sp>
        <p:nvSpPr>
          <p:cNvPr id="16" name="文本框 15">
            <a:extLst>
              <a:ext uri="{FF2B5EF4-FFF2-40B4-BE49-F238E27FC236}">
                <a16:creationId xmlns:a16="http://schemas.microsoft.com/office/drawing/2014/main" id="{D8C3FEA0-96E0-A5F9-0D13-66BA04F8A05F}"/>
              </a:ext>
            </a:extLst>
          </p:cNvPr>
          <p:cNvSpPr txBox="1"/>
          <p:nvPr/>
        </p:nvSpPr>
        <p:spPr>
          <a:xfrm>
            <a:off x="6152365" y="3429000"/>
            <a:ext cx="4747098" cy="1815882"/>
          </a:xfrm>
          <a:prstGeom prst="rect">
            <a:avLst/>
          </a:prstGeom>
          <a:noFill/>
        </p:spPr>
        <p:txBody>
          <a:bodyPr wrap="square" rtlCol="0">
            <a:spAutoFit/>
          </a:bodyPr>
          <a:lstStyle/>
          <a:p>
            <a:pPr marL="285750" indent="-285750">
              <a:buFontTx/>
              <a:buChar char="-"/>
            </a:pPr>
            <a:r>
              <a:rPr lang="en-US" altLang="zh-CN" dirty="0"/>
              <a:t>BMI</a:t>
            </a:r>
            <a:r>
              <a:rPr lang="zh-CN" altLang="en-US" dirty="0"/>
              <a:t>：体重指数</a:t>
            </a:r>
            <a:endParaRPr lang="en-US" altLang="zh-CN" dirty="0"/>
          </a:p>
          <a:p>
            <a:pPr marL="285750" indent="-285750">
              <a:buFontTx/>
              <a:buChar char="-"/>
            </a:pPr>
            <a:endParaRPr lang="en-US" altLang="zh-CN" dirty="0"/>
          </a:p>
          <a:p>
            <a:pPr marL="285750" indent="-285750">
              <a:buFontTx/>
              <a:buChar char="-"/>
            </a:pPr>
            <a:r>
              <a:rPr lang="zh-CN" altLang="en-US" dirty="0"/>
              <a:t>糖尿病家系：糖尿病谱系函数</a:t>
            </a:r>
            <a:endParaRPr lang="en-US" altLang="zh-CN" dirty="0"/>
          </a:p>
          <a:p>
            <a:pPr marL="285750" indent="-285750">
              <a:buFontTx/>
              <a:buChar char="-"/>
            </a:pPr>
            <a:endParaRPr lang="en-US" altLang="zh-CN" dirty="0"/>
          </a:p>
          <a:p>
            <a:pPr marL="285750" indent="-285750">
              <a:buFontTx/>
              <a:buChar char="-"/>
            </a:pPr>
            <a:r>
              <a:rPr lang="zh-CN" altLang="en-US" dirty="0"/>
              <a:t>年龄：年龄（岁）</a:t>
            </a:r>
            <a:endParaRPr lang="en-US" altLang="zh-CN" dirty="0"/>
          </a:p>
          <a:p>
            <a:pPr marL="285750" indent="-285750">
              <a:buFontTx/>
              <a:buChar char="-"/>
            </a:pPr>
            <a:endParaRPr lang="en-US" altLang="zh-CN" dirty="0"/>
          </a:p>
          <a:p>
            <a:pPr marL="285750" indent="-285750">
              <a:buFontTx/>
              <a:buChar char="-"/>
            </a:pPr>
            <a:r>
              <a:rPr lang="zh-CN" altLang="en-US" dirty="0"/>
              <a:t>结果：分类变量（</a:t>
            </a:r>
            <a:r>
              <a:rPr lang="en-US" altLang="zh-CN" dirty="0"/>
              <a:t>0 </a:t>
            </a:r>
            <a:r>
              <a:rPr lang="zh-CN" altLang="en-US" dirty="0"/>
              <a:t>或 </a:t>
            </a:r>
            <a:r>
              <a:rPr lang="en-US" altLang="zh-CN" dirty="0"/>
              <a:t>1</a:t>
            </a:r>
            <a:r>
              <a:rPr lang="zh-CN" altLang="en-US" dirty="0"/>
              <a:t>）</a:t>
            </a:r>
          </a:p>
          <a:p>
            <a:endParaRPr lang="zh-CN" altLang="en-US" dirty="0"/>
          </a:p>
        </p:txBody>
      </p:sp>
      <p:sp>
        <p:nvSpPr>
          <p:cNvPr id="17" name="文本框 16">
            <a:extLst>
              <a:ext uri="{FF2B5EF4-FFF2-40B4-BE49-F238E27FC236}">
                <a16:creationId xmlns:a16="http://schemas.microsoft.com/office/drawing/2014/main" id="{30DBC2F0-79B5-92C3-036A-7F27FA46BF26}"/>
              </a:ext>
            </a:extLst>
          </p:cNvPr>
          <p:cNvSpPr txBox="1"/>
          <p:nvPr/>
        </p:nvSpPr>
        <p:spPr>
          <a:xfrm>
            <a:off x="5413442" y="818195"/>
            <a:ext cx="1811714" cy="307777"/>
          </a:xfrm>
          <a:prstGeom prst="rect">
            <a:avLst/>
          </a:prstGeom>
          <a:noFill/>
        </p:spPr>
        <p:txBody>
          <a:bodyPr wrap="none" rtlCol="0">
            <a:spAutoFit/>
          </a:bodyPr>
          <a:lstStyle/>
          <a:p>
            <a:r>
              <a:rPr lang="zh-CN" altLang="en-US" dirty="0">
                <a:hlinkClick r:id="rId4" action="ppaction://hlinkfile"/>
              </a:rPr>
              <a:t>数据集表格</a:t>
            </a:r>
            <a:r>
              <a:rPr lang="en-US" altLang="zh-CN" dirty="0">
                <a:hlinkClick r:id="rId4" action="ppaction://hlinkfile"/>
              </a:rPr>
              <a:t>CSV</a:t>
            </a:r>
            <a:r>
              <a:rPr lang="zh-CN" altLang="en-US" dirty="0">
                <a:hlinkClick r:id="rId4" action="ppaction://hlinkfile"/>
              </a:rPr>
              <a:t>文件</a:t>
            </a:r>
            <a:endParaRPr lang="zh-CN" altLang="en-US" dirty="0"/>
          </a:p>
        </p:txBody>
      </p:sp>
    </p:spTree>
    <p:extLst>
      <p:ext uri="{BB962C8B-B14F-4D97-AF65-F5344CB8AC3E}">
        <p14:creationId xmlns:p14="http://schemas.microsoft.com/office/powerpoint/2010/main" val="280613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75C-7F3C-8CFE-1270-017C34BCFDE9}"/>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EE902E3B-EABA-F961-33F7-0A52454C00B6}"/>
              </a:ext>
            </a:extLst>
          </p:cNvPr>
          <p:cNvSpPr/>
          <p:nvPr/>
        </p:nvSpPr>
        <p:spPr>
          <a:xfrm>
            <a:off x="762000" y="508000"/>
            <a:ext cx="358140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数据集介绍</a:t>
            </a:r>
            <a:endParaRPr lang="en-US" sz="1100" dirty="0"/>
          </a:p>
        </p:txBody>
      </p:sp>
      <p:sp>
        <p:nvSpPr>
          <p:cNvPr id="3" name="AutoShape 3">
            <a:extLst>
              <a:ext uri="{FF2B5EF4-FFF2-40B4-BE49-F238E27FC236}">
                <a16:creationId xmlns:a16="http://schemas.microsoft.com/office/drawing/2014/main" id="{34C7C4FE-B4CA-D666-4AAA-4B12CC5E5E1B}"/>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102929-C2C5-FE57-1CBD-2CEF6D5436C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19" name="AutoShape 19">
            <a:extLst>
              <a:ext uri="{FF2B5EF4-FFF2-40B4-BE49-F238E27FC236}">
                <a16:creationId xmlns:a16="http://schemas.microsoft.com/office/drawing/2014/main" id="{5D4E49C4-A65A-7954-AB46-53E4BA53D70A}"/>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14" name="文本框 13">
            <a:extLst>
              <a:ext uri="{FF2B5EF4-FFF2-40B4-BE49-F238E27FC236}">
                <a16:creationId xmlns:a16="http://schemas.microsoft.com/office/drawing/2014/main" id="{1BF3F90B-AE7D-2DC1-4AB3-2A79509317ED}"/>
              </a:ext>
            </a:extLst>
          </p:cNvPr>
          <p:cNvSpPr txBox="1"/>
          <p:nvPr/>
        </p:nvSpPr>
        <p:spPr>
          <a:xfrm>
            <a:off x="762000" y="1434830"/>
            <a:ext cx="10541540" cy="3724096"/>
          </a:xfrm>
          <a:prstGeom prst="rect">
            <a:avLst/>
          </a:prstGeom>
          <a:noFill/>
        </p:spPr>
        <p:txBody>
          <a:bodyPr wrap="square" rtlCol="0">
            <a:spAutoFit/>
          </a:bodyPr>
          <a:lstStyle/>
          <a:p>
            <a:r>
              <a:rPr lang="zh-CN" altLang="en-US" sz="1800" dirty="0">
                <a:solidFill>
                  <a:srgbClr val="0052FF"/>
                </a:solidFill>
              </a:rPr>
              <a:t>来源：</a:t>
            </a:r>
            <a:endParaRPr lang="en-US" altLang="zh-CN" sz="1800" dirty="0">
              <a:solidFill>
                <a:srgbClr val="0052FF"/>
              </a:solidFill>
            </a:endParaRPr>
          </a:p>
          <a:p>
            <a:endParaRPr lang="en-US" altLang="zh-CN" dirty="0"/>
          </a:p>
          <a:p>
            <a:r>
              <a:rPr lang="en-US" altLang="zh-CN" dirty="0"/>
              <a:t>1.     Original owners: National Institute of Diabetes and Digestive </a:t>
            </a:r>
            <a:r>
              <a:rPr lang="en-US" altLang="zh-CN" dirty="0" err="1"/>
              <a:t>andKidney</a:t>
            </a:r>
            <a:r>
              <a:rPr lang="en-US" altLang="zh-CN" dirty="0"/>
              <a:t> Diseases</a:t>
            </a:r>
          </a:p>
          <a:p>
            <a:br>
              <a:rPr lang="en-US" altLang="zh-CN" dirty="0"/>
            </a:br>
            <a:r>
              <a:rPr lang="en-US" altLang="zh-CN" dirty="0"/>
              <a:t>2.     Donor of database: Vincent </a:t>
            </a:r>
            <a:r>
              <a:rPr lang="en-US" altLang="zh-CN" dirty="0" err="1"/>
              <a:t>Sigillito</a:t>
            </a:r>
            <a:r>
              <a:rPr lang="en-US" altLang="zh-CN" dirty="0"/>
              <a:t> (</a:t>
            </a:r>
            <a:r>
              <a:rPr lang="en-US" altLang="zh-CN" dirty="0">
                <a:hlinkClick r:id="rId3"/>
              </a:rPr>
              <a:t>vgs@aplcen.apl.jhu.edu</a:t>
            </a:r>
            <a:r>
              <a:rPr lang="en-US" altLang="zh-CN" dirty="0"/>
              <a:t>)</a:t>
            </a:r>
            <a:r>
              <a:rPr lang="zh-CN" altLang="en-US" dirty="0"/>
              <a:t>；</a:t>
            </a:r>
            <a:r>
              <a:rPr lang="en-US" altLang="zh-CN" dirty="0"/>
              <a:t>Research Center, RMI Group Leader</a:t>
            </a:r>
            <a:r>
              <a:rPr lang="zh-CN" altLang="en-US" dirty="0"/>
              <a:t>；</a:t>
            </a:r>
            <a:r>
              <a:rPr lang="en-US" altLang="zh-CN" dirty="0"/>
              <a:t>Applied Physics Laboratory</a:t>
            </a:r>
            <a:r>
              <a:rPr lang="zh-CN" altLang="en-US" dirty="0"/>
              <a:t>；</a:t>
            </a:r>
            <a:r>
              <a:rPr lang="en-US" altLang="zh-CN" dirty="0"/>
              <a:t>The Johns Hopkins University</a:t>
            </a:r>
            <a:r>
              <a:rPr lang="zh-CN" altLang="en-US" dirty="0"/>
              <a:t>；</a:t>
            </a:r>
            <a:r>
              <a:rPr lang="en-US" altLang="zh-CN" dirty="0"/>
              <a:t>Johns Hopkins Road</a:t>
            </a:r>
            <a:r>
              <a:rPr lang="zh-CN" altLang="en-US" dirty="0"/>
              <a:t>；</a:t>
            </a:r>
            <a:r>
              <a:rPr lang="en-US" altLang="zh-CN" dirty="0"/>
              <a:t>Laurel, MD 20707(301) 953-6231</a:t>
            </a:r>
            <a:br>
              <a:rPr lang="en-US" altLang="zh-CN" dirty="0"/>
            </a:br>
            <a:endParaRPr lang="en-US" altLang="zh-CN" dirty="0"/>
          </a:p>
          <a:p>
            <a:pPr marL="342900" indent="-342900">
              <a:buAutoNum type="arabicPeriod" startAt="3"/>
            </a:pPr>
            <a:r>
              <a:rPr lang="en-US" altLang="zh-CN" dirty="0"/>
              <a:t>Date received: 9 May 1990</a:t>
            </a:r>
          </a:p>
          <a:p>
            <a:pPr marL="342900" indent="-342900">
              <a:buAutoNum type="arabicPeriod" startAt="3"/>
            </a:pPr>
            <a:endParaRPr lang="en-US" altLang="zh-CN" dirty="0"/>
          </a:p>
          <a:p>
            <a:pPr marL="342900" indent="-342900">
              <a:buAutoNum type="arabicPeriod" startAt="3"/>
            </a:pPr>
            <a:endParaRPr lang="en-US" altLang="zh-CN" dirty="0"/>
          </a:p>
          <a:p>
            <a:r>
              <a:rPr lang="en-US" altLang="zh-CN" b="1" dirty="0"/>
              <a:t>Number of Instances: 768</a:t>
            </a:r>
            <a:endParaRPr lang="en-US" altLang="zh-CN" dirty="0"/>
          </a:p>
          <a:p>
            <a:pPr marL="342900" indent="-342900">
              <a:buAutoNum type="arabicPeriod" startAt="3"/>
            </a:pPr>
            <a:endParaRPr lang="en-US" altLang="zh-CN" dirty="0"/>
          </a:p>
          <a:p>
            <a:pPr marL="342900" indent="-342900">
              <a:buAutoNum type="arabicPeriod" startAt="3"/>
            </a:pPr>
            <a:endParaRPr lang="en-US" altLang="zh-CN" dirty="0"/>
          </a:p>
          <a:p>
            <a:r>
              <a:rPr lang="zh-CN" altLang="en-US" sz="1800" dirty="0">
                <a:solidFill>
                  <a:srgbClr val="0052FF"/>
                </a:solidFill>
              </a:rPr>
              <a:t>说明：</a:t>
            </a:r>
            <a:endParaRPr lang="en-US" altLang="zh-CN" sz="1800" dirty="0">
              <a:solidFill>
                <a:srgbClr val="0052FF"/>
              </a:solidFill>
            </a:endParaRPr>
          </a:p>
          <a:p>
            <a:endParaRPr lang="en-US" altLang="zh-CN" sz="1800" dirty="0">
              <a:solidFill>
                <a:srgbClr val="0052FF"/>
              </a:solidFill>
            </a:endParaRPr>
          </a:p>
          <a:p>
            <a:r>
              <a:rPr lang="zh-CN" altLang="en-US" dirty="0"/>
              <a:t>本数据集将被划分成两部分，</a:t>
            </a:r>
            <a:r>
              <a:rPr lang="en-US" altLang="zh-CN" dirty="0"/>
              <a:t>80%</a:t>
            </a:r>
            <a:r>
              <a:rPr lang="zh-CN" altLang="en-US" dirty="0"/>
              <a:t>的数据用来训练，</a:t>
            </a:r>
            <a:r>
              <a:rPr lang="en-US" altLang="zh-CN" dirty="0"/>
              <a:t>20%</a:t>
            </a:r>
            <a:r>
              <a:rPr lang="zh-CN" altLang="en-US" dirty="0"/>
              <a:t>的数据用来验证</a:t>
            </a:r>
            <a:endParaRPr lang="en-US" altLang="zh-CN" dirty="0"/>
          </a:p>
        </p:txBody>
      </p:sp>
    </p:spTree>
    <p:extLst>
      <p:ext uri="{BB962C8B-B14F-4D97-AF65-F5344CB8AC3E}">
        <p14:creationId xmlns:p14="http://schemas.microsoft.com/office/powerpoint/2010/main" val="3648242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5C0B3-2B1E-EA0F-650C-59ACDDE3EACF}"/>
            </a:ext>
          </a:extLst>
        </p:cNvPr>
        <p:cNvGrpSpPr/>
        <p:nvPr/>
      </p:nvGrpSpPr>
      <p:grpSpPr>
        <a:xfrm>
          <a:off x="0" y="0"/>
          <a:ext cx="0" cy="0"/>
          <a:chOff x="0" y="0"/>
          <a:chExt cx="0" cy="0"/>
        </a:xfrm>
      </p:grpSpPr>
      <p:pic>
        <p:nvPicPr>
          <p:cNvPr id="30" name="图形 29">
            <a:extLst>
              <a:ext uri="{FF2B5EF4-FFF2-40B4-BE49-F238E27FC236}">
                <a16:creationId xmlns:a16="http://schemas.microsoft.com/office/drawing/2014/main" id="{91F9E2FF-752E-DFF5-F360-B59554E593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1"/>
            <a:ext cx="12192000" cy="6859051"/>
          </a:xfrm>
          <a:prstGeom prst="rect">
            <a:avLst/>
          </a:prstGeom>
        </p:spPr>
      </p:pic>
      <p:pic>
        <p:nvPicPr>
          <p:cNvPr id="32" name="图形 31">
            <a:extLst>
              <a:ext uri="{FF2B5EF4-FFF2-40B4-BE49-F238E27FC236}">
                <a16:creationId xmlns:a16="http://schemas.microsoft.com/office/drawing/2014/main" id="{57E24BB1-292C-92A0-3A70-CD357B1DBC5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875" y="167005"/>
            <a:ext cx="11518900" cy="6197600"/>
          </a:xfrm>
          <a:prstGeom prst="rect">
            <a:avLst/>
          </a:prstGeom>
        </p:spPr>
      </p:pic>
      <p:pic>
        <p:nvPicPr>
          <p:cNvPr id="3" name="图片 2" descr="9717abb16921ec7e0dd594a564d1e80">
            <a:extLst>
              <a:ext uri="{FF2B5EF4-FFF2-40B4-BE49-F238E27FC236}">
                <a16:creationId xmlns:a16="http://schemas.microsoft.com/office/drawing/2014/main" id="{D3049EDD-3F2E-C204-341B-C4BC820955AC}"/>
              </a:ext>
            </a:extLst>
          </p:cNvPr>
          <p:cNvPicPr>
            <a:picLocks noChangeAspect="1"/>
          </p:cNvPicPr>
          <p:nvPr/>
        </p:nvPicPr>
        <p:blipFill>
          <a:blip r:embed="rId6"/>
          <a:stretch>
            <a:fillRect/>
          </a:stretch>
        </p:blipFill>
        <p:spPr>
          <a:xfrm>
            <a:off x="5309235" y="400685"/>
            <a:ext cx="1502410" cy="1504315"/>
          </a:xfrm>
          <a:prstGeom prst="rect">
            <a:avLst/>
          </a:prstGeom>
        </p:spPr>
      </p:pic>
      <p:sp>
        <p:nvSpPr>
          <p:cNvPr id="10" name="文本框 9">
            <a:extLst>
              <a:ext uri="{FF2B5EF4-FFF2-40B4-BE49-F238E27FC236}">
                <a16:creationId xmlns:a16="http://schemas.microsoft.com/office/drawing/2014/main" id="{2A5C496E-700E-9341-4B37-F79C21D78B3A}"/>
              </a:ext>
            </a:extLst>
          </p:cNvPr>
          <p:cNvSpPr txBox="1"/>
          <p:nvPr/>
        </p:nvSpPr>
        <p:spPr>
          <a:xfrm>
            <a:off x="396873" y="2407596"/>
            <a:ext cx="11518901" cy="1076726"/>
          </a:xfrm>
          <a:prstGeom prst="rect">
            <a:avLst/>
          </a:prstGeom>
          <a:noFill/>
        </p:spPr>
        <p:txBody>
          <a:bodyPr wrap="square" rtlCol="0">
            <a:spAutoFit/>
          </a:bodyPr>
          <a:lstStyle/>
          <a:p>
            <a:pPr algn="ctr"/>
            <a:r>
              <a:rPr lang="zh-CN" altLang="en-US" sz="3200" b="1" dirty="0">
                <a:solidFill>
                  <a:srgbClr val="1F2329"/>
                </a:solidFill>
                <a:ea typeface="Noto Sans SC" panose="020B0200000000000000" charset="-122"/>
                <a:sym typeface="Noto Sans SC" panose="020B0200000000000000" charset="-122"/>
              </a:rPr>
              <a:t>数据分析与传统机器学习</a:t>
            </a:r>
            <a:endParaRPr lang="en-US" altLang="zh-CN" sz="1600" dirty="0"/>
          </a:p>
          <a:p>
            <a:pPr algn="ctr"/>
            <a:endParaRPr lang="en-US" altLang="zh-CN" sz="3200" b="1" dirty="0">
              <a:solidFill>
                <a:srgbClr val="1F2329"/>
              </a:solidFill>
              <a:ea typeface="Noto Sans SC" panose="020B0200000000000000" charset="-122"/>
            </a:endParaRPr>
          </a:p>
        </p:txBody>
      </p:sp>
      <p:cxnSp>
        <p:nvCxnSpPr>
          <p:cNvPr id="13" name="直接连接符 12">
            <a:extLst>
              <a:ext uri="{FF2B5EF4-FFF2-40B4-BE49-F238E27FC236}">
                <a16:creationId xmlns:a16="http://schemas.microsoft.com/office/drawing/2014/main" id="{D2DAABC6-5C6D-DF62-0A2B-31CC4BE37573}"/>
              </a:ext>
            </a:extLst>
          </p:cNvPr>
          <p:cNvCxnSpPr/>
          <p:nvPr/>
        </p:nvCxnSpPr>
        <p:spPr>
          <a:xfrm>
            <a:off x="5544514" y="3115219"/>
            <a:ext cx="1073944" cy="0"/>
          </a:xfrm>
          <a:prstGeom prst="line">
            <a:avLst/>
          </a:prstGeom>
          <a:ln w="28575">
            <a:solidFill>
              <a:srgbClr val="F29635"/>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EE1C94C-B422-96E3-974D-9693CE6C7496}"/>
              </a:ext>
            </a:extLst>
          </p:cNvPr>
          <p:cNvSpPr txBox="1"/>
          <p:nvPr/>
        </p:nvSpPr>
        <p:spPr>
          <a:xfrm>
            <a:off x="3674745" y="3823335"/>
            <a:ext cx="6647180" cy="738664"/>
          </a:xfrm>
          <a:prstGeom prst="rect">
            <a:avLst/>
          </a:prstGeom>
          <a:noFill/>
        </p:spPr>
        <p:txBody>
          <a:bodyPr wrap="square" rtlCol="0">
            <a:spAutoFit/>
          </a:bodyPr>
          <a:lstStyle/>
          <a:p>
            <a:pPr algn="l">
              <a:buSzTx/>
            </a:pPr>
            <a:endParaRPr lang="en-US" altLang="zh-CN" sz="10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en-US" altLang="zh-CN"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a:p>
            <a:endParaRPr lang="zh-CN" altLang="en-US" sz="1600" b="0" i="0" u="none" strike="noStrike" dirty="0">
              <a:solidFill>
                <a:schemeClr val="tx1"/>
              </a:solidFill>
              <a:latin typeface="黑体" panose="02010609060101010101" charset="-122"/>
              <a:ea typeface="黑体" panose="02010609060101010101" charset="-122"/>
              <a:cs typeface="黑体" panose="02010609060101010101" charset="-122"/>
              <a:sym typeface="Noto Sans SC" panose="020B0200000000000000" charset="-122"/>
            </a:endParaRPr>
          </a:p>
        </p:txBody>
      </p:sp>
    </p:spTree>
    <p:extLst>
      <p:ext uri="{BB962C8B-B14F-4D97-AF65-F5344CB8AC3E}">
        <p14:creationId xmlns:p14="http://schemas.microsoft.com/office/powerpoint/2010/main" val="64470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2512E-0D0D-C70F-D971-396A85A50737}"/>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67E3185-D5FF-6187-0AF3-1881043BA2CA}"/>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i="0" u="none" strike="noStrike"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传统机器学习</a:t>
            </a:r>
            <a:r>
              <a:rPr lang="zh-CN" altLang="en-US" sz="3200" b="1" dirty="0">
                <a:solidFill>
                  <a:srgbClr val="0052FF"/>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分类流程</a:t>
            </a:r>
            <a:endParaRPr lang="en-US" sz="1100" dirty="0"/>
          </a:p>
        </p:txBody>
      </p:sp>
      <p:sp>
        <p:nvSpPr>
          <p:cNvPr id="3" name="AutoShape 3">
            <a:extLst>
              <a:ext uri="{FF2B5EF4-FFF2-40B4-BE49-F238E27FC236}">
                <a16:creationId xmlns:a16="http://schemas.microsoft.com/office/drawing/2014/main" id="{1DA04421-9970-5AA8-F2F9-48501D20C45E}"/>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29762602-CD58-FECE-552D-34BEF846ADA0}"/>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pic>
        <p:nvPicPr>
          <p:cNvPr id="9" name="图片 8">
            <a:extLst>
              <a:ext uri="{FF2B5EF4-FFF2-40B4-BE49-F238E27FC236}">
                <a16:creationId xmlns:a16="http://schemas.microsoft.com/office/drawing/2014/main" id="{398D66DC-1822-8579-45FC-7B2E2E8457E8}"/>
              </a:ext>
            </a:extLst>
          </p:cNvPr>
          <p:cNvPicPr>
            <a:picLocks noChangeAspect="1"/>
          </p:cNvPicPr>
          <p:nvPr/>
        </p:nvPicPr>
        <p:blipFill>
          <a:blip r:embed="rId3"/>
          <a:stretch>
            <a:fillRect/>
          </a:stretch>
        </p:blipFill>
        <p:spPr>
          <a:xfrm>
            <a:off x="0" y="0"/>
            <a:ext cx="10840376" cy="6858000"/>
          </a:xfrm>
          <a:prstGeom prst="rect">
            <a:avLst/>
          </a:prstGeom>
        </p:spPr>
      </p:pic>
    </p:spTree>
    <p:extLst>
      <p:ext uri="{BB962C8B-B14F-4D97-AF65-F5344CB8AC3E}">
        <p14:creationId xmlns:p14="http://schemas.microsoft.com/office/powerpoint/2010/main" val="18927480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E6FA9-93FF-39C4-C053-610A26204D0D}"/>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D52682E5-AEAC-7594-137E-E5CE6601E355}"/>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数据清洗</a:t>
            </a:r>
            <a:endParaRPr lang="en-US" sz="1100" dirty="0"/>
          </a:p>
        </p:txBody>
      </p:sp>
      <p:sp>
        <p:nvSpPr>
          <p:cNvPr id="3" name="AutoShape 3">
            <a:extLst>
              <a:ext uri="{FF2B5EF4-FFF2-40B4-BE49-F238E27FC236}">
                <a16:creationId xmlns:a16="http://schemas.microsoft.com/office/drawing/2014/main" id="{A9A33C8C-079C-1238-9A88-DF747E2942CD}"/>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DBDB4634-9973-8B2B-ECDF-E8270260D75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72009424-5239-5EF7-C8FF-474F45B44CEF}"/>
              </a:ext>
            </a:extLst>
          </p:cNvPr>
          <p:cNvSpPr txBox="1"/>
          <p:nvPr/>
        </p:nvSpPr>
        <p:spPr>
          <a:xfrm>
            <a:off x="762000" y="1395919"/>
            <a:ext cx="10609634" cy="2031325"/>
          </a:xfrm>
          <a:prstGeom prst="rect">
            <a:avLst/>
          </a:prstGeom>
          <a:noFill/>
        </p:spPr>
        <p:txBody>
          <a:bodyPr wrap="square" rtlCol="0">
            <a:spAutoFit/>
          </a:bodyPr>
          <a:lstStyle/>
          <a:p>
            <a:r>
              <a:rPr lang="zh-CN" altLang="en-US" dirty="0"/>
              <a:t>    数据清洗通常始于评估。它涉及审查数据集以识别需纠正的质量问题。识别到问题时，组织可能会采用各种数据清洗技术</a:t>
            </a:r>
            <a:endParaRPr lang="en-US" altLang="zh-CN" dirty="0"/>
          </a:p>
          <a:p>
            <a:endParaRPr lang="en-US" altLang="zh-CN" dirty="0"/>
          </a:p>
          <a:p>
            <a:pPr fontAlgn="base"/>
            <a:r>
              <a:rPr lang="zh-CN" altLang="en-US" dirty="0"/>
              <a:t>标准化：统一单位格式，像是时间格式等</a:t>
            </a:r>
            <a:endParaRPr lang="en-US" altLang="zh-CN" dirty="0"/>
          </a:p>
          <a:p>
            <a:pPr fontAlgn="base"/>
            <a:endParaRPr lang="en-US" altLang="zh-CN" dirty="0"/>
          </a:p>
          <a:p>
            <a:pPr fontAlgn="base"/>
            <a:r>
              <a:rPr lang="zh-CN" altLang="en-US" dirty="0"/>
              <a:t>解决异常值：由错误、罕见事件或真实异常所引发的与某一数据集中其他数据点存在明显偏差的数据点（箱线图）</a:t>
            </a:r>
            <a:endParaRPr lang="en-US" altLang="zh-CN" dirty="0"/>
          </a:p>
          <a:p>
            <a:pPr fontAlgn="base"/>
            <a:endParaRPr lang="en-US" altLang="zh-CN" dirty="0"/>
          </a:p>
          <a:p>
            <a:pPr fontAlgn="base"/>
            <a:r>
              <a:rPr lang="zh-CN" altLang="en-US" dirty="0"/>
              <a:t>去重：删除多余的数据</a:t>
            </a:r>
            <a:endParaRPr lang="en-US" altLang="zh-CN" dirty="0"/>
          </a:p>
          <a:p>
            <a:pPr fontAlgn="base"/>
            <a:endParaRPr lang="en-US" altLang="zh-CN" dirty="0"/>
          </a:p>
          <a:p>
            <a:pPr fontAlgn="base"/>
            <a:r>
              <a:rPr lang="zh-CN" altLang="en-US" dirty="0"/>
              <a:t>处理缺失值：针对具体问题分析，当数据量比较大时可以直接删除异常值数据。数据量不大时需要保证数据的数学特征不变</a:t>
            </a:r>
            <a:endParaRPr lang="zh-CN" altLang="en-US" b="1" dirty="0"/>
          </a:p>
        </p:txBody>
      </p:sp>
      <p:sp>
        <p:nvSpPr>
          <p:cNvPr id="6" name="文本框 5">
            <a:extLst>
              <a:ext uri="{FF2B5EF4-FFF2-40B4-BE49-F238E27FC236}">
                <a16:creationId xmlns:a16="http://schemas.microsoft.com/office/drawing/2014/main" id="{3CBA940A-4916-3D20-CFB8-30B4421BE463}"/>
              </a:ext>
            </a:extLst>
          </p:cNvPr>
          <p:cNvSpPr txBox="1"/>
          <p:nvPr/>
        </p:nvSpPr>
        <p:spPr>
          <a:xfrm>
            <a:off x="218872" y="3692863"/>
            <a:ext cx="6031149" cy="2031325"/>
          </a:xfrm>
          <a:prstGeom prst="rect">
            <a:avLst/>
          </a:prstGeom>
          <a:noFill/>
        </p:spPr>
        <p:txBody>
          <a:bodyPr wrap="square" rtlCol="0">
            <a:spAutoFit/>
          </a:bodyPr>
          <a:lstStyle/>
          <a:p>
            <a:r>
              <a:rPr lang="zh-CN" altLang="en-US" dirty="0"/>
              <a:t>针对现有的数据集：</a:t>
            </a:r>
            <a:endParaRPr lang="en-US" altLang="zh-CN" dirty="0"/>
          </a:p>
          <a:p>
            <a:endParaRPr lang="en-US" altLang="zh-CN" b="1" dirty="0"/>
          </a:p>
          <a:p>
            <a:r>
              <a:rPr lang="en-US" altLang="zh-CN" dirty="0"/>
              <a:t>1.     </a:t>
            </a:r>
            <a:r>
              <a:rPr lang="zh-CN" altLang="en-US" dirty="0"/>
              <a:t>解决异常值：</a:t>
            </a:r>
            <a:endParaRPr lang="en-US" altLang="zh-CN" dirty="0"/>
          </a:p>
          <a:p>
            <a:r>
              <a:rPr lang="en-US" altLang="zh-CN" b="1" dirty="0"/>
              <a:t>[</a:t>
            </a:r>
            <a:r>
              <a:rPr lang="en-US" altLang="zh-CN" b="1" i="1" dirty="0"/>
              <a:t>‘Glucose’(</a:t>
            </a:r>
            <a:r>
              <a:rPr lang="zh-CN" altLang="en-US" b="1" i="1" dirty="0"/>
              <a:t>血糖</a:t>
            </a:r>
            <a:r>
              <a:rPr lang="en-US" altLang="zh-CN" b="1" i="1" dirty="0"/>
              <a:t>)</a:t>
            </a:r>
            <a:r>
              <a:rPr lang="en-US" altLang="zh-CN" b="1" dirty="0"/>
              <a:t>, </a:t>
            </a:r>
            <a:r>
              <a:rPr lang="en-US" altLang="zh-CN" b="1" i="1" dirty="0"/>
              <a:t>‘</a:t>
            </a:r>
            <a:r>
              <a:rPr lang="en-US" altLang="zh-CN" b="1" i="1" dirty="0" err="1"/>
              <a:t>BloodPressure</a:t>
            </a:r>
            <a:r>
              <a:rPr lang="en-US" altLang="zh-CN" b="1" i="1" dirty="0"/>
              <a:t>‘(</a:t>
            </a:r>
            <a:r>
              <a:rPr lang="zh-CN" altLang="en-US" b="1" i="1" dirty="0"/>
              <a:t>血压</a:t>
            </a:r>
            <a:r>
              <a:rPr lang="en-US" altLang="zh-CN" b="1" i="1" dirty="0"/>
              <a:t>)</a:t>
            </a:r>
            <a:r>
              <a:rPr lang="en-US" altLang="zh-CN" b="1" dirty="0"/>
              <a:t>, </a:t>
            </a:r>
            <a:r>
              <a:rPr lang="en-US" altLang="zh-CN" b="1" i="1" dirty="0"/>
              <a:t>’</a:t>
            </a:r>
            <a:r>
              <a:rPr lang="en-US" altLang="zh-CN" b="1" i="1" dirty="0" err="1"/>
              <a:t>SkinThickness</a:t>
            </a:r>
            <a:r>
              <a:rPr lang="en-US" altLang="zh-CN" b="1" i="1" dirty="0"/>
              <a:t>’(</a:t>
            </a:r>
            <a:r>
              <a:rPr lang="zh-CN" altLang="en-US" b="1" i="1" dirty="0"/>
              <a:t>皮下脂肪</a:t>
            </a:r>
            <a:r>
              <a:rPr lang="en-US" altLang="zh-CN" b="1" i="1" dirty="0"/>
              <a:t>)</a:t>
            </a:r>
            <a:r>
              <a:rPr lang="en-US" altLang="zh-CN" b="1" dirty="0"/>
              <a:t>,</a:t>
            </a:r>
          </a:p>
          <a:p>
            <a:endParaRPr lang="en-US" altLang="zh-CN" b="1" dirty="0"/>
          </a:p>
          <a:p>
            <a:r>
              <a:rPr lang="en-US" altLang="zh-CN" b="1" dirty="0"/>
              <a:t> </a:t>
            </a:r>
            <a:r>
              <a:rPr lang="en-US" altLang="zh-CN" b="1" i="1" dirty="0"/>
              <a:t>‘Insulin’(</a:t>
            </a:r>
            <a:r>
              <a:rPr lang="zh-CN" altLang="en-US" b="1" i="1" dirty="0"/>
              <a:t>胰岛素</a:t>
            </a:r>
            <a:r>
              <a:rPr lang="en-US" altLang="zh-CN" b="1" i="1" dirty="0"/>
              <a:t>)</a:t>
            </a:r>
            <a:r>
              <a:rPr lang="en-US" altLang="zh-CN" b="1" dirty="0"/>
              <a:t>, </a:t>
            </a:r>
            <a:r>
              <a:rPr lang="en-US" altLang="zh-CN" b="1" i="1" dirty="0"/>
              <a:t>‘BMI’</a:t>
            </a:r>
            <a:r>
              <a:rPr lang="en-US" altLang="zh-CN" b="1" dirty="0"/>
              <a:t>] </a:t>
            </a:r>
            <a:r>
              <a:rPr lang="zh-CN" altLang="en-US" dirty="0"/>
              <a:t>这些特征不可能为</a:t>
            </a:r>
            <a:r>
              <a:rPr lang="en-US" altLang="zh-CN" dirty="0"/>
              <a:t>0</a:t>
            </a:r>
            <a:r>
              <a:rPr lang="zh-CN" altLang="en-US" dirty="0"/>
              <a:t>，这里使用中位数来代替</a:t>
            </a:r>
            <a:endParaRPr lang="en-US" altLang="zh-CN" dirty="0"/>
          </a:p>
          <a:p>
            <a:endParaRPr lang="en-US" altLang="zh-CN" dirty="0"/>
          </a:p>
          <a:p>
            <a:r>
              <a:rPr lang="en-US" altLang="zh-CN" dirty="0"/>
              <a:t>2.     </a:t>
            </a:r>
            <a:r>
              <a:rPr lang="zh-CN" altLang="en-US" dirty="0"/>
              <a:t>查看异常值：这里没有对异常值进行处理，选择了保留</a:t>
            </a:r>
            <a:r>
              <a:rPr lang="en-US" altLang="zh-CN" dirty="0"/>
              <a:t>(</a:t>
            </a:r>
            <a:r>
              <a:rPr lang="zh-CN" altLang="en-US" dirty="0"/>
              <a:t>箱线图</a:t>
            </a:r>
            <a:r>
              <a:rPr lang="en-US" altLang="zh-CN" dirty="0"/>
              <a:t>)</a:t>
            </a:r>
          </a:p>
          <a:p>
            <a:endParaRPr lang="zh-CN" altLang="en-US" dirty="0"/>
          </a:p>
        </p:txBody>
      </p:sp>
      <p:sp>
        <p:nvSpPr>
          <p:cNvPr id="8" name="AutoShape 19">
            <a:extLst>
              <a:ext uri="{FF2B5EF4-FFF2-40B4-BE49-F238E27FC236}">
                <a16:creationId xmlns:a16="http://schemas.microsoft.com/office/drawing/2014/main" id="{142A9E6E-6AA3-7E13-8724-B5A97E28F00E}"/>
              </a:ext>
            </a:extLst>
          </p:cNvPr>
          <p:cNvSpPr/>
          <p:nvPr/>
        </p:nvSpPr>
        <p:spPr>
          <a:xfrm>
            <a:off x="800911" y="6649395"/>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pic>
        <p:nvPicPr>
          <p:cNvPr id="10" name="图片 9">
            <a:extLst>
              <a:ext uri="{FF2B5EF4-FFF2-40B4-BE49-F238E27FC236}">
                <a16:creationId xmlns:a16="http://schemas.microsoft.com/office/drawing/2014/main" id="{97A6D1FA-64BE-763F-87F5-FF17BBC06067}"/>
              </a:ext>
            </a:extLst>
          </p:cNvPr>
          <p:cNvPicPr>
            <a:picLocks noChangeAspect="1"/>
          </p:cNvPicPr>
          <p:nvPr/>
        </p:nvPicPr>
        <p:blipFill>
          <a:blip r:embed="rId3"/>
          <a:stretch>
            <a:fillRect/>
          </a:stretch>
        </p:blipFill>
        <p:spPr>
          <a:xfrm>
            <a:off x="6250021" y="3700233"/>
            <a:ext cx="1586622" cy="2016584"/>
          </a:xfrm>
          <a:prstGeom prst="rect">
            <a:avLst/>
          </a:prstGeom>
        </p:spPr>
      </p:pic>
      <p:pic>
        <p:nvPicPr>
          <p:cNvPr id="13" name="图片 12">
            <a:extLst>
              <a:ext uri="{FF2B5EF4-FFF2-40B4-BE49-F238E27FC236}">
                <a16:creationId xmlns:a16="http://schemas.microsoft.com/office/drawing/2014/main" id="{56AB85EF-D446-E3DF-07A5-A97D8498A130}"/>
              </a:ext>
            </a:extLst>
          </p:cNvPr>
          <p:cNvPicPr>
            <a:picLocks noChangeAspect="1"/>
          </p:cNvPicPr>
          <p:nvPr/>
        </p:nvPicPr>
        <p:blipFill>
          <a:blip r:embed="rId4"/>
          <a:stretch>
            <a:fillRect/>
          </a:stretch>
        </p:blipFill>
        <p:spPr>
          <a:xfrm>
            <a:off x="8147472" y="3700233"/>
            <a:ext cx="1668801" cy="2093814"/>
          </a:xfrm>
          <a:prstGeom prst="rect">
            <a:avLst/>
          </a:prstGeom>
        </p:spPr>
      </p:pic>
      <p:pic>
        <p:nvPicPr>
          <p:cNvPr id="23" name="图片 22">
            <a:extLst>
              <a:ext uri="{FF2B5EF4-FFF2-40B4-BE49-F238E27FC236}">
                <a16:creationId xmlns:a16="http://schemas.microsoft.com/office/drawing/2014/main" id="{EB41D4D4-EC24-4C7B-6A4A-CD9BBFB38F29}"/>
              </a:ext>
            </a:extLst>
          </p:cNvPr>
          <p:cNvPicPr>
            <a:picLocks noChangeAspect="1"/>
          </p:cNvPicPr>
          <p:nvPr/>
        </p:nvPicPr>
        <p:blipFill>
          <a:blip r:embed="rId5"/>
          <a:stretch>
            <a:fillRect/>
          </a:stretch>
        </p:blipFill>
        <p:spPr>
          <a:xfrm>
            <a:off x="586903" y="5724188"/>
            <a:ext cx="5188938" cy="662021"/>
          </a:xfrm>
          <a:prstGeom prst="rect">
            <a:avLst/>
          </a:prstGeom>
        </p:spPr>
      </p:pic>
    </p:spTree>
    <p:extLst>
      <p:ext uri="{BB962C8B-B14F-4D97-AF65-F5344CB8AC3E}">
        <p14:creationId xmlns:p14="http://schemas.microsoft.com/office/powerpoint/2010/main" val="1862046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91CAB8A-FA59-D251-642C-A1C31DCE450B}"/>
              </a:ext>
            </a:extLst>
          </p:cNvPr>
          <p:cNvSpPr txBox="1"/>
          <p:nvPr/>
        </p:nvSpPr>
        <p:spPr>
          <a:xfrm>
            <a:off x="316149" y="321013"/>
            <a:ext cx="9610928" cy="307777"/>
          </a:xfrm>
          <a:prstGeom prst="rect">
            <a:avLst/>
          </a:prstGeom>
          <a:noFill/>
        </p:spPr>
        <p:txBody>
          <a:bodyPr wrap="square" rtlCol="0">
            <a:spAutoFit/>
          </a:bodyPr>
          <a:lstStyle/>
          <a:p>
            <a:r>
              <a:rPr lang="zh-CN" altLang="en-US" dirty="0"/>
              <a:t>再看特征与结果</a:t>
            </a:r>
            <a:r>
              <a:rPr lang="en-US" altLang="zh-CN" dirty="0"/>
              <a:t>Outcome</a:t>
            </a:r>
            <a:r>
              <a:rPr lang="zh-CN" altLang="en-US" dirty="0"/>
              <a:t>之间的分布关系：</a:t>
            </a:r>
          </a:p>
        </p:txBody>
      </p:sp>
      <p:sp>
        <p:nvSpPr>
          <p:cNvPr id="3" name="文本框 2">
            <a:extLst>
              <a:ext uri="{FF2B5EF4-FFF2-40B4-BE49-F238E27FC236}">
                <a16:creationId xmlns:a16="http://schemas.microsoft.com/office/drawing/2014/main" id="{17B4E3C5-56A6-AD4F-E589-87E063748BB9}"/>
              </a:ext>
            </a:extLst>
          </p:cNvPr>
          <p:cNvSpPr txBox="1"/>
          <p:nvPr/>
        </p:nvSpPr>
        <p:spPr>
          <a:xfrm>
            <a:off x="398835" y="807397"/>
            <a:ext cx="6220838" cy="307777"/>
          </a:xfrm>
          <a:prstGeom prst="rect">
            <a:avLst/>
          </a:prstGeom>
          <a:noFill/>
        </p:spPr>
        <p:txBody>
          <a:bodyPr wrap="square" rtlCol="0">
            <a:spAutoFit/>
          </a:bodyPr>
          <a:lstStyle/>
          <a:p>
            <a:r>
              <a:rPr lang="en-US" altLang="zh-CN" dirty="0"/>
              <a:t>API</a:t>
            </a:r>
            <a:r>
              <a:rPr lang="zh-CN" altLang="en-US" dirty="0"/>
              <a:t>：</a:t>
            </a:r>
          </a:p>
        </p:txBody>
      </p:sp>
      <p:pic>
        <p:nvPicPr>
          <p:cNvPr id="5" name="图片 4">
            <a:extLst>
              <a:ext uri="{FF2B5EF4-FFF2-40B4-BE49-F238E27FC236}">
                <a16:creationId xmlns:a16="http://schemas.microsoft.com/office/drawing/2014/main" id="{D1D05C7B-66E8-0AE8-7246-D4A967F046F3}"/>
              </a:ext>
            </a:extLst>
          </p:cNvPr>
          <p:cNvPicPr>
            <a:picLocks noChangeAspect="1"/>
          </p:cNvPicPr>
          <p:nvPr/>
        </p:nvPicPr>
        <p:blipFill>
          <a:blip r:embed="rId2"/>
          <a:stretch>
            <a:fillRect/>
          </a:stretch>
        </p:blipFill>
        <p:spPr>
          <a:xfrm>
            <a:off x="1140486" y="807397"/>
            <a:ext cx="5479187" cy="1871866"/>
          </a:xfrm>
          <a:prstGeom prst="rect">
            <a:avLst/>
          </a:prstGeom>
        </p:spPr>
      </p:pic>
      <p:sp>
        <p:nvSpPr>
          <p:cNvPr id="7" name="文本框 6">
            <a:extLst>
              <a:ext uri="{FF2B5EF4-FFF2-40B4-BE49-F238E27FC236}">
                <a16:creationId xmlns:a16="http://schemas.microsoft.com/office/drawing/2014/main" id="{A6AE1500-67E7-FBF4-74DB-7B7E5F9B4CB3}"/>
              </a:ext>
            </a:extLst>
          </p:cNvPr>
          <p:cNvSpPr txBox="1"/>
          <p:nvPr/>
        </p:nvSpPr>
        <p:spPr>
          <a:xfrm>
            <a:off x="440095" y="2857870"/>
            <a:ext cx="11184458" cy="3754874"/>
          </a:xfrm>
          <a:prstGeom prst="rect">
            <a:avLst/>
          </a:prstGeom>
          <a:noFill/>
        </p:spPr>
        <p:txBody>
          <a:bodyPr wrap="square" rtlCol="0">
            <a:spAutoFit/>
          </a:bodyPr>
          <a:lstStyle/>
          <a:p>
            <a:r>
              <a:rPr lang="zh-CN" altLang="en-US" dirty="0"/>
              <a:t>箱线图</a:t>
            </a:r>
            <a:r>
              <a:rPr lang="en-US" altLang="zh-CN" dirty="0"/>
              <a:t>(Boxplot)</a:t>
            </a:r>
            <a:r>
              <a:rPr lang="zh-CN" altLang="en-US" dirty="0"/>
              <a:t>：中间线 </a:t>
            </a:r>
            <a:r>
              <a:rPr lang="en-US" altLang="zh-CN" dirty="0"/>
              <a:t>= </a:t>
            </a:r>
            <a:r>
              <a:rPr lang="zh-CN" altLang="en-US" dirty="0"/>
              <a:t>中位数；超出部分标为孤立点</a:t>
            </a:r>
            <a:r>
              <a:rPr lang="en-US" altLang="zh-CN" dirty="0"/>
              <a:t>(</a:t>
            </a:r>
            <a:r>
              <a:rPr lang="zh-CN" altLang="en-US" dirty="0"/>
              <a:t>异常值</a:t>
            </a:r>
            <a:r>
              <a:rPr lang="en-US" altLang="zh-CN" dirty="0"/>
              <a:t>)</a:t>
            </a:r>
          </a:p>
          <a:p>
            <a:endParaRPr lang="en-US" altLang="zh-CN" dirty="0"/>
          </a:p>
          <a:p>
            <a:r>
              <a:rPr lang="zh-CN" altLang="en-US" dirty="0"/>
              <a:t>四分位数</a:t>
            </a:r>
            <a:r>
              <a:rPr lang="en-US" altLang="zh-CN" dirty="0"/>
              <a:t>(quartile)</a:t>
            </a:r>
            <a:r>
              <a:rPr lang="zh-CN" altLang="en-US" dirty="0"/>
              <a:t>是指在统计学中把所有数值由小到大排列并分成四等份，处于三个分割点位置的数值。</a:t>
            </a:r>
            <a:endParaRPr lang="en-US" altLang="zh-CN" dirty="0"/>
          </a:p>
          <a:p>
            <a:endParaRPr lang="zh-CN" altLang="en-US" dirty="0"/>
          </a:p>
          <a:p>
            <a:r>
              <a:rPr lang="zh-CN" altLang="en-US" dirty="0"/>
              <a:t>四分位数也被称为四分位点，它是将全部数据分成相等的四部分，其中每部分包括 </a:t>
            </a:r>
            <a:r>
              <a:rPr lang="en-US" altLang="zh-CN" dirty="0"/>
              <a:t>25%</a:t>
            </a:r>
            <a:r>
              <a:rPr lang="zh-CN" altLang="en-US" dirty="0"/>
              <a:t>的数据，处在各分位点的数值就是四分位数。</a:t>
            </a:r>
            <a:endParaRPr lang="en-US" altLang="zh-CN" dirty="0"/>
          </a:p>
          <a:p>
            <a:endParaRPr lang="zh-CN" altLang="en-US" dirty="0"/>
          </a:p>
          <a:p>
            <a:r>
              <a:rPr lang="zh-CN" altLang="en-US" dirty="0"/>
              <a:t>四分位数有三个，第一个四分位数 </a:t>
            </a:r>
            <a:r>
              <a:rPr lang="en-US" altLang="zh-CN" dirty="0"/>
              <a:t>(Q1) -&gt; 25% </a:t>
            </a:r>
            <a:r>
              <a:rPr lang="zh-CN" altLang="en-US" dirty="0"/>
              <a:t>的数据小于等于此值。第二个四分位数 </a:t>
            </a:r>
            <a:r>
              <a:rPr lang="en-US" altLang="zh-CN" dirty="0"/>
              <a:t>(Q2) -&gt; </a:t>
            </a:r>
            <a:r>
              <a:rPr lang="zh-CN" altLang="en-US" dirty="0"/>
              <a:t>中位数。</a:t>
            </a:r>
            <a:r>
              <a:rPr lang="en-US" altLang="zh-CN" dirty="0"/>
              <a:t>50% </a:t>
            </a:r>
            <a:r>
              <a:rPr lang="zh-CN" altLang="en-US" dirty="0"/>
              <a:t>的数据小于等于此值。</a:t>
            </a:r>
          </a:p>
          <a:p>
            <a:r>
              <a:rPr lang="zh-CN" altLang="en-US" dirty="0"/>
              <a:t>第三个四分位数 </a:t>
            </a:r>
            <a:r>
              <a:rPr lang="en-US" altLang="zh-CN" dirty="0"/>
              <a:t>(Q3) -&gt; 75% </a:t>
            </a:r>
            <a:r>
              <a:rPr lang="zh-CN" altLang="en-US" dirty="0"/>
              <a:t>的数据小于等于此值。</a:t>
            </a:r>
          </a:p>
          <a:p>
            <a:endParaRPr lang="zh-CN" altLang="en-US" dirty="0"/>
          </a:p>
          <a:p>
            <a:r>
              <a:rPr lang="zh-CN" altLang="en-US" dirty="0"/>
              <a:t>四分位距</a:t>
            </a:r>
            <a:r>
              <a:rPr lang="en-US" altLang="zh-CN" dirty="0"/>
              <a:t>IQR:</a:t>
            </a:r>
            <a:r>
              <a:rPr lang="zh-CN" altLang="en-US" dirty="0"/>
              <a:t>是</a:t>
            </a:r>
            <a:r>
              <a:rPr lang="en-US" altLang="zh-CN" dirty="0"/>
              <a:t>Q3-Q1,</a:t>
            </a:r>
            <a:r>
              <a:rPr lang="zh-CN" altLang="en-US" dirty="0"/>
              <a:t>也就是说上下四分位数的差值。</a:t>
            </a:r>
            <a:endParaRPr lang="en-US" altLang="zh-CN" dirty="0"/>
          </a:p>
          <a:p>
            <a:endParaRPr lang="zh-CN" altLang="en-US" dirty="0"/>
          </a:p>
          <a:p>
            <a:r>
              <a:rPr lang="zh-CN" altLang="en-US" dirty="0"/>
              <a:t>上下限</a:t>
            </a:r>
            <a:r>
              <a:rPr lang="en-US" altLang="zh-CN" dirty="0"/>
              <a:t>:</a:t>
            </a:r>
            <a:r>
              <a:rPr lang="zh-CN" altLang="en-US" dirty="0"/>
              <a:t>上下限并不是整个数据样本的最大值和最小值</a:t>
            </a:r>
          </a:p>
          <a:p>
            <a:r>
              <a:rPr lang="zh-CN" altLang="en-US" dirty="0"/>
              <a:t>上限 </a:t>
            </a:r>
            <a:r>
              <a:rPr lang="en-US" altLang="zh-CN" dirty="0"/>
              <a:t>= </a:t>
            </a:r>
            <a:r>
              <a:rPr lang="zh-CN" altLang="en-US" dirty="0"/>
              <a:t>去除异常值的最大值</a:t>
            </a:r>
            <a:r>
              <a:rPr lang="en-US" altLang="zh-CN" dirty="0"/>
              <a:t>(Q3+1.5IQR)</a:t>
            </a:r>
          </a:p>
          <a:p>
            <a:r>
              <a:rPr lang="zh-CN" altLang="en-US" dirty="0"/>
              <a:t>下限 </a:t>
            </a:r>
            <a:r>
              <a:rPr lang="en-US" altLang="zh-CN" dirty="0"/>
              <a:t>= </a:t>
            </a:r>
            <a:r>
              <a:rPr lang="zh-CN" altLang="en-US" dirty="0"/>
              <a:t>去除异常值的最小值</a:t>
            </a:r>
            <a:r>
              <a:rPr lang="en-US" altLang="zh-CN" dirty="0"/>
              <a:t>(Q1-1.5IQR)</a:t>
            </a:r>
          </a:p>
          <a:p>
            <a:r>
              <a:rPr lang="zh-CN" altLang="en-US" dirty="0"/>
              <a:t>在上下限这里分别划出两条线段作为异常值的分界点。</a:t>
            </a:r>
          </a:p>
          <a:p>
            <a:endParaRPr lang="zh-CN" altLang="en-US" dirty="0"/>
          </a:p>
          <a:p>
            <a:r>
              <a:rPr lang="zh-CN" altLang="en-US" dirty="0"/>
              <a:t>那么在箱线图中，上下限之间就是数据样本的正常分布区间，超出上下限就定义为异常值。</a:t>
            </a:r>
          </a:p>
        </p:txBody>
      </p:sp>
      <p:pic>
        <p:nvPicPr>
          <p:cNvPr id="9" name="图片 8">
            <a:extLst>
              <a:ext uri="{FF2B5EF4-FFF2-40B4-BE49-F238E27FC236}">
                <a16:creationId xmlns:a16="http://schemas.microsoft.com/office/drawing/2014/main" id="{19ECEDD8-AB97-3F03-45CA-D1A6C64BEF19}"/>
              </a:ext>
            </a:extLst>
          </p:cNvPr>
          <p:cNvPicPr>
            <a:picLocks noChangeAspect="1"/>
          </p:cNvPicPr>
          <p:nvPr/>
        </p:nvPicPr>
        <p:blipFill>
          <a:blip r:embed="rId3"/>
          <a:stretch>
            <a:fillRect/>
          </a:stretch>
        </p:blipFill>
        <p:spPr>
          <a:xfrm>
            <a:off x="8478850" y="0"/>
            <a:ext cx="3713150" cy="3356043"/>
          </a:xfrm>
          <a:prstGeom prst="rect">
            <a:avLst/>
          </a:prstGeom>
        </p:spPr>
      </p:pic>
    </p:spTree>
    <p:extLst>
      <p:ext uri="{BB962C8B-B14F-4D97-AF65-F5344CB8AC3E}">
        <p14:creationId xmlns:p14="http://schemas.microsoft.com/office/powerpoint/2010/main" val="370279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0A6DBB68-E2AE-5415-9AE3-DD7C913E0CB5}"/>
              </a:ext>
            </a:extLst>
          </p:cNvPr>
          <p:cNvPicPr>
            <a:picLocks noChangeAspect="1"/>
          </p:cNvPicPr>
          <p:nvPr/>
        </p:nvPicPr>
        <p:blipFill>
          <a:blip r:embed="rId2"/>
          <a:stretch>
            <a:fillRect/>
          </a:stretch>
        </p:blipFill>
        <p:spPr>
          <a:xfrm>
            <a:off x="1504725" y="0"/>
            <a:ext cx="9182550" cy="6858000"/>
          </a:xfrm>
          <a:prstGeom prst="rect">
            <a:avLst/>
          </a:prstGeom>
        </p:spPr>
      </p:pic>
    </p:spTree>
    <p:extLst>
      <p:ext uri="{BB962C8B-B14F-4D97-AF65-F5344CB8AC3E}">
        <p14:creationId xmlns:p14="http://schemas.microsoft.com/office/powerpoint/2010/main" val="1265256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8AAB7-6C94-3E01-278A-7C2BC1CEFD3C}"/>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370A05F7-C93D-433A-36C5-EFB3729EE0E3}"/>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特征选取</a:t>
            </a:r>
            <a:endParaRPr lang="en-US" sz="1100" dirty="0"/>
          </a:p>
        </p:txBody>
      </p:sp>
      <p:sp>
        <p:nvSpPr>
          <p:cNvPr id="3" name="AutoShape 3">
            <a:extLst>
              <a:ext uri="{FF2B5EF4-FFF2-40B4-BE49-F238E27FC236}">
                <a16:creationId xmlns:a16="http://schemas.microsoft.com/office/drawing/2014/main" id="{CADD36D7-B8D8-33EF-0908-985F6C9240D6}"/>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C3B2552E-C1F3-88E7-2495-8C72123ADD5F}"/>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311B022F-16E3-0922-6B30-6B05B793971C}"/>
              </a:ext>
            </a:extLst>
          </p:cNvPr>
          <p:cNvSpPr txBox="1"/>
          <p:nvPr/>
        </p:nvSpPr>
        <p:spPr>
          <a:xfrm>
            <a:off x="762000" y="1395919"/>
            <a:ext cx="10609634" cy="738664"/>
          </a:xfrm>
          <a:prstGeom prst="rect">
            <a:avLst/>
          </a:prstGeom>
          <a:noFill/>
        </p:spPr>
        <p:txBody>
          <a:bodyPr wrap="square" rtlCol="0">
            <a:spAutoFit/>
          </a:bodyPr>
          <a:lstStyle/>
          <a:p>
            <a:r>
              <a:rPr lang="zh-CN" altLang="en-US" dirty="0"/>
              <a:t>    我们现在是一个分类任务，在分类前我们就知道：不同的数据对结果的判断权值肯定是不同的。针对糖尿病分析来看，血糖数据和</a:t>
            </a:r>
            <a:endParaRPr lang="en-US" altLang="zh-CN" dirty="0"/>
          </a:p>
          <a:p>
            <a:endParaRPr lang="en-US" altLang="zh-CN" dirty="0"/>
          </a:p>
          <a:p>
            <a:r>
              <a:rPr lang="en-US" altLang="zh-CN" dirty="0"/>
              <a:t>BMI</a:t>
            </a:r>
            <a:r>
              <a:rPr lang="zh-CN" altLang="en-US" dirty="0"/>
              <a:t>数据对结果的影响肯定要比血压和皮肤厚度</a:t>
            </a:r>
            <a:r>
              <a:rPr lang="en-US" altLang="zh-CN" dirty="0"/>
              <a:t>(</a:t>
            </a:r>
            <a:r>
              <a:rPr lang="zh-CN" altLang="en-US" dirty="0"/>
              <a:t>皮下脂肪</a:t>
            </a:r>
            <a:r>
              <a:rPr lang="en-US" altLang="zh-CN" dirty="0"/>
              <a:t>)</a:t>
            </a:r>
            <a:r>
              <a:rPr lang="zh-CN" altLang="en-US" dirty="0"/>
              <a:t>要大。所以特征选取就是选择对结果影响大的特征输入给下面的判别层。</a:t>
            </a:r>
            <a:endParaRPr lang="zh-CN" altLang="en-US" b="1" dirty="0"/>
          </a:p>
        </p:txBody>
      </p:sp>
      <p:sp>
        <p:nvSpPr>
          <p:cNvPr id="8" name="AutoShape 19">
            <a:extLst>
              <a:ext uri="{FF2B5EF4-FFF2-40B4-BE49-F238E27FC236}">
                <a16:creationId xmlns:a16="http://schemas.microsoft.com/office/drawing/2014/main" id="{D97034F4-4605-673D-BACA-254A8FCCA11C}"/>
              </a:ext>
            </a:extLst>
          </p:cNvPr>
          <p:cNvSpPr/>
          <p:nvPr/>
        </p:nvSpPr>
        <p:spPr>
          <a:xfrm>
            <a:off x="762000" y="5842000"/>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5" name="文本框 4">
            <a:extLst>
              <a:ext uri="{FF2B5EF4-FFF2-40B4-BE49-F238E27FC236}">
                <a16:creationId xmlns:a16="http://schemas.microsoft.com/office/drawing/2014/main" id="{822985D5-42D6-F47F-F3DB-D483F40BE726}"/>
              </a:ext>
            </a:extLst>
          </p:cNvPr>
          <p:cNvSpPr txBox="1"/>
          <p:nvPr/>
        </p:nvSpPr>
        <p:spPr>
          <a:xfrm>
            <a:off x="762000" y="2307618"/>
            <a:ext cx="6300281" cy="307777"/>
          </a:xfrm>
          <a:prstGeom prst="rect">
            <a:avLst/>
          </a:prstGeom>
          <a:noFill/>
        </p:spPr>
        <p:txBody>
          <a:bodyPr wrap="square" rtlCol="0">
            <a:spAutoFit/>
          </a:bodyPr>
          <a:lstStyle/>
          <a:p>
            <a:r>
              <a:rPr lang="zh-CN" altLang="en-US" dirty="0"/>
              <a:t>首先来看特征与特征之间的关系：</a:t>
            </a:r>
          </a:p>
        </p:txBody>
      </p:sp>
      <p:pic>
        <p:nvPicPr>
          <p:cNvPr id="14" name="图片 13">
            <a:extLst>
              <a:ext uri="{FF2B5EF4-FFF2-40B4-BE49-F238E27FC236}">
                <a16:creationId xmlns:a16="http://schemas.microsoft.com/office/drawing/2014/main" id="{54D454DC-964B-D5D5-B4C0-211AE53B7391}"/>
              </a:ext>
            </a:extLst>
          </p:cNvPr>
          <p:cNvPicPr>
            <a:picLocks noChangeAspect="1"/>
          </p:cNvPicPr>
          <p:nvPr/>
        </p:nvPicPr>
        <p:blipFill>
          <a:blip r:embed="rId3"/>
          <a:stretch>
            <a:fillRect/>
          </a:stretch>
        </p:blipFill>
        <p:spPr>
          <a:xfrm>
            <a:off x="762000" y="3214436"/>
            <a:ext cx="11196536" cy="2028522"/>
          </a:xfrm>
          <a:prstGeom prst="rect">
            <a:avLst/>
          </a:prstGeom>
        </p:spPr>
      </p:pic>
      <p:sp>
        <p:nvSpPr>
          <p:cNvPr id="15" name="文本框 14">
            <a:extLst>
              <a:ext uri="{FF2B5EF4-FFF2-40B4-BE49-F238E27FC236}">
                <a16:creationId xmlns:a16="http://schemas.microsoft.com/office/drawing/2014/main" id="{C793D910-B5EE-6E17-0416-1D1E4727F78D}"/>
              </a:ext>
            </a:extLst>
          </p:cNvPr>
          <p:cNvSpPr txBox="1"/>
          <p:nvPr/>
        </p:nvSpPr>
        <p:spPr>
          <a:xfrm>
            <a:off x="762000" y="2879387"/>
            <a:ext cx="3362528" cy="307777"/>
          </a:xfrm>
          <a:prstGeom prst="rect">
            <a:avLst/>
          </a:prstGeom>
          <a:noFill/>
        </p:spPr>
        <p:txBody>
          <a:bodyPr wrap="square" rtlCol="0">
            <a:spAutoFit/>
          </a:bodyPr>
          <a:lstStyle/>
          <a:p>
            <a:r>
              <a:rPr lang="en-US" altLang="zh-CN" dirty="0"/>
              <a:t>API</a:t>
            </a:r>
            <a:r>
              <a:rPr lang="zh-CN" altLang="en-US" dirty="0"/>
              <a:t>：</a:t>
            </a:r>
          </a:p>
        </p:txBody>
      </p:sp>
    </p:spTree>
    <p:extLst>
      <p:ext uri="{BB962C8B-B14F-4D97-AF65-F5344CB8AC3E}">
        <p14:creationId xmlns:p14="http://schemas.microsoft.com/office/powerpoint/2010/main" val="10907890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D5C22FB5-C6ED-CA2C-989A-9AD04AE96C7C}"/>
              </a:ext>
            </a:extLst>
          </p:cNvPr>
          <p:cNvPicPr>
            <a:picLocks noChangeAspect="1"/>
          </p:cNvPicPr>
          <p:nvPr/>
        </p:nvPicPr>
        <p:blipFill>
          <a:blip r:embed="rId3"/>
          <a:stretch>
            <a:fillRect/>
          </a:stretch>
        </p:blipFill>
        <p:spPr>
          <a:xfrm>
            <a:off x="6096001" y="1568285"/>
            <a:ext cx="6096000" cy="5289715"/>
          </a:xfrm>
          <a:prstGeom prst="rect">
            <a:avLst/>
          </a:prstGeom>
        </p:spPr>
      </p:pic>
      <p:pic>
        <p:nvPicPr>
          <p:cNvPr id="7" name="图片 6">
            <a:extLst>
              <a:ext uri="{FF2B5EF4-FFF2-40B4-BE49-F238E27FC236}">
                <a16:creationId xmlns:a16="http://schemas.microsoft.com/office/drawing/2014/main" id="{1D1C8B86-0324-AB5A-15DA-3784B1B9A2FF}"/>
              </a:ext>
            </a:extLst>
          </p:cNvPr>
          <p:cNvPicPr>
            <a:picLocks noChangeAspect="1"/>
          </p:cNvPicPr>
          <p:nvPr/>
        </p:nvPicPr>
        <p:blipFill>
          <a:blip r:embed="rId4"/>
          <a:stretch>
            <a:fillRect/>
          </a:stretch>
        </p:blipFill>
        <p:spPr>
          <a:xfrm>
            <a:off x="0" y="0"/>
            <a:ext cx="6736866" cy="2830749"/>
          </a:xfrm>
          <a:prstGeom prst="rect">
            <a:avLst/>
          </a:prstGeom>
        </p:spPr>
      </p:pic>
      <p:sp>
        <p:nvSpPr>
          <p:cNvPr id="10" name="文本框 9">
            <a:extLst>
              <a:ext uri="{FF2B5EF4-FFF2-40B4-BE49-F238E27FC236}">
                <a16:creationId xmlns:a16="http://schemas.microsoft.com/office/drawing/2014/main" id="{23D557CB-B030-4916-100F-8DBB2D05F98F}"/>
              </a:ext>
            </a:extLst>
          </p:cNvPr>
          <p:cNvSpPr txBox="1"/>
          <p:nvPr/>
        </p:nvSpPr>
        <p:spPr>
          <a:xfrm>
            <a:off x="1522379" y="2905780"/>
            <a:ext cx="2636196" cy="523220"/>
          </a:xfrm>
          <a:prstGeom prst="rect">
            <a:avLst/>
          </a:prstGeom>
          <a:noFill/>
        </p:spPr>
        <p:txBody>
          <a:bodyPr wrap="square" rtlCol="0">
            <a:spAutoFit/>
          </a:bodyPr>
          <a:lstStyle/>
          <a:p>
            <a:r>
              <a:rPr lang="en-US" altLang="zh-CN" b="1" i="1" dirty="0" err="1"/>
              <a:t>age_group_stats</a:t>
            </a:r>
            <a:r>
              <a:rPr lang="zh-CN" altLang="en-US" b="1" i="1" dirty="0"/>
              <a:t>输出结果</a:t>
            </a:r>
            <a:endParaRPr lang="en-US" altLang="zh-CN" b="1" dirty="0"/>
          </a:p>
          <a:p>
            <a:endParaRPr lang="zh-CN" altLang="en-US" dirty="0"/>
          </a:p>
        </p:txBody>
      </p:sp>
      <p:sp>
        <p:nvSpPr>
          <p:cNvPr id="11" name="文本框 10">
            <a:extLst>
              <a:ext uri="{FF2B5EF4-FFF2-40B4-BE49-F238E27FC236}">
                <a16:creationId xmlns:a16="http://schemas.microsoft.com/office/drawing/2014/main" id="{AE9D7C06-193A-A774-5EC6-DC062F8BA485}"/>
              </a:ext>
            </a:extLst>
          </p:cNvPr>
          <p:cNvSpPr txBox="1"/>
          <p:nvPr/>
        </p:nvSpPr>
        <p:spPr>
          <a:xfrm>
            <a:off x="7709169" y="1288914"/>
            <a:ext cx="3925111" cy="523220"/>
          </a:xfrm>
          <a:prstGeom prst="rect">
            <a:avLst/>
          </a:prstGeom>
          <a:noFill/>
        </p:spPr>
        <p:txBody>
          <a:bodyPr wrap="square" rtlCol="0">
            <a:spAutoFit/>
          </a:bodyPr>
          <a:lstStyle/>
          <a:p>
            <a:r>
              <a:rPr lang="en-US" altLang="zh-CN" b="1" i="1" dirty="0" err="1"/>
              <a:t>correlation_matrix</a:t>
            </a:r>
            <a:r>
              <a:rPr lang="zh-CN" altLang="en-US" b="1" i="1" dirty="0"/>
              <a:t>相关矩阵热力图</a:t>
            </a:r>
            <a:endParaRPr lang="en-US" altLang="zh-CN" b="1" dirty="0"/>
          </a:p>
          <a:p>
            <a:endParaRPr lang="zh-CN" altLang="en-US" dirty="0"/>
          </a:p>
        </p:txBody>
      </p:sp>
    </p:spTree>
    <p:extLst>
      <p:ext uri="{BB962C8B-B14F-4D97-AF65-F5344CB8AC3E}">
        <p14:creationId xmlns:p14="http://schemas.microsoft.com/office/powerpoint/2010/main" val="3075274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9619390-4CD5-3EB0-A5E3-1667B23A62AE}"/>
              </a:ext>
            </a:extLst>
          </p:cNvPr>
          <p:cNvSpPr txBox="1"/>
          <p:nvPr/>
        </p:nvSpPr>
        <p:spPr>
          <a:xfrm>
            <a:off x="218872" y="286966"/>
            <a:ext cx="7767537" cy="307777"/>
          </a:xfrm>
          <a:prstGeom prst="rect">
            <a:avLst/>
          </a:prstGeom>
          <a:noFill/>
        </p:spPr>
        <p:txBody>
          <a:bodyPr wrap="square" rtlCol="0">
            <a:spAutoFit/>
          </a:bodyPr>
          <a:lstStyle/>
          <a:p>
            <a:r>
              <a:rPr lang="zh-CN" altLang="en-US" dirty="0"/>
              <a:t>热力图计算公式：</a:t>
            </a:r>
            <a:r>
              <a:rPr lang="zh-CN" altLang="en-US" b="1" dirty="0"/>
              <a:t>皮尔森相关系数（</a:t>
            </a:r>
            <a:r>
              <a:rPr lang="en-US" altLang="zh-CN" b="1" dirty="0"/>
              <a:t>Pearson r</a:t>
            </a:r>
            <a:r>
              <a:rPr lang="zh-CN" altLang="en-US" b="1" dirty="0"/>
              <a:t>）</a:t>
            </a:r>
            <a:endParaRPr lang="zh-CN" altLang="en-US" dirty="0"/>
          </a:p>
        </p:txBody>
      </p:sp>
      <p:pic>
        <p:nvPicPr>
          <p:cNvPr id="8" name="图片 7">
            <a:extLst>
              <a:ext uri="{FF2B5EF4-FFF2-40B4-BE49-F238E27FC236}">
                <a16:creationId xmlns:a16="http://schemas.microsoft.com/office/drawing/2014/main" id="{97457F4D-F1E5-F1F8-142D-212BA1AA4667}"/>
              </a:ext>
            </a:extLst>
          </p:cNvPr>
          <p:cNvPicPr>
            <a:picLocks noChangeAspect="1"/>
          </p:cNvPicPr>
          <p:nvPr/>
        </p:nvPicPr>
        <p:blipFill>
          <a:blip r:embed="rId2"/>
          <a:stretch>
            <a:fillRect/>
          </a:stretch>
        </p:blipFill>
        <p:spPr>
          <a:xfrm>
            <a:off x="0" y="635591"/>
            <a:ext cx="12192000" cy="3845567"/>
          </a:xfrm>
          <a:prstGeom prst="rect">
            <a:avLst/>
          </a:prstGeom>
        </p:spPr>
      </p:pic>
      <p:pic>
        <p:nvPicPr>
          <p:cNvPr id="10" name="图片 9">
            <a:extLst>
              <a:ext uri="{FF2B5EF4-FFF2-40B4-BE49-F238E27FC236}">
                <a16:creationId xmlns:a16="http://schemas.microsoft.com/office/drawing/2014/main" id="{5736E598-ADEA-A00B-78CE-B37D8E97AD6C}"/>
              </a:ext>
            </a:extLst>
          </p:cNvPr>
          <p:cNvPicPr>
            <a:picLocks noChangeAspect="1"/>
          </p:cNvPicPr>
          <p:nvPr/>
        </p:nvPicPr>
        <p:blipFill>
          <a:blip r:embed="rId3"/>
          <a:stretch>
            <a:fillRect/>
          </a:stretch>
        </p:blipFill>
        <p:spPr>
          <a:xfrm>
            <a:off x="40836" y="4481158"/>
            <a:ext cx="2560624" cy="2009268"/>
          </a:xfrm>
          <a:prstGeom prst="rect">
            <a:avLst/>
          </a:prstGeom>
        </p:spPr>
      </p:pic>
      <p:sp>
        <p:nvSpPr>
          <p:cNvPr id="11" name="文本框 10">
            <a:extLst>
              <a:ext uri="{FF2B5EF4-FFF2-40B4-BE49-F238E27FC236}">
                <a16:creationId xmlns:a16="http://schemas.microsoft.com/office/drawing/2014/main" id="{678B3441-338D-748C-F5B7-9F0F91A1823F}"/>
              </a:ext>
            </a:extLst>
          </p:cNvPr>
          <p:cNvSpPr txBox="1"/>
          <p:nvPr/>
        </p:nvSpPr>
        <p:spPr>
          <a:xfrm>
            <a:off x="3360906" y="4698460"/>
            <a:ext cx="5238345" cy="738664"/>
          </a:xfrm>
          <a:prstGeom prst="rect">
            <a:avLst/>
          </a:prstGeom>
          <a:noFill/>
        </p:spPr>
        <p:txBody>
          <a:bodyPr wrap="square" rtlCol="0">
            <a:spAutoFit/>
          </a:bodyPr>
          <a:lstStyle/>
          <a:p>
            <a:r>
              <a:rPr lang="en-US" altLang="zh-CN" dirty="0"/>
              <a:t>x1=6</a:t>
            </a:r>
            <a:r>
              <a:rPr lang="zh-CN" altLang="en-US" dirty="0"/>
              <a:t>；</a:t>
            </a:r>
            <a:r>
              <a:rPr lang="en-US" altLang="zh-CN" dirty="0"/>
              <a:t>x2=1</a:t>
            </a:r>
            <a:r>
              <a:rPr lang="zh-CN" altLang="en-US" dirty="0"/>
              <a:t>；</a:t>
            </a:r>
            <a:r>
              <a:rPr lang="en-US" altLang="zh-CN" dirty="0"/>
              <a:t>x3=8</a:t>
            </a:r>
          </a:p>
          <a:p>
            <a:endParaRPr lang="en-US" altLang="zh-CN" dirty="0"/>
          </a:p>
          <a:p>
            <a:r>
              <a:rPr lang="en-US" altLang="zh-CN" dirty="0"/>
              <a:t>y1=148</a:t>
            </a:r>
            <a:r>
              <a:rPr lang="zh-CN" altLang="en-US" dirty="0"/>
              <a:t>；</a:t>
            </a:r>
            <a:r>
              <a:rPr lang="en-US" altLang="zh-CN" dirty="0"/>
              <a:t>y2=85</a:t>
            </a:r>
            <a:r>
              <a:rPr lang="zh-CN" altLang="en-US" dirty="0"/>
              <a:t>；</a:t>
            </a:r>
            <a:r>
              <a:rPr lang="en-US" altLang="zh-CN" dirty="0"/>
              <a:t>y3=183</a:t>
            </a:r>
            <a:endParaRPr lang="zh-CN" altLang="en-US" dirty="0"/>
          </a:p>
        </p:txBody>
      </p:sp>
    </p:spTree>
    <p:extLst>
      <p:ext uri="{BB962C8B-B14F-4D97-AF65-F5344CB8AC3E}">
        <p14:creationId xmlns:p14="http://schemas.microsoft.com/office/powerpoint/2010/main" val="42515295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E479-1D40-561E-2FD2-430A3A2EA2D6}"/>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2B9464EA-85A9-3A56-A17A-6EA5F54E14C8}"/>
              </a:ext>
            </a:extLst>
          </p:cNvPr>
          <p:cNvSpPr txBox="1"/>
          <p:nvPr/>
        </p:nvSpPr>
        <p:spPr>
          <a:xfrm>
            <a:off x="58366" y="92414"/>
            <a:ext cx="5588540" cy="307777"/>
          </a:xfrm>
          <a:prstGeom prst="rect">
            <a:avLst/>
          </a:prstGeom>
          <a:noFill/>
        </p:spPr>
        <p:txBody>
          <a:bodyPr wrap="square" rtlCol="0">
            <a:spAutoFit/>
          </a:bodyPr>
          <a:lstStyle/>
          <a:p>
            <a:r>
              <a:rPr lang="zh-CN" altLang="en-US" dirty="0"/>
              <a:t>再来看单个特征值对</a:t>
            </a:r>
            <a:r>
              <a:rPr lang="en-US" altLang="zh-CN" dirty="0" err="1"/>
              <a:t>OutCome</a:t>
            </a:r>
            <a:r>
              <a:rPr lang="zh-CN" altLang="en-US" dirty="0"/>
              <a:t>的影响：</a:t>
            </a:r>
          </a:p>
        </p:txBody>
      </p:sp>
      <p:sp>
        <p:nvSpPr>
          <p:cNvPr id="5" name="文本框 4">
            <a:extLst>
              <a:ext uri="{FF2B5EF4-FFF2-40B4-BE49-F238E27FC236}">
                <a16:creationId xmlns:a16="http://schemas.microsoft.com/office/drawing/2014/main" id="{6C7A9C02-B880-F129-5713-FB27E1C9F898}"/>
              </a:ext>
            </a:extLst>
          </p:cNvPr>
          <p:cNvSpPr txBox="1"/>
          <p:nvPr/>
        </p:nvSpPr>
        <p:spPr>
          <a:xfrm>
            <a:off x="58366" y="332137"/>
            <a:ext cx="11054000" cy="2031325"/>
          </a:xfrm>
          <a:prstGeom prst="rect">
            <a:avLst/>
          </a:prstGeom>
          <a:noFill/>
        </p:spPr>
        <p:txBody>
          <a:bodyPr wrap="square" rtlCol="0">
            <a:spAutoFit/>
          </a:bodyPr>
          <a:lstStyle/>
          <a:p>
            <a:r>
              <a:rPr lang="zh-CN" altLang="en-US" b="1" dirty="0"/>
              <a:t>方法一：基于统计检验的特征选择 </a:t>
            </a:r>
            <a:r>
              <a:rPr lang="en-US" altLang="zh-CN" b="1" dirty="0"/>
              <a:t>(</a:t>
            </a:r>
            <a:r>
              <a:rPr lang="en-US" altLang="zh-CN" b="1" dirty="0" err="1"/>
              <a:t>f_classif</a:t>
            </a:r>
            <a:r>
              <a:rPr lang="en-US" altLang="zh-CN" b="1" dirty="0"/>
              <a:t>)</a:t>
            </a:r>
          </a:p>
          <a:p>
            <a:endParaRPr lang="en-US" altLang="zh-CN" b="1" dirty="0"/>
          </a:p>
          <a:p>
            <a:r>
              <a:rPr lang="en-US" altLang="zh-CN" dirty="0"/>
              <a:t>F=</a:t>
            </a:r>
            <a:r>
              <a:rPr lang="zh-CN" altLang="en-US" dirty="0"/>
              <a:t>组间均方</a:t>
            </a:r>
            <a:r>
              <a:rPr lang="en-US" altLang="zh-CN" dirty="0"/>
              <a:t>/</a:t>
            </a:r>
            <a:r>
              <a:rPr lang="zh-CN" altLang="en-US" dirty="0"/>
              <a:t>组内均方</a:t>
            </a:r>
            <a:r>
              <a:rPr lang="en-US" altLang="zh-CN" dirty="0"/>
              <a:t>(MSB/MSW)</a:t>
            </a:r>
          </a:p>
          <a:p>
            <a:endParaRPr lang="en-US" altLang="zh-CN" dirty="0"/>
          </a:p>
          <a:p>
            <a:r>
              <a:rPr lang="zh-CN" altLang="en-US" dirty="0"/>
              <a:t>如果这个比值很大，说明“类间差异远大于组内噪声”也就是说该特征能较好地区分类别；</a:t>
            </a:r>
            <a:endParaRPr lang="en-US" altLang="zh-CN" dirty="0"/>
          </a:p>
          <a:p>
            <a:endParaRPr lang="en-US" altLang="zh-CN" dirty="0"/>
          </a:p>
          <a:p>
            <a:r>
              <a:rPr lang="zh-CN" altLang="en-US" dirty="0"/>
              <a:t>比值小则说明该特征在组内波动大，不能可靠区分类别</a:t>
            </a:r>
          </a:p>
          <a:p>
            <a:endParaRPr lang="en-US" altLang="zh-CN" b="1" dirty="0"/>
          </a:p>
          <a:p>
            <a:endParaRPr lang="zh-CN" altLang="en-US" dirty="0"/>
          </a:p>
        </p:txBody>
      </p:sp>
      <p:pic>
        <p:nvPicPr>
          <p:cNvPr id="7" name="图片 6">
            <a:extLst>
              <a:ext uri="{FF2B5EF4-FFF2-40B4-BE49-F238E27FC236}">
                <a16:creationId xmlns:a16="http://schemas.microsoft.com/office/drawing/2014/main" id="{F9FC1784-6FBC-9873-3EC5-86F507E829C9}"/>
              </a:ext>
            </a:extLst>
          </p:cNvPr>
          <p:cNvPicPr>
            <a:picLocks noChangeAspect="1"/>
          </p:cNvPicPr>
          <p:nvPr/>
        </p:nvPicPr>
        <p:blipFill>
          <a:blip r:embed="rId2"/>
          <a:stretch>
            <a:fillRect/>
          </a:stretch>
        </p:blipFill>
        <p:spPr>
          <a:xfrm>
            <a:off x="-14458" y="2229201"/>
            <a:ext cx="5414471" cy="1538997"/>
          </a:xfrm>
          <a:prstGeom prst="rect">
            <a:avLst/>
          </a:prstGeom>
        </p:spPr>
      </p:pic>
      <p:sp>
        <p:nvSpPr>
          <p:cNvPr id="9" name="文本框 8">
            <a:extLst>
              <a:ext uri="{FF2B5EF4-FFF2-40B4-BE49-F238E27FC236}">
                <a16:creationId xmlns:a16="http://schemas.microsoft.com/office/drawing/2014/main" id="{5B2CB8B4-5328-2E7B-48EA-F2381B0659BC}"/>
              </a:ext>
            </a:extLst>
          </p:cNvPr>
          <p:cNvSpPr txBox="1"/>
          <p:nvPr/>
        </p:nvSpPr>
        <p:spPr>
          <a:xfrm>
            <a:off x="-14458" y="1921424"/>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C22780B9-67F0-3F86-6828-369414CAEBC0}"/>
              </a:ext>
            </a:extLst>
          </p:cNvPr>
          <p:cNvSpPr txBox="1"/>
          <p:nvPr/>
        </p:nvSpPr>
        <p:spPr>
          <a:xfrm>
            <a:off x="5943651" y="1799592"/>
            <a:ext cx="5072974" cy="1384995"/>
          </a:xfrm>
          <a:prstGeom prst="rect">
            <a:avLst/>
          </a:prstGeom>
          <a:noFill/>
        </p:spPr>
        <p:txBody>
          <a:bodyPr wrap="square" rtlCol="0">
            <a:spAutoFit/>
          </a:bodyPr>
          <a:lstStyle/>
          <a:p>
            <a:r>
              <a:rPr lang="en-US" altLang="zh-CN" b="1" i="1" dirty="0" err="1"/>
              <a:t>f_classif</a:t>
            </a:r>
            <a:r>
              <a:rPr lang="en-US" altLang="zh-CN" b="1" i="1" dirty="0"/>
              <a:t>(ANOVA F-value)</a:t>
            </a:r>
            <a:r>
              <a:rPr lang="zh-CN" altLang="en-US" b="1" i="1" dirty="0"/>
              <a:t>作为评分函数</a:t>
            </a:r>
            <a:endParaRPr lang="en-US" altLang="zh-CN" b="1" i="1" dirty="0"/>
          </a:p>
          <a:p>
            <a:endParaRPr lang="en-US" altLang="zh-CN" b="1" i="1" dirty="0"/>
          </a:p>
          <a:p>
            <a:r>
              <a:rPr lang="en-US" altLang="zh-CN" b="1" i="1" dirty="0"/>
              <a:t>k='all' </a:t>
            </a:r>
            <a:r>
              <a:rPr lang="zh-CN" altLang="en-US" b="1" i="1" dirty="0"/>
              <a:t>表示不删除特征值</a:t>
            </a:r>
            <a:r>
              <a:rPr lang="en-US" altLang="zh-CN" b="1" i="1" dirty="0"/>
              <a:t>,</a:t>
            </a:r>
            <a:r>
              <a:rPr lang="zh-CN" altLang="en-US" b="1" i="1" dirty="0"/>
              <a:t>计算并返回所有特征的得分</a:t>
            </a:r>
            <a:endParaRPr lang="en-US" altLang="zh-CN" b="1" i="1" dirty="0"/>
          </a:p>
          <a:p>
            <a:endParaRPr lang="zh-CN" altLang="en-US" b="1" dirty="0"/>
          </a:p>
          <a:p>
            <a:r>
              <a:rPr lang="en-US" altLang="zh-CN" b="1" i="1" dirty="0"/>
              <a:t>F </a:t>
            </a:r>
            <a:r>
              <a:rPr lang="zh-CN" altLang="en-US" b="1" i="1" dirty="0"/>
              <a:t>值大，说明该特征对区分类别有帮助</a:t>
            </a:r>
            <a:endParaRPr lang="zh-CN" altLang="en-US" b="1" dirty="0"/>
          </a:p>
          <a:p>
            <a:endParaRPr lang="zh-CN" altLang="en-US" dirty="0"/>
          </a:p>
        </p:txBody>
      </p:sp>
      <p:pic>
        <p:nvPicPr>
          <p:cNvPr id="16" name="图片 15">
            <a:extLst>
              <a:ext uri="{FF2B5EF4-FFF2-40B4-BE49-F238E27FC236}">
                <a16:creationId xmlns:a16="http://schemas.microsoft.com/office/drawing/2014/main" id="{B040BA43-C90E-F6EB-C4AF-782AAC5C8205}"/>
              </a:ext>
            </a:extLst>
          </p:cNvPr>
          <p:cNvPicPr>
            <a:picLocks noChangeAspect="1"/>
          </p:cNvPicPr>
          <p:nvPr/>
        </p:nvPicPr>
        <p:blipFill>
          <a:blip r:embed="rId3"/>
          <a:stretch>
            <a:fillRect/>
          </a:stretch>
        </p:blipFill>
        <p:spPr>
          <a:xfrm>
            <a:off x="5722955" y="3261589"/>
            <a:ext cx="6323645" cy="3492027"/>
          </a:xfrm>
          <a:prstGeom prst="rect">
            <a:avLst/>
          </a:prstGeom>
        </p:spPr>
      </p:pic>
      <p:sp>
        <p:nvSpPr>
          <p:cNvPr id="17" name="文本框 16">
            <a:extLst>
              <a:ext uri="{FF2B5EF4-FFF2-40B4-BE49-F238E27FC236}">
                <a16:creationId xmlns:a16="http://schemas.microsoft.com/office/drawing/2014/main" id="{BBDBE8C1-343A-5F62-5840-8B63BD2FF4CA}"/>
              </a:ext>
            </a:extLst>
          </p:cNvPr>
          <p:cNvSpPr txBox="1"/>
          <p:nvPr/>
        </p:nvSpPr>
        <p:spPr>
          <a:xfrm>
            <a:off x="599547" y="378406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sp>
        <p:nvSpPr>
          <p:cNvPr id="19" name="文本框 18">
            <a:extLst>
              <a:ext uri="{FF2B5EF4-FFF2-40B4-BE49-F238E27FC236}">
                <a16:creationId xmlns:a16="http://schemas.microsoft.com/office/drawing/2014/main" id="{DFBEAFD1-E45E-90E8-E4E9-532EA3C63442}"/>
              </a:ext>
            </a:extLst>
          </p:cNvPr>
          <p:cNvSpPr txBox="1"/>
          <p:nvPr/>
        </p:nvSpPr>
        <p:spPr>
          <a:xfrm>
            <a:off x="1" y="4877784"/>
            <a:ext cx="5722954" cy="1600438"/>
          </a:xfrm>
          <a:prstGeom prst="rect">
            <a:avLst/>
          </a:prstGeom>
          <a:noFill/>
        </p:spPr>
        <p:txBody>
          <a:bodyPr wrap="square" rtlCol="0">
            <a:spAutoFit/>
          </a:bodyPr>
          <a:lstStyle/>
          <a:p>
            <a:r>
              <a:rPr lang="zh-CN" altLang="en-US" dirty="0"/>
              <a:t>这个方法看了：</a:t>
            </a:r>
            <a:endParaRPr lang="en-US" altLang="zh-CN" dirty="0"/>
          </a:p>
          <a:p>
            <a:endParaRPr lang="en-US" altLang="zh-CN" dirty="0"/>
          </a:p>
          <a:p>
            <a:r>
              <a:rPr lang="zh-CN" altLang="en-US" dirty="0"/>
              <a:t>不同类别之间的平均值差异有多大</a:t>
            </a:r>
            <a:endParaRPr lang="en-US" altLang="zh-CN" dirty="0"/>
          </a:p>
          <a:p>
            <a:endParaRPr lang="en-US" altLang="zh-CN" dirty="0"/>
          </a:p>
          <a:p>
            <a:r>
              <a:rPr lang="zh-CN" altLang="en-US" dirty="0"/>
              <a:t>同一组里样本值相互之间差异的大小。</a:t>
            </a:r>
            <a:endParaRPr lang="en-US" altLang="zh-CN" dirty="0"/>
          </a:p>
          <a:p>
            <a:endParaRPr lang="en-US" altLang="zh-CN" dirty="0"/>
          </a:p>
          <a:p>
            <a:r>
              <a:rPr lang="zh-CN" altLang="en-US" dirty="0"/>
              <a:t>不同类别之间的平均差异有多大，相对于组内的随机波动来说是否显著</a:t>
            </a:r>
          </a:p>
        </p:txBody>
      </p:sp>
    </p:spTree>
    <p:extLst>
      <p:ext uri="{BB962C8B-B14F-4D97-AF65-F5344CB8AC3E}">
        <p14:creationId xmlns:p14="http://schemas.microsoft.com/office/powerpoint/2010/main" val="3293149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F415711-4A45-51F9-4D89-50D2AC87EC3E}"/>
              </a:ext>
            </a:extLst>
          </p:cNvPr>
          <p:cNvPicPr>
            <a:picLocks noChangeAspect="1"/>
          </p:cNvPicPr>
          <p:nvPr/>
        </p:nvPicPr>
        <p:blipFill>
          <a:blip r:embed="rId2"/>
          <a:stretch>
            <a:fillRect/>
          </a:stretch>
        </p:blipFill>
        <p:spPr>
          <a:xfrm>
            <a:off x="0" y="-34857"/>
            <a:ext cx="9189463" cy="3586579"/>
          </a:xfrm>
          <a:prstGeom prst="rect">
            <a:avLst/>
          </a:prstGeom>
        </p:spPr>
      </p:pic>
      <p:pic>
        <p:nvPicPr>
          <p:cNvPr id="5" name="图片 4">
            <a:extLst>
              <a:ext uri="{FF2B5EF4-FFF2-40B4-BE49-F238E27FC236}">
                <a16:creationId xmlns:a16="http://schemas.microsoft.com/office/drawing/2014/main" id="{B40C63BE-AE87-3707-59BC-AAAA48EEAB33}"/>
              </a:ext>
            </a:extLst>
          </p:cNvPr>
          <p:cNvPicPr>
            <a:picLocks noChangeAspect="1"/>
          </p:cNvPicPr>
          <p:nvPr/>
        </p:nvPicPr>
        <p:blipFill>
          <a:blip r:embed="rId3"/>
          <a:stretch>
            <a:fillRect/>
          </a:stretch>
        </p:blipFill>
        <p:spPr>
          <a:xfrm>
            <a:off x="-48126" y="3551722"/>
            <a:ext cx="7493048" cy="2411129"/>
          </a:xfrm>
          <a:prstGeom prst="rect">
            <a:avLst/>
          </a:prstGeom>
        </p:spPr>
      </p:pic>
      <p:sp>
        <p:nvSpPr>
          <p:cNvPr id="6" name="文本框 5">
            <a:extLst>
              <a:ext uri="{FF2B5EF4-FFF2-40B4-BE49-F238E27FC236}">
                <a16:creationId xmlns:a16="http://schemas.microsoft.com/office/drawing/2014/main" id="{8AC388E6-79A8-0E46-9B5A-FB3709C0EF3B}"/>
              </a:ext>
            </a:extLst>
          </p:cNvPr>
          <p:cNvSpPr txBox="1"/>
          <p:nvPr/>
        </p:nvSpPr>
        <p:spPr>
          <a:xfrm>
            <a:off x="7517332" y="3724978"/>
            <a:ext cx="4674668" cy="1169551"/>
          </a:xfrm>
          <a:prstGeom prst="rect">
            <a:avLst/>
          </a:prstGeom>
          <a:noFill/>
        </p:spPr>
        <p:txBody>
          <a:bodyPr wrap="square" rtlCol="0">
            <a:spAutoFit/>
          </a:bodyPr>
          <a:lstStyle/>
          <a:p>
            <a:r>
              <a:rPr lang="zh-CN" altLang="en-US" dirty="0"/>
              <a:t>这里的“类别组”</a:t>
            </a:r>
            <a:endParaRPr lang="en-US" altLang="zh-CN" dirty="0"/>
          </a:p>
          <a:p>
            <a:r>
              <a:rPr lang="zh-CN" altLang="en-US" dirty="0"/>
              <a:t>指的是按目标类别把样本划成若干组（</a:t>
            </a:r>
            <a:r>
              <a:rPr lang="en-US" altLang="zh-CN" dirty="0"/>
              <a:t>ANOVA </a:t>
            </a:r>
            <a:r>
              <a:rPr lang="zh-CN" altLang="en-US" dirty="0"/>
              <a:t>中的 </a:t>
            </a:r>
            <a:r>
              <a:rPr lang="en-US" altLang="zh-CN" dirty="0"/>
              <a:t>k </a:t>
            </a:r>
            <a:r>
              <a:rPr lang="zh-CN" altLang="en-US" dirty="0"/>
              <a:t>组）</a:t>
            </a:r>
            <a:endParaRPr lang="en-US" altLang="zh-CN" dirty="0"/>
          </a:p>
          <a:p>
            <a:endParaRPr lang="en-US" altLang="zh-CN" dirty="0"/>
          </a:p>
          <a:p>
            <a:r>
              <a:rPr lang="zh-CN" altLang="en-US" dirty="0"/>
              <a:t>目标 </a:t>
            </a:r>
            <a:r>
              <a:rPr lang="en-US" altLang="zh-CN" dirty="0"/>
              <a:t>Outcome</a:t>
            </a:r>
            <a:r>
              <a:rPr lang="zh-CN" altLang="en-US" dirty="0"/>
              <a:t> 有两个取值（</a:t>
            </a:r>
            <a:r>
              <a:rPr lang="en-US" altLang="zh-CN" dirty="0"/>
              <a:t>0/1</a:t>
            </a:r>
            <a:r>
              <a:rPr lang="zh-CN" altLang="en-US" dirty="0"/>
              <a:t>）所以有两组：</a:t>
            </a:r>
            <a:endParaRPr lang="en-US" altLang="zh-CN" dirty="0"/>
          </a:p>
          <a:p>
            <a:r>
              <a:rPr lang="zh-CN" altLang="en-US" dirty="0"/>
              <a:t>非糖尿病组（</a:t>
            </a:r>
            <a:r>
              <a:rPr lang="en-US" altLang="zh-CN" dirty="0"/>
              <a:t>Outcome=0</a:t>
            </a:r>
            <a:r>
              <a:rPr lang="zh-CN" altLang="en-US" dirty="0"/>
              <a:t>）和糖尿病组（</a:t>
            </a:r>
            <a:r>
              <a:rPr lang="en-US" altLang="zh-CN" dirty="0"/>
              <a:t>Outcome=1</a:t>
            </a:r>
            <a:r>
              <a:rPr lang="zh-CN" altLang="en-US" dirty="0"/>
              <a:t>）。</a:t>
            </a:r>
          </a:p>
        </p:txBody>
      </p:sp>
      <p:pic>
        <p:nvPicPr>
          <p:cNvPr id="8" name="图片 7">
            <a:extLst>
              <a:ext uri="{FF2B5EF4-FFF2-40B4-BE49-F238E27FC236}">
                <a16:creationId xmlns:a16="http://schemas.microsoft.com/office/drawing/2014/main" id="{F4BBE6D1-E11E-447E-94CF-026600FB0360}"/>
              </a:ext>
            </a:extLst>
          </p:cNvPr>
          <p:cNvPicPr>
            <a:picLocks noChangeAspect="1"/>
          </p:cNvPicPr>
          <p:nvPr/>
        </p:nvPicPr>
        <p:blipFill>
          <a:blip r:embed="rId4"/>
          <a:stretch>
            <a:fillRect/>
          </a:stretch>
        </p:blipFill>
        <p:spPr>
          <a:xfrm>
            <a:off x="7444922" y="4877503"/>
            <a:ext cx="2659998" cy="1980497"/>
          </a:xfrm>
          <a:prstGeom prst="rect">
            <a:avLst/>
          </a:prstGeom>
        </p:spPr>
      </p:pic>
      <p:sp>
        <p:nvSpPr>
          <p:cNvPr id="9" name="文本框 8">
            <a:extLst>
              <a:ext uri="{FF2B5EF4-FFF2-40B4-BE49-F238E27FC236}">
                <a16:creationId xmlns:a16="http://schemas.microsoft.com/office/drawing/2014/main" id="{C085C1B7-370D-BFEB-A2CE-1F7FE6469184}"/>
              </a:ext>
            </a:extLst>
          </p:cNvPr>
          <p:cNvSpPr txBox="1"/>
          <p:nvPr/>
        </p:nvSpPr>
        <p:spPr>
          <a:xfrm>
            <a:off x="9189463" y="984595"/>
            <a:ext cx="2945331" cy="1384995"/>
          </a:xfrm>
          <a:prstGeom prst="rect">
            <a:avLst/>
          </a:prstGeom>
          <a:noFill/>
        </p:spPr>
        <p:txBody>
          <a:bodyPr wrap="square" rtlCol="0">
            <a:spAutoFit/>
          </a:bodyPr>
          <a:lstStyle/>
          <a:p>
            <a:r>
              <a:rPr lang="zh-CN" altLang="en-US" dirty="0"/>
              <a:t>如果这个比值很大</a:t>
            </a:r>
            <a:endParaRPr lang="en-US" altLang="zh-CN" dirty="0"/>
          </a:p>
          <a:p>
            <a:r>
              <a:rPr lang="zh-CN" altLang="en-US" dirty="0"/>
              <a:t>说明“类间差异远大于组内噪声”</a:t>
            </a:r>
            <a:endParaRPr lang="en-US" altLang="zh-CN" dirty="0"/>
          </a:p>
          <a:p>
            <a:r>
              <a:rPr lang="zh-CN" altLang="en-US" dirty="0"/>
              <a:t>也就是说该特征能较好地区分类别；</a:t>
            </a:r>
            <a:endParaRPr lang="en-US" altLang="zh-CN" dirty="0"/>
          </a:p>
          <a:p>
            <a:endParaRPr lang="en-US" altLang="zh-CN" dirty="0"/>
          </a:p>
          <a:p>
            <a:r>
              <a:rPr lang="zh-CN" altLang="en-US" dirty="0"/>
              <a:t>比值小则说明该特征在组内波动大，不能可靠区分类别</a:t>
            </a:r>
          </a:p>
        </p:txBody>
      </p:sp>
    </p:spTree>
    <p:extLst>
      <p:ext uri="{BB962C8B-B14F-4D97-AF65-F5344CB8AC3E}">
        <p14:creationId xmlns:p14="http://schemas.microsoft.com/office/powerpoint/2010/main" val="32723552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22C77-69CE-AF51-4845-2BFAD188698A}"/>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DB2998BA-EB07-67A5-B266-D491654911C7}"/>
              </a:ext>
            </a:extLst>
          </p:cNvPr>
          <p:cNvSpPr txBox="1"/>
          <p:nvPr/>
        </p:nvSpPr>
        <p:spPr>
          <a:xfrm>
            <a:off x="0" y="30196"/>
            <a:ext cx="10135402" cy="1169551"/>
          </a:xfrm>
          <a:prstGeom prst="rect">
            <a:avLst/>
          </a:prstGeom>
          <a:noFill/>
        </p:spPr>
        <p:txBody>
          <a:bodyPr wrap="square" rtlCol="0">
            <a:spAutoFit/>
          </a:bodyPr>
          <a:lstStyle/>
          <a:p>
            <a:r>
              <a:rPr lang="zh-CN" altLang="en-US" b="1" dirty="0"/>
              <a:t>方法二：</a:t>
            </a:r>
            <a:r>
              <a:rPr lang="zh-CN" altLang="en-US" b="1" i="1" dirty="0"/>
              <a:t>基于互信息的特征选择 </a:t>
            </a:r>
            <a:r>
              <a:rPr lang="en-US" altLang="zh-CN" b="1" i="1" dirty="0" err="1"/>
              <a:t>mutual_info_classif</a:t>
            </a:r>
            <a:endParaRPr lang="zh-CN" altLang="en-US" b="1" dirty="0"/>
          </a:p>
          <a:p>
            <a:endParaRPr lang="en-US" altLang="zh-CN" b="1" dirty="0"/>
          </a:p>
          <a:p>
            <a:r>
              <a:rPr lang="zh-CN" altLang="en-US" dirty="0"/>
              <a:t>    互信息（</a:t>
            </a:r>
            <a:r>
              <a:rPr lang="en-US" altLang="zh-CN" dirty="0"/>
              <a:t>Mutual Information, MI</a:t>
            </a:r>
            <a:r>
              <a:rPr lang="zh-CN" altLang="en-US" dirty="0"/>
              <a:t>）衡量两个随机变量间任意依赖关系（线性或非线性）</a:t>
            </a:r>
            <a:endParaRPr lang="en-US" altLang="zh-CN" dirty="0"/>
          </a:p>
          <a:p>
            <a:endParaRPr lang="en-US" altLang="zh-CN" dirty="0"/>
          </a:p>
          <a:p>
            <a:r>
              <a:rPr lang="en-US" altLang="zh-CN" dirty="0"/>
              <a:t>MI </a:t>
            </a:r>
            <a:r>
              <a:rPr lang="zh-CN" altLang="en-US" dirty="0"/>
              <a:t>表示知道特征 </a:t>
            </a:r>
            <a:r>
              <a:rPr lang="en-US" altLang="zh-CN" dirty="0"/>
              <a:t>X </a:t>
            </a:r>
            <a:r>
              <a:rPr lang="zh-CN" altLang="en-US" dirty="0"/>
              <a:t>后对标签 </a:t>
            </a:r>
            <a:r>
              <a:rPr lang="en-US" altLang="zh-CN" dirty="0"/>
              <a:t>Y </a:t>
            </a:r>
            <a:r>
              <a:rPr lang="zh-CN" altLang="en-US" dirty="0"/>
              <a:t>不确定性减少的程度（信息增益）。值越大，说明该特征包含越多关于类别的信息</a:t>
            </a:r>
          </a:p>
        </p:txBody>
      </p:sp>
      <p:sp>
        <p:nvSpPr>
          <p:cNvPr id="9" name="文本框 8">
            <a:extLst>
              <a:ext uri="{FF2B5EF4-FFF2-40B4-BE49-F238E27FC236}">
                <a16:creationId xmlns:a16="http://schemas.microsoft.com/office/drawing/2014/main" id="{F209D893-A34B-87FA-CA05-ED21999D3851}"/>
              </a:ext>
            </a:extLst>
          </p:cNvPr>
          <p:cNvSpPr txBox="1"/>
          <p:nvPr/>
        </p:nvSpPr>
        <p:spPr>
          <a:xfrm>
            <a:off x="189689" y="1464809"/>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055786AC-5626-E9EA-09DC-684D7E15260C}"/>
              </a:ext>
            </a:extLst>
          </p:cNvPr>
          <p:cNvSpPr txBox="1"/>
          <p:nvPr/>
        </p:nvSpPr>
        <p:spPr>
          <a:xfrm>
            <a:off x="5659655" y="1772586"/>
            <a:ext cx="5813659" cy="1384995"/>
          </a:xfrm>
          <a:prstGeom prst="rect">
            <a:avLst/>
          </a:prstGeom>
          <a:noFill/>
        </p:spPr>
        <p:txBody>
          <a:bodyPr wrap="square" rtlCol="0">
            <a:spAutoFit/>
          </a:bodyPr>
          <a:lstStyle/>
          <a:p>
            <a:r>
              <a:rPr lang="en-US" altLang="zh-CN" b="1" i="1" dirty="0" err="1"/>
              <a:t>mutual_info_classif</a:t>
            </a:r>
            <a:r>
              <a:rPr lang="en-US" altLang="zh-CN" b="1" i="1" dirty="0"/>
              <a:t> </a:t>
            </a:r>
            <a:r>
              <a:rPr lang="zh-CN" altLang="en-US" b="1" i="1" dirty="0"/>
              <a:t>是计算特征与分类目标之间互信息的评分函数</a:t>
            </a:r>
            <a:endParaRPr lang="en-US" altLang="zh-CN" b="1" i="1" dirty="0"/>
          </a:p>
          <a:p>
            <a:endParaRPr lang="zh-CN" altLang="en-US" b="1" dirty="0"/>
          </a:p>
          <a:p>
            <a:r>
              <a:rPr lang="zh-CN" altLang="en-US" b="1" i="1" dirty="0"/>
              <a:t>值越大</a:t>
            </a:r>
            <a:r>
              <a:rPr lang="en-US" altLang="zh-CN" b="1" i="1" dirty="0"/>
              <a:t>,</a:t>
            </a:r>
            <a:r>
              <a:rPr lang="zh-CN" altLang="en-US" b="1" i="1" dirty="0"/>
              <a:t>说明该特征包含越多关于类别的信息</a:t>
            </a:r>
            <a:endParaRPr lang="en-US" altLang="zh-CN" b="1" i="1" dirty="0"/>
          </a:p>
          <a:p>
            <a:endParaRPr lang="zh-CN" altLang="en-US" b="1" dirty="0"/>
          </a:p>
          <a:p>
            <a:r>
              <a:rPr lang="zh-CN" altLang="en-US" b="1" i="1" dirty="0"/>
              <a:t>当 </a:t>
            </a:r>
            <a:r>
              <a:rPr lang="en-US" altLang="zh-CN" b="1" i="1" dirty="0"/>
              <a:t>X </a:t>
            </a:r>
            <a:r>
              <a:rPr lang="zh-CN" altLang="en-US" b="1" i="1" dirty="0"/>
              <a:t>与 </a:t>
            </a:r>
            <a:r>
              <a:rPr lang="en-US" altLang="zh-CN" b="1" i="1" dirty="0"/>
              <a:t>Y </a:t>
            </a:r>
            <a:r>
              <a:rPr lang="zh-CN" altLang="en-US" b="1" i="1" dirty="0"/>
              <a:t>独立时 </a:t>
            </a:r>
            <a:r>
              <a:rPr lang="en-US" altLang="zh-CN" b="1" i="1" dirty="0"/>
              <a:t>I(X;Y)=0</a:t>
            </a:r>
            <a:endParaRPr lang="en-US" altLang="zh-CN" b="1" dirty="0"/>
          </a:p>
          <a:p>
            <a:endParaRPr lang="zh-CN" altLang="en-US" dirty="0"/>
          </a:p>
        </p:txBody>
      </p:sp>
      <p:sp>
        <p:nvSpPr>
          <p:cNvPr id="17" name="文本框 16">
            <a:extLst>
              <a:ext uri="{FF2B5EF4-FFF2-40B4-BE49-F238E27FC236}">
                <a16:creationId xmlns:a16="http://schemas.microsoft.com/office/drawing/2014/main" id="{A1954237-7FA6-02BF-F50D-DB1F2DCBA826}"/>
              </a:ext>
            </a:extLst>
          </p:cNvPr>
          <p:cNvSpPr txBox="1"/>
          <p:nvPr/>
        </p:nvSpPr>
        <p:spPr>
          <a:xfrm>
            <a:off x="322446" y="342900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pic>
        <p:nvPicPr>
          <p:cNvPr id="3" name="图片 2">
            <a:extLst>
              <a:ext uri="{FF2B5EF4-FFF2-40B4-BE49-F238E27FC236}">
                <a16:creationId xmlns:a16="http://schemas.microsoft.com/office/drawing/2014/main" id="{52684CC9-E152-8A54-6C51-A54E8D93F945}"/>
              </a:ext>
            </a:extLst>
          </p:cNvPr>
          <p:cNvPicPr>
            <a:picLocks noChangeAspect="1"/>
          </p:cNvPicPr>
          <p:nvPr/>
        </p:nvPicPr>
        <p:blipFill>
          <a:blip r:embed="rId2"/>
          <a:stretch>
            <a:fillRect/>
          </a:stretch>
        </p:blipFill>
        <p:spPr>
          <a:xfrm>
            <a:off x="116290" y="1815768"/>
            <a:ext cx="5222364" cy="1352270"/>
          </a:xfrm>
          <a:prstGeom prst="rect">
            <a:avLst/>
          </a:prstGeom>
        </p:spPr>
      </p:pic>
      <p:pic>
        <p:nvPicPr>
          <p:cNvPr id="8" name="图片 7">
            <a:extLst>
              <a:ext uri="{FF2B5EF4-FFF2-40B4-BE49-F238E27FC236}">
                <a16:creationId xmlns:a16="http://schemas.microsoft.com/office/drawing/2014/main" id="{672ABEF6-3368-B600-2E6B-4395EB13E364}"/>
              </a:ext>
            </a:extLst>
          </p:cNvPr>
          <p:cNvPicPr>
            <a:picLocks noChangeAspect="1"/>
          </p:cNvPicPr>
          <p:nvPr/>
        </p:nvPicPr>
        <p:blipFill>
          <a:blip r:embed="rId3"/>
          <a:stretch>
            <a:fillRect/>
          </a:stretch>
        </p:blipFill>
        <p:spPr>
          <a:xfrm>
            <a:off x="6326004" y="3276600"/>
            <a:ext cx="5543550" cy="3581400"/>
          </a:xfrm>
          <a:prstGeom prst="rect">
            <a:avLst/>
          </a:prstGeom>
        </p:spPr>
      </p:pic>
    </p:spTree>
    <p:extLst>
      <p:ext uri="{BB962C8B-B14F-4D97-AF65-F5344CB8AC3E}">
        <p14:creationId xmlns:p14="http://schemas.microsoft.com/office/powerpoint/2010/main" val="14720721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4D6D3015-22D0-4E4A-58F5-18302715C780}"/>
              </a:ext>
            </a:extLst>
          </p:cNvPr>
          <p:cNvPicPr>
            <a:picLocks noChangeAspect="1"/>
          </p:cNvPicPr>
          <p:nvPr/>
        </p:nvPicPr>
        <p:blipFill>
          <a:blip r:embed="rId2"/>
          <a:stretch>
            <a:fillRect/>
          </a:stretch>
        </p:blipFill>
        <p:spPr>
          <a:xfrm>
            <a:off x="-1" y="0"/>
            <a:ext cx="12156707" cy="3688321"/>
          </a:xfrm>
          <a:prstGeom prst="rect">
            <a:avLst/>
          </a:prstGeom>
        </p:spPr>
      </p:pic>
      <p:pic>
        <p:nvPicPr>
          <p:cNvPr id="5" name="图片 4">
            <a:extLst>
              <a:ext uri="{FF2B5EF4-FFF2-40B4-BE49-F238E27FC236}">
                <a16:creationId xmlns:a16="http://schemas.microsoft.com/office/drawing/2014/main" id="{7C0F5E78-3E40-42AF-431D-AEE0FE2E100B}"/>
              </a:ext>
            </a:extLst>
          </p:cNvPr>
          <p:cNvPicPr>
            <a:picLocks noChangeAspect="1"/>
          </p:cNvPicPr>
          <p:nvPr/>
        </p:nvPicPr>
        <p:blipFill>
          <a:blip r:embed="rId3"/>
          <a:stretch>
            <a:fillRect/>
          </a:stretch>
        </p:blipFill>
        <p:spPr>
          <a:xfrm>
            <a:off x="0" y="3688321"/>
            <a:ext cx="11544300" cy="2457450"/>
          </a:xfrm>
          <a:prstGeom prst="rect">
            <a:avLst/>
          </a:prstGeom>
        </p:spPr>
      </p:pic>
      <mc:AlternateContent xmlns:mc="http://schemas.openxmlformats.org/markup-compatibility/2006">
        <mc:Choice xmlns:a14="http://schemas.microsoft.com/office/drawing/2010/main" Requires="a14">
          <p:sp>
            <p:nvSpPr>
              <p:cNvPr id="6" name="文本框 5">
                <a:extLst>
                  <a:ext uri="{FF2B5EF4-FFF2-40B4-BE49-F238E27FC236}">
                    <a16:creationId xmlns:a16="http://schemas.microsoft.com/office/drawing/2014/main" id="{DACB4A4F-82A6-8A72-6BFE-722011C3D9F6}"/>
                  </a:ext>
                </a:extLst>
              </p:cNvPr>
              <p:cNvSpPr txBox="1"/>
              <p:nvPr/>
            </p:nvSpPr>
            <p:spPr>
              <a:xfrm>
                <a:off x="326657" y="6347861"/>
                <a:ext cx="10890985" cy="307777"/>
              </a:xfrm>
              <a:prstGeom prst="rect">
                <a:avLst/>
              </a:prstGeom>
              <a:noFill/>
            </p:spPr>
            <p:txBody>
              <a:bodyPr wrap="square" rtlCol="0">
                <a:spAutoFit/>
              </a:bodyPr>
              <a:lstStyle/>
              <a:p>
                <a:r>
                  <a:rPr lang="zh-CN" altLang="en-US" dirty="0"/>
                  <a:t>把 </a:t>
                </a:r>
                <a14:m>
                  <m:oMath xmlns:m="http://schemas.openxmlformats.org/officeDocument/2006/math">
                    <m:r>
                      <a:rPr lang="zh-CN" altLang="en-US" i="1"/>
                      <m:t>𝑋</m:t>
                    </m:r>
                  </m:oMath>
                </a14:m>
                <a:r>
                  <a:rPr lang="zh-CN" altLang="en-US" dirty="0"/>
                  <a:t> 设为特征 </a:t>
                </a:r>
                <a:r>
                  <a:rPr lang="en-US" altLang="zh-CN" dirty="0"/>
                  <a:t>Glucose</a:t>
                </a:r>
                <a:r>
                  <a:rPr lang="zh-CN" altLang="en-US" dirty="0"/>
                  <a:t>，</a:t>
                </a:r>
                <a14:m>
                  <m:oMath xmlns:m="http://schemas.openxmlformats.org/officeDocument/2006/math">
                    <m:r>
                      <a:rPr lang="zh-CN" altLang="en-US" i="1"/>
                      <m:t>𝑌</m:t>
                    </m:r>
                  </m:oMath>
                </a14:m>
                <a:r>
                  <a:rPr lang="en-US" altLang="zh-CN" dirty="0"/>
                  <a:t> </a:t>
                </a:r>
                <a:r>
                  <a:rPr lang="zh-CN" altLang="en-US" dirty="0"/>
                  <a:t>为 </a:t>
                </a:r>
                <a:r>
                  <a:rPr lang="en-US" altLang="zh-CN" dirty="0"/>
                  <a:t>Outcome</a:t>
                </a:r>
                <a:r>
                  <a:rPr lang="zh-CN" altLang="en-US" dirty="0"/>
                  <a:t>，则一个项 </a:t>
                </a:r>
                <a14:m>
                  <m:oMath xmlns:m="http://schemas.openxmlformats.org/officeDocument/2006/math">
                    <m:r>
                      <a:rPr lang="zh-CN" altLang="en-US" i="1"/>
                      <m:t>𝑝</m:t>
                    </m:r>
                    <m:d>
                      <m:dPr>
                        <m:sepChr m:val=","/>
                        <m:ctrlPr>
                          <a:rPr lang="ar-AE" altLang="zh-CN" i="1"/>
                        </m:ctrlPr>
                      </m:dPr>
                      <m:e>
                        <m:r>
                          <a:rPr lang="zh-CN" altLang="ar-AE" i="1"/>
                          <m:t>𝑥</m:t>
                        </m:r>
                      </m:e>
                      <m:e>
                        <m:r>
                          <a:rPr lang="ar-AE" altLang="zh-CN"/>
                          <m:t>=</m:t>
                        </m:r>
                        <m:r>
                          <a:rPr lang="ar-AE" altLang="zh-CN"/>
                          <m:t>120</m:t>
                        </m:r>
                        <m:r>
                          <a:rPr lang="zh-CN" altLang="ar-AE" i="1"/>
                          <m:t>𝑦</m:t>
                        </m:r>
                        <m:r>
                          <a:rPr lang="ar-AE" altLang="zh-CN"/>
                          <m:t>=</m:t>
                        </m:r>
                        <m:r>
                          <a:rPr lang="ar-AE" altLang="zh-CN"/>
                          <m:t>1</m:t>
                        </m:r>
                      </m:e>
                    </m:d>
                  </m:oMath>
                </a14:m>
                <a:r>
                  <a:rPr lang="ar-AE" altLang="zh-CN" dirty="0"/>
                  <a:t> </a:t>
                </a:r>
                <a:r>
                  <a:rPr lang="zh-CN" altLang="en-US" dirty="0"/>
                  <a:t>就是“样本中 </a:t>
                </a:r>
                <a:r>
                  <a:rPr lang="en-US" altLang="zh-CN" dirty="0"/>
                  <a:t>Glucose=120 </a:t>
                </a:r>
                <a:r>
                  <a:rPr lang="zh-CN" altLang="en-US" dirty="0"/>
                  <a:t>且 </a:t>
                </a:r>
                <a:r>
                  <a:rPr lang="en-US" altLang="zh-CN" dirty="0"/>
                  <a:t>Outcome=1 </a:t>
                </a:r>
                <a:r>
                  <a:rPr lang="zh-CN" altLang="en-US" dirty="0"/>
                  <a:t>的比例（或概率）</a:t>
                </a:r>
              </a:p>
            </p:txBody>
          </p:sp>
        </mc:Choice>
        <mc:Fallback>
          <p:sp>
            <p:nvSpPr>
              <p:cNvPr id="6" name="文本框 5">
                <a:extLst>
                  <a:ext uri="{FF2B5EF4-FFF2-40B4-BE49-F238E27FC236}">
                    <a16:creationId xmlns:a16="http://schemas.microsoft.com/office/drawing/2014/main" id="{DACB4A4F-82A6-8A72-6BFE-722011C3D9F6}"/>
                  </a:ext>
                </a:extLst>
              </p:cNvPr>
              <p:cNvSpPr txBox="1">
                <a:spLocks noRot="1" noChangeAspect="1" noMove="1" noResize="1" noEditPoints="1" noAdjustHandles="1" noChangeArrowheads="1" noChangeShapeType="1" noTextEdit="1"/>
              </p:cNvSpPr>
              <p:nvPr/>
            </p:nvSpPr>
            <p:spPr>
              <a:xfrm>
                <a:off x="326657" y="6347861"/>
                <a:ext cx="10890985" cy="307777"/>
              </a:xfrm>
              <a:prstGeom prst="rect">
                <a:avLst/>
              </a:prstGeom>
              <a:blipFill>
                <a:blip r:embed="rId4"/>
                <a:stretch>
                  <a:fillRect l="-168" t="-1961" b="-1960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90983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F42E2-0BDD-9F4A-51F9-BEC42AEB8CF9}"/>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4BF85FA9-30B4-A2A4-0060-BA5E361853AB}"/>
              </a:ext>
            </a:extLst>
          </p:cNvPr>
          <p:cNvSpPr txBox="1"/>
          <p:nvPr/>
        </p:nvSpPr>
        <p:spPr>
          <a:xfrm>
            <a:off x="0" y="30196"/>
            <a:ext cx="11473314" cy="1600438"/>
          </a:xfrm>
          <a:prstGeom prst="rect">
            <a:avLst/>
          </a:prstGeom>
          <a:noFill/>
        </p:spPr>
        <p:txBody>
          <a:bodyPr wrap="square" rtlCol="0">
            <a:spAutoFit/>
          </a:bodyPr>
          <a:lstStyle/>
          <a:p>
            <a:r>
              <a:rPr lang="zh-CN" altLang="en-US" b="1" dirty="0"/>
              <a:t>方法三：递归特征消除 </a:t>
            </a:r>
            <a:r>
              <a:rPr lang="en-US" altLang="zh-CN" b="1" dirty="0"/>
              <a:t>(RFE)</a:t>
            </a:r>
            <a:endParaRPr lang="zh-CN" altLang="en-US" b="1" dirty="0"/>
          </a:p>
          <a:p>
            <a:endParaRPr lang="en-US" altLang="zh-CN" b="1" dirty="0"/>
          </a:p>
          <a:p>
            <a:r>
              <a:rPr lang="zh-CN" altLang="en-US" dirty="0"/>
              <a:t>    使用一个分类器进行分类，</a:t>
            </a:r>
            <a:r>
              <a:rPr lang="en-US" altLang="zh-CN" dirty="0"/>
              <a:t>RFE </a:t>
            </a:r>
            <a:r>
              <a:rPr lang="zh-CN" altLang="en-US" dirty="0"/>
              <a:t>会重复地用该学习器拟合当前特征子集</a:t>
            </a:r>
            <a:endParaRPr lang="en-US" altLang="zh-CN" dirty="0"/>
          </a:p>
          <a:p>
            <a:endParaRPr lang="en-US" altLang="zh-CN" dirty="0"/>
          </a:p>
          <a:p>
            <a:r>
              <a:rPr lang="zh-CN" altLang="en-US" dirty="0"/>
              <a:t>然后根据学习器提供的特征重要性（如 </a:t>
            </a:r>
            <a:r>
              <a:rPr lang="en-US" altLang="zh-CN" dirty="0" err="1"/>
              <a:t>coef</a:t>
            </a:r>
            <a:r>
              <a:rPr lang="en-US" altLang="zh-CN" dirty="0"/>
              <a:t>_ (</a:t>
            </a:r>
            <a:r>
              <a:rPr lang="zh-CN" altLang="en-US" dirty="0"/>
              <a:t>线性分类器</a:t>
            </a:r>
            <a:r>
              <a:rPr lang="en-US" altLang="zh-CN" dirty="0"/>
              <a:t> </a:t>
            </a:r>
            <a:r>
              <a:rPr lang="zh-CN" altLang="en-US" dirty="0"/>
              <a:t>或 </a:t>
            </a:r>
            <a:r>
              <a:rPr lang="en-US" altLang="zh-CN" dirty="0" err="1"/>
              <a:t>feature_importances</a:t>
            </a:r>
            <a:r>
              <a:rPr lang="en-US" altLang="zh-CN" dirty="0"/>
              <a:t>_(</a:t>
            </a:r>
            <a:r>
              <a:rPr lang="zh-CN" altLang="en-US" dirty="0"/>
              <a:t>树形分类器</a:t>
            </a:r>
            <a:r>
              <a:rPr lang="en-US" altLang="zh-CN" dirty="0"/>
              <a:t>)</a:t>
            </a:r>
            <a:r>
              <a:rPr lang="zh-CN" altLang="en-US" dirty="0"/>
              <a:t>）</a:t>
            </a:r>
            <a:endParaRPr lang="en-US" altLang="zh-CN" dirty="0"/>
          </a:p>
          <a:p>
            <a:endParaRPr lang="en-US" altLang="zh-CN" dirty="0"/>
          </a:p>
          <a:p>
            <a:r>
              <a:rPr lang="zh-CN" altLang="en-US" dirty="0"/>
              <a:t>删除最不重要的若干特征（由 </a:t>
            </a:r>
            <a:r>
              <a:rPr lang="en-US" altLang="zh-CN" dirty="0"/>
              <a:t>step </a:t>
            </a:r>
            <a:r>
              <a:rPr lang="zh-CN" altLang="en-US" dirty="0"/>
              <a:t>决定），直到剩下 </a:t>
            </a:r>
            <a:r>
              <a:rPr lang="en-US" altLang="zh-CN" dirty="0" err="1"/>
              <a:t>n_features_to_select</a:t>
            </a:r>
            <a:r>
              <a:rPr lang="en-US" altLang="zh-CN" dirty="0"/>
              <a:t> </a:t>
            </a:r>
            <a:r>
              <a:rPr lang="zh-CN" altLang="en-US" dirty="0"/>
              <a:t>个特征</a:t>
            </a:r>
          </a:p>
        </p:txBody>
      </p:sp>
      <p:sp>
        <p:nvSpPr>
          <p:cNvPr id="9" name="文本框 8">
            <a:extLst>
              <a:ext uri="{FF2B5EF4-FFF2-40B4-BE49-F238E27FC236}">
                <a16:creationId xmlns:a16="http://schemas.microsoft.com/office/drawing/2014/main" id="{6B37460D-04A7-4023-DABD-0600B79A758E}"/>
              </a:ext>
            </a:extLst>
          </p:cNvPr>
          <p:cNvSpPr txBox="1"/>
          <p:nvPr/>
        </p:nvSpPr>
        <p:spPr>
          <a:xfrm>
            <a:off x="45310" y="1698546"/>
            <a:ext cx="819717" cy="307777"/>
          </a:xfrm>
          <a:prstGeom prst="rect">
            <a:avLst/>
          </a:prstGeom>
          <a:noFill/>
        </p:spPr>
        <p:txBody>
          <a:bodyPr wrap="square" rtlCol="0">
            <a:spAutoFit/>
          </a:bodyPr>
          <a:lstStyle/>
          <a:p>
            <a:r>
              <a:rPr lang="en-US" altLang="zh-CN" dirty="0"/>
              <a:t>API</a:t>
            </a:r>
            <a:r>
              <a:rPr lang="zh-CN" altLang="en-US" dirty="0"/>
              <a:t>：</a:t>
            </a:r>
          </a:p>
        </p:txBody>
      </p:sp>
      <p:sp>
        <p:nvSpPr>
          <p:cNvPr id="12" name="文本框 11">
            <a:extLst>
              <a:ext uri="{FF2B5EF4-FFF2-40B4-BE49-F238E27FC236}">
                <a16:creationId xmlns:a16="http://schemas.microsoft.com/office/drawing/2014/main" id="{4DF805E8-6C29-6F42-61FA-7DE5E2F5929F}"/>
              </a:ext>
            </a:extLst>
          </p:cNvPr>
          <p:cNvSpPr txBox="1"/>
          <p:nvPr/>
        </p:nvSpPr>
        <p:spPr>
          <a:xfrm>
            <a:off x="5659655" y="1822204"/>
            <a:ext cx="5813659" cy="1384995"/>
          </a:xfrm>
          <a:prstGeom prst="rect">
            <a:avLst/>
          </a:prstGeom>
          <a:noFill/>
        </p:spPr>
        <p:txBody>
          <a:bodyPr wrap="square" rtlCol="0">
            <a:spAutoFit/>
          </a:bodyPr>
          <a:lstStyle/>
          <a:p>
            <a:r>
              <a:rPr lang="zh-CN" altLang="en-US" b="1" i="1" dirty="0"/>
              <a:t>创建一个随机森林分类器作为基学习器。</a:t>
            </a:r>
            <a:endParaRPr lang="en-US" altLang="zh-CN" b="1" i="1" dirty="0"/>
          </a:p>
          <a:p>
            <a:endParaRPr lang="en-US" altLang="zh-CN" b="1" i="1" dirty="0"/>
          </a:p>
          <a:p>
            <a:r>
              <a:rPr lang="en-US" altLang="zh-CN" b="1" i="1" dirty="0" err="1"/>
              <a:t>n_estimators</a:t>
            </a:r>
            <a:r>
              <a:rPr lang="en-US" altLang="zh-CN" b="1" i="1" dirty="0"/>
              <a:t>=100 </a:t>
            </a:r>
            <a:r>
              <a:rPr lang="zh-CN" altLang="en-US" b="1" i="1" dirty="0"/>
              <a:t>指森林中树的数量 </a:t>
            </a:r>
            <a:r>
              <a:rPr lang="en-US" altLang="zh-CN" b="1" i="1" dirty="0"/>
              <a:t>(</a:t>
            </a:r>
            <a:r>
              <a:rPr lang="zh-CN" altLang="en-US" b="1" i="1" dirty="0"/>
              <a:t>随机森林不是越多越好</a:t>
            </a:r>
            <a:r>
              <a:rPr lang="en-US" altLang="zh-CN" b="1" i="1" dirty="0"/>
              <a:t>,</a:t>
            </a:r>
            <a:r>
              <a:rPr lang="zh-CN" altLang="en-US" b="1" i="1" dirty="0"/>
              <a:t>收益递减）</a:t>
            </a:r>
            <a:endParaRPr lang="en-US" altLang="zh-CN" b="1" i="1" dirty="0"/>
          </a:p>
          <a:p>
            <a:endParaRPr lang="en-US" altLang="zh-CN" b="1" i="1" dirty="0"/>
          </a:p>
          <a:p>
            <a:r>
              <a:rPr lang="en-US" altLang="zh-CN" b="1" i="1" dirty="0" err="1"/>
              <a:t>random_state</a:t>
            </a:r>
            <a:r>
              <a:rPr lang="en-US" altLang="zh-CN" b="1" i="1" dirty="0"/>
              <a:t>=42 </a:t>
            </a:r>
            <a:r>
              <a:rPr lang="zh-CN" altLang="en-US" b="1" i="1" dirty="0"/>
              <a:t>固定随机性以便复现。</a:t>
            </a:r>
            <a:endParaRPr lang="zh-CN" altLang="en-US" b="1" dirty="0"/>
          </a:p>
          <a:p>
            <a:endParaRPr lang="zh-CN" altLang="en-US" dirty="0"/>
          </a:p>
        </p:txBody>
      </p:sp>
      <p:sp>
        <p:nvSpPr>
          <p:cNvPr id="17" name="文本框 16">
            <a:extLst>
              <a:ext uri="{FF2B5EF4-FFF2-40B4-BE49-F238E27FC236}">
                <a16:creationId xmlns:a16="http://schemas.microsoft.com/office/drawing/2014/main" id="{2FDE4818-C5CE-AF20-38B9-C75A3B3BB814}"/>
              </a:ext>
            </a:extLst>
          </p:cNvPr>
          <p:cNvSpPr txBox="1"/>
          <p:nvPr/>
        </p:nvSpPr>
        <p:spPr>
          <a:xfrm>
            <a:off x="322446" y="3429000"/>
            <a:ext cx="4186462" cy="738664"/>
          </a:xfrm>
          <a:prstGeom prst="rect">
            <a:avLst/>
          </a:prstGeom>
          <a:noFill/>
        </p:spPr>
        <p:txBody>
          <a:bodyPr wrap="square" rtlCol="0">
            <a:spAutoFit/>
          </a:bodyPr>
          <a:lstStyle/>
          <a:p>
            <a:r>
              <a:rPr lang="en-US" altLang="zh-CN" dirty="0"/>
              <a:t>X</a:t>
            </a:r>
            <a:r>
              <a:rPr lang="zh-CN" altLang="en-US" dirty="0"/>
              <a:t>：</a:t>
            </a:r>
            <a:r>
              <a:rPr lang="en-US" altLang="zh-CN" dirty="0"/>
              <a:t>CSV</a:t>
            </a:r>
            <a:r>
              <a:rPr lang="zh-CN" altLang="en-US" dirty="0"/>
              <a:t>中除了</a:t>
            </a:r>
            <a:r>
              <a:rPr lang="en-US" altLang="zh-CN" dirty="0" err="1"/>
              <a:t>OutCome</a:t>
            </a:r>
            <a:r>
              <a:rPr lang="zh-CN" altLang="en-US" dirty="0"/>
              <a:t>一列的全部元素</a:t>
            </a:r>
            <a:endParaRPr lang="en-US" altLang="zh-CN" dirty="0"/>
          </a:p>
          <a:p>
            <a:endParaRPr lang="en-US" altLang="zh-CN" dirty="0"/>
          </a:p>
          <a:p>
            <a:r>
              <a:rPr lang="en-US" altLang="zh-CN" dirty="0"/>
              <a:t>y</a:t>
            </a:r>
            <a:r>
              <a:rPr lang="zh-CN" altLang="en-US" dirty="0"/>
              <a:t>：</a:t>
            </a:r>
            <a:r>
              <a:rPr lang="en-US" altLang="zh-CN" dirty="0"/>
              <a:t>CSV</a:t>
            </a:r>
            <a:r>
              <a:rPr lang="zh-CN" altLang="en-US" dirty="0"/>
              <a:t>中</a:t>
            </a:r>
            <a:r>
              <a:rPr lang="en-US" altLang="zh-CN" dirty="0" err="1"/>
              <a:t>OutCome</a:t>
            </a:r>
            <a:r>
              <a:rPr lang="zh-CN" altLang="en-US" dirty="0"/>
              <a:t>一列的全部元素</a:t>
            </a:r>
            <a:r>
              <a:rPr lang="en-US" altLang="zh-CN" dirty="0"/>
              <a:t> </a:t>
            </a:r>
            <a:endParaRPr lang="zh-CN" altLang="en-US" dirty="0"/>
          </a:p>
        </p:txBody>
      </p:sp>
      <p:pic>
        <p:nvPicPr>
          <p:cNvPr id="4" name="图片 3">
            <a:extLst>
              <a:ext uri="{FF2B5EF4-FFF2-40B4-BE49-F238E27FC236}">
                <a16:creationId xmlns:a16="http://schemas.microsoft.com/office/drawing/2014/main" id="{34A6A7A6-EF7F-1730-BD9C-91ABEB7B98B5}"/>
              </a:ext>
            </a:extLst>
          </p:cNvPr>
          <p:cNvPicPr>
            <a:picLocks noChangeAspect="1"/>
          </p:cNvPicPr>
          <p:nvPr/>
        </p:nvPicPr>
        <p:blipFill>
          <a:blip r:embed="rId2"/>
          <a:stretch>
            <a:fillRect/>
          </a:stretch>
        </p:blipFill>
        <p:spPr>
          <a:xfrm>
            <a:off x="199050" y="2074235"/>
            <a:ext cx="5216308" cy="1130200"/>
          </a:xfrm>
          <a:prstGeom prst="rect">
            <a:avLst/>
          </a:prstGeom>
        </p:spPr>
      </p:pic>
      <p:pic>
        <p:nvPicPr>
          <p:cNvPr id="7" name="图片 6">
            <a:extLst>
              <a:ext uri="{FF2B5EF4-FFF2-40B4-BE49-F238E27FC236}">
                <a16:creationId xmlns:a16="http://schemas.microsoft.com/office/drawing/2014/main" id="{43CFD8FC-3371-AD49-C6BF-8A2F9A074949}"/>
              </a:ext>
            </a:extLst>
          </p:cNvPr>
          <p:cNvPicPr>
            <a:picLocks noChangeAspect="1"/>
          </p:cNvPicPr>
          <p:nvPr/>
        </p:nvPicPr>
        <p:blipFill>
          <a:blip r:embed="rId3"/>
          <a:stretch>
            <a:fillRect/>
          </a:stretch>
        </p:blipFill>
        <p:spPr>
          <a:xfrm>
            <a:off x="5736657" y="3039326"/>
            <a:ext cx="4972050" cy="3686175"/>
          </a:xfrm>
          <a:prstGeom prst="rect">
            <a:avLst/>
          </a:prstGeom>
        </p:spPr>
      </p:pic>
    </p:spTree>
    <p:extLst>
      <p:ext uri="{BB962C8B-B14F-4D97-AF65-F5344CB8AC3E}">
        <p14:creationId xmlns:p14="http://schemas.microsoft.com/office/powerpoint/2010/main" val="3518812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FC3B-9055-DDE8-8EEA-AB8248532F4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E6C27D6-FA20-CC65-F2DA-2382F811C65F}"/>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特征选取</a:t>
            </a:r>
            <a:endParaRPr lang="en-US" sz="1100" dirty="0"/>
          </a:p>
        </p:txBody>
      </p:sp>
      <p:sp>
        <p:nvSpPr>
          <p:cNvPr id="3" name="AutoShape 3">
            <a:extLst>
              <a:ext uri="{FF2B5EF4-FFF2-40B4-BE49-F238E27FC236}">
                <a16:creationId xmlns:a16="http://schemas.microsoft.com/office/drawing/2014/main" id="{648E6C99-311F-3FB7-F331-68F64F250D44}"/>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6ADAC14C-78B2-B157-8A92-F8591794E007}"/>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4" name="文本框 3">
            <a:extLst>
              <a:ext uri="{FF2B5EF4-FFF2-40B4-BE49-F238E27FC236}">
                <a16:creationId xmlns:a16="http://schemas.microsoft.com/office/drawing/2014/main" id="{3B4EB450-87D7-AF7B-C393-ED22C86DBF79}"/>
              </a:ext>
            </a:extLst>
          </p:cNvPr>
          <p:cNvSpPr txBox="1"/>
          <p:nvPr/>
        </p:nvSpPr>
        <p:spPr>
          <a:xfrm>
            <a:off x="762000" y="1395919"/>
            <a:ext cx="10609634" cy="1600438"/>
          </a:xfrm>
          <a:prstGeom prst="rect">
            <a:avLst/>
          </a:prstGeom>
          <a:noFill/>
        </p:spPr>
        <p:txBody>
          <a:bodyPr wrap="square" rtlCol="0">
            <a:spAutoFit/>
          </a:bodyPr>
          <a:lstStyle/>
          <a:p>
            <a:r>
              <a:rPr lang="zh-CN" altLang="en-US" dirty="0"/>
              <a:t>    </a:t>
            </a:r>
            <a:r>
              <a:rPr lang="zh-CN" altLang="en-US" b="1" dirty="0"/>
              <a:t>使用了</a:t>
            </a:r>
            <a:r>
              <a:rPr lang="en-US" altLang="zh-CN" b="1" dirty="0" err="1"/>
              <a:t>Sklearn</a:t>
            </a:r>
            <a:r>
              <a:rPr lang="zh-CN" altLang="en-US" b="1" dirty="0"/>
              <a:t>的三种特征选择，最后这里我使用了结合三种特征选择的得分来进行选择。</a:t>
            </a:r>
            <a:endParaRPr lang="en-US" altLang="zh-CN" b="1" dirty="0"/>
          </a:p>
          <a:p>
            <a:endParaRPr lang="en-US" altLang="zh-CN" b="1" dirty="0"/>
          </a:p>
          <a:p>
            <a:r>
              <a:rPr lang="zh-CN" altLang="en-US" b="1" dirty="0"/>
              <a:t>首先：对三种特征选择的分数进行归一化</a:t>
            </a:r>
            <a:r>
              <a:rPr lang="en-US" altLang="zh-CN" b="1" dirty="0"/>
              <a:t>(</a:t>
            </a:r>
            <a:r>
              <a:rPr lang="zh-CN" altLang="en-US" b="1" dirty="0"/>
              <a:t>统一量程</a:t>
            </a:r>
            <a:r>
              <a:rPr lang="en-US" altLang="zh-CN" b="1" dirty="0"/>
              <a:t>)</a:t>
            </a:r>
          </a:p>
          <a:p>
            <a:endParaRPr lang="en-US" altLang="zh-CN" b="1" dirty="0"/>
          </a:p>
          <a:p>
            <a:r>
              <a:rPr lang="zh-CN" altLang="en-US" b="1" dirty="0"/>
              <a:t>之后：将三种成绩按照</a:t>
            </a:r>
            <a:r>
              <a:rPr lang="en-US" altLang="zh-CN" b="1" dirty="0"/>
              <a:t>3</a:t>
            </a:r>
            <a:r>
              <a:rPr lang="zh-CN" altLang="en-US" b="1" dirty="0"/>
              <a:t>：</a:t>
            </a:r>
            <a:r>
              <a:rPr lang="en-US" altLang="zh-CN" b="1" dirty="0"/>
              <a:t>3</a:t>
            </a:r>
            <a:r>
              <a:rPr lang="zh-CN" altLang="en-US" b="1" dirty="0"/>
              <a:t>：</a:t>
            </a:r>
            <a:r>
              <a:rPr lang="en-US" altLang="zh-CN" b="1" dirty="0"/>
              <a:t>4</a:t>
            </a:r>
            <a:r>
              <a:rPr lang="zh-CN" altLang="en-US" b="1" dirty="0"/>
              <a:t>的权值求和排名</a:t>
            </a:r>
            <a:endParaRPr lang="en-US" altLang="zh-CN" b="1" dirty="0"/>
          </a:p>
          <a:p>
            <a:endParaRPr lang="en-US" altLang="zh-CN" b="1" dirty="0"/>
          </a:p>
          <a:p>
            <a:r>
              <a:rPr lang="zh-CN" altLang="en-US" b="1" dirty="0"/>
              <a:t>这里选择前</a:t>
            </a:r>
            <a:r>
              <a:rPr lang="en-US" altLang="zh-CN" b="1" dirty="0"/>
              <a:t>6</a:t>
            </a:r>
            <a:r>
              <a:rPr lang="zh-CN" altLang="en-US" b="1" dirty="0"/>
              <a:t>个特征作为后面预测模型的输入</a:t>
            </a:r>
          </a:p>
        </p:txBody>
      </p:sp>
      <p:sp>
        <p:nvSpPr>
          <p:cNvPr id="8" name="AutoShape 19">
            <a:extLst>
              <a:ext uri="{FF2B5EF4-FFF2-40B4-BE49-F238E27FC236}">
                <a16:creationId xmlns:a16="http://schemas.microsoft.com/office/drawing/2014/main" id="{0EFFE259-E682-A28A-3526-92B027304370}"/>
              </a:ext>
            </a:extLst>
          </p:cNvPr>
          <p:cNvSpPr/>
          <p:nvPr/>
        </p:nvSpPr>
        <p:spPr>
          <a:xfrm>
            <a:off x="795689" y="6169259"/>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pic>
        <p:nvPicPr>
          <p:cNvPr id="7" name="图片 6">
            <a:extLst>
              <a:ext uri="{FF2B5EF4-FFF2-40B4-BE49-F238E27FC236}">
                <a16:creationId xmlns:a16="http://schemas.microsoft.com/office/drawing/2014/main" id="{24D4F563-0053-94AD-00CD-FA19EA04DD35}"/>
              </a:ext>
            </a:extLst>
          </p:cNvPr>
          <p:cNvPicPr>
            <a:picLocks noChangeAspect="1"/>
          </p:cNvPicPr>
          <p:nvPr/>
        </p:nvPicPr>
        <p:blipFill>
          <a:blip r:embed="rId3"/>
          <a:stretch>
            <a:fillRect/>
          </a:stretch>
        </p:blipFill>
        <p:spPr>
          <a:xfrm>
            <a:off x="5242128" y="2176443"/>
            <a:ext cx="6400800" cy="3743325"/>
          </a:xfrm>
          <a:prstGeom prst="rect">
            <a:avLst/>
          </a:prstGeom>
        </p:spPr>
      </p:pic>
      <p:sp>
        <p:nvSpPr>
          <p:cNvPr id="9" name="文本框 8">
            <a:extLst>
              <a:ext uri="{FF2B5EF4-FFF2-40B4-BE49-F238E27FC236}">
                <a16:creationId xmlns:a16="http://schemas.microsoft.com/office/drawing/2014/main" id="{87C5AA35-20A5-FFE7-B25A-C1ADA2C62B84}"/>
              </a:ext>
            </a:extLst>
          </p:cNvPr>
          <p:cNvSpPr txBox="1"/>
          <p:nvPr/>
        </p:nvSpPr>
        <p:spPr>
          <a:xfrm>
            <a:off x="795689" y="3894216"/>
            <a:ext cx="3732997" cy="738664"/>
          </a:xfrm>
          <a:prstGeom prst="rect">
            <a:avLst/>
          </a:prstGeom>
          <a:noFill/>
        </p:spPr>
        <p:txBody>
          <a:bodyPr wrap="square" rtlCol="0">
            <a:spAutoFit/>
          </a:bodyPr>
          <a:lstStyle/>
          <a:p>
            <a:r>
              <a:rPr lang="zh-CN" altLang="en-US" dirty="0"/>
              <a:t>这个权值分配后期可以调整为不同的值</a:t>
            </a:r>
            <a:endParaRPr lang="en-US" altLang="zh-CN" dirty="0"/>
          </a:p>
          <a:p>
            <a:endParaRPr lang="en-US" altLang="zh-CN" dirty="0"/>
          </a:p>
          <a:p>
            <a:r>
              <a:rPr lang="zh-CN" altLang="en-US" dirty="0"/>
              <a:t>同理，最终选择的特征数量也可以调整</a:t>
            </a:r>
          </a:p>
        </p:txBody>
      </p:sp>
    </p:spTree>
    <p:extLst>
      <p:ext uri="{BB962C8B-B14F-4D97-AF65-F5344CB8AC3E}">
        <p14:creationId xmlns:p14="http://schemas.microsoft.com/office/powerpoint/2010/main" val="568252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94185-ACDC-8B91-4F2B-01C1E54BFA39}"/>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A4E20071-4280-F77A-4622-0AB0BCD72C53}"/>
              </a:ext>
            </a:extLst>
          </p:cNvPr>
          <p:cNvSpPr/>
          <p:nvPr/>
        </p:nvSpPr>
        <p:spPr>
          <a:xfrm>
            <a:off x="762000" y="508000"/>
            <a:ext cx="4165060" cy="508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zh-CN" altLang="en-US" sz="3200" b="1" dirty="0">
                <a:solidFill>
                  <a:srgbClr val="0052FF"/>
                </a:solidFill>
                <a:ea typeface="Noto Sans SC" panose="020B0200000000000000" charset="-122"/>
                <a:sym typeface="Noto Sans SC" panose="020B0200000000000000" charset="-122"/>
              </a:rPr>
              <a:t>分类器分类预测</a:t>
            </a:r>
            <a:endParaRPr lang="en-US" sz="1100" dirty="0"/>
          </a:p>
        </p:txBody>
      </p:sp>
      <p:sp>
        <p:nvSpPr>
          <p:cNvPr id="3" name="AutoShape 3">
            <a:extLst>
              <a:ext uri="{FF2B5EF4-FFF2-40B4-BE49-F238E27FC236}">
                <a16:creationId xmlns:a16="http://schemas.microsoft.com/office/drawing/2014/main" id="{20A52071-5E90-CFB1-A7CB-74CA1C6D519E}"/>
              </a:ext>
            </a:extLst>
          </p:cNvPr>
          <p:cNvSpPr/>
          <p:nvPr/>
        </p:nvSpPr>
        <p:spPr>
          <a:xfrm>
            <a:off x="762000" y="1079500"/>
            <a:ext cx="508000" cy="50800"/>
          </a:xfrm>
          <a:prstGeom prst="roundRect">
            <a:avLst>
              <a:gd name="adj" fmla="val 0"/>
            </a:avLst>
          </a:prstGeom>
          <a:solidFill>
            <a:srgbClr val="0052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a:extLst>
              <a:ext uri="{FF2B5EF4-FFF2-40B4-BE49-F238E27FC236}">
                <a16:creationId xmlns:a16="http://schemas.microsoft.com/office/drawing/2014/main" id="{8818D3AB-5A95-C784-F159-3DAFB878E474}"/>
              </a:ext>
            </a:extLst>
          </p:cNvPr>
          <p:cNvSpPr/>
          <p:nvPr/>
        </p:nvSpPr>
        <p:spPr>
          <a:xfrm>
            <a:off x="6949873" y="1890693"/>
            <a:ext cx="4064000" cy="5715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endParaRPr lang="en-US" sz="1100" dirty="0"/>
          </a:p>
        </p:txBody>
      </p:sp>
      <p:sp>
        <p:nvSpPr>
          <p:cNvPr id="8" name="AutoShape 19">
            <a:extLst>
              <a:ext uri="{FF2B5EF4-FFF2-40B4-BE49-F238E27FC236}">
                <a16:creationId xmlns:a16="http://schemas.microsoft.com/office/drawing/2014/main" id="{54A08174-58E5-55C3-5728-A333514AD37E}"/>
              </a:ext>
            </a:extLst>
          </p:cNvPr>
          <p:cNvSpPr/>
          <p:nvPr/>
        </p:nvSpPr>
        <p:spPr>
          <a:xfrm>
            <a:off x="795689" y="6169259"/>
            <a:ext cx="10668000" cy="12700"/>
          </a:xfrm>
          <a:prstGeom prst="roundRect">
            <a:avLst>
              <a:gd name="adj" fmla="val 0"/>
            </a:avLst>
          </a:prstGeom>
          <a:solidFill>
            <a:srgbClr val="0052FF">
              <a:alpha val="2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文本框 5">
            <a:extLst>
              <a:ext uri="{FF2B5EF4-FFF2-40B4-BE49-F238E27FC236}">
                <a16:creationId xmlns:a16="http://schemas.microsoft.com/office/drawing/2014/main" id="{CF0215E3-6EBE-E53D-714A-408059CF2E59}"/>
              </a:ext>
            </a:extLst>
          </p:cNvPr>
          <p:cNvSpPr txBox="1"/>
          <p:nvPr/>
        </p:nvSpPr>
        <p:spPr>
          <a:xfrm>
            <a:off x="762000" y="1318661"/>
            <a:ext cx="10128985" cy="738664"/>
          </a:xfrm>
          <a:prstGeom prst="rect">
            <a:avLst/>
          </a:prstGeom>
          <a:noFill/>
        </p:spPr>
        <p:txBody>
          <a:bodyPr wrap="square" rtlCol="0">
            <a:spAutoFit/>
          </a:bodyPr>
          <a:lstStyle/>
          <a:p>
            <a:r>
              <a:rPr lang="zh-CN" altLang="en-US" dirty="0"/>
              <a:t>    经过上一步，我们已经知道了什么数据对结果比较重要。下一步我们要将数据按照</a:t>
            </a:r>
            <a:r>
              <a:rPr lang="en-US" altLang="zh-CN" dirty="0"/>
              <a:t>8</a:t>
            </a:r>
            <a:r>
              <a:rPr lang="zh-CN" altLang="en-US" dirty="0"/>
              <a:t>：</a:t>
            </a:r>
            <a:r>
              <a:rPr lang="en-US" altLang="zh-CN" dirty="0"/>
              <a:t>2</a:t>
            </a:r>
            <a:r>
              <a:rPr lang="zh-CN" altLang="en-US" dirty="0"/>
              <a:t>的量分成两部分，多的那一份需要将</a:t>
            </a:r>
            <a:endParaRPr lang="en-US" altLang="zh-CN" dirty="0"/>
          </a:p>
          <a:p>
            <a:endParaRPr lang="en-US" altLang="zh-CN" dirty="0"/>
          </a:p>
          <a:p>
            <a:r>
              <a:rPr lang="zh-CN" altLang="en-US" dirty="0"/>
              <a:t>特征值传入到</a:t>
            </a:r>
            <a:r>
              <a:rPr lang="en-US" altLang="zh-CN" dirty="0" err="1"/>
              <a:t>Sklearn</a:t>
            </a:r>
            <a:r>
              <a:rPr lang="zh-CN" altLang="en-US" dirty="0"/>
              <a:t>模型中进行拟合，少的那部分用来测试拟合结果</a:t>
            </a:r>
          </a:p>
        </p:txBody>
      </p:sp>
      <p:sp>
        <p:nvSpPr>
          <p:cNvPr id="10" name="文本框 9">
            <a:extLst>
              <a:ext uri="{FF2B5EF4-FFF2-40B4-BE49-F238E27FC236}">
                <a16:creationId xmlns:a16="http://schemas.microsoft.com/office/drawing/2014/main" id="{D2A3BF77-B873-434E-C804-C8B1C0265AFB}"/>
              </a:ext>
            </a:extLst>
          </p:cNvPr>
          <p:cNvSpPr txBox="1"/>
          <p:nvPr/>
        </p:nvSpPr>
        <p:spPr>
          <a:xfrm>
            <a:off x="38501" y="2200583"/>
            <a:ext cx="10087276" cy="1600438"/>
          </a:xfrm>
          <a:prstGeom prst="rect">
            <a:avLst/>
          </a:prstGeom>
          <a:noFill/>
        </p:spPr>
        <p:txBody>
          <a:bodyPr wrap="square" rtlCol="0">
            <a:spAutoFit/>
          </a:bodyPr>
          <a:lstStyle/>
          <a:p>
            <a:r>
              <a:rPr lang="zh-CN" altLang="en-US" b="1" dirty="0"/>
              <a:t>方法一：</a:t>
            </a:r>
            <a:r>
              <a:rPr lang="en-US" altLang="zh-CN" b="1" dirty="0" err="1"/>
              <a:t>XGBoost</a:t>
            </a:r>
            <a:r>
              <a:rPr lang="zh-CN" altLang="en-US" b="1" dirty="0"/>
              <a:t>基准模型</a:t>
            </a:r>
            <a:endParaRPr lang="en-US" altLang="zh-CN" b="1" dirty="0"/>
          </a:p>
          <a:p>
            <a:endParaRPr lang="en-US" altLang="zh-CN" b="1" dirty="0"/>
          </a:p>
          <a:p>
            <a:r>
              <a:rPr lang="en-US" altLang="zh-CN" b="1" dirty="0"/>
              <a:t>    </a:t>
            </a:r>
            <a:r>
              <a:rPr lang="en-US" altLang="zh-CN" dirty="0" err="1"/>
              <a:t>GBoost</a:t>
            </a:r>
            <a:r>
              <a:rPr lang="en-US" altLang="zh-CN" dirty="0"/>
              <a:t>(</a:t>
            </a:r>
            <a:r>
              <a:rPr lang="en-US" altLang="zh-CN" dirty="0" err="1"/>
              <a:t>eXtreme</a:t>
            </a:r>
            <a:r>
              <a:rPr lang="en-US" altLang="zh-CN" dirty="0"/>
              <a:t> Gradient Boosting)</a:t>
            </a:r>
            <a:r>
              <a:rPr lang="zh-CN" altLang="en-US" dirty="0"/>
              <a:t>是基于梯度提升树</a:t>
            </a:r>
            <a:r>
              <a:rPr lang="en-US" altLang="zh-CN" dirty="0"/>
              <a:t>(GBDT)</a:t>
            </a:r>
            <a:r>
              <a:rPr lang="zh-CN" altLang="en-US" dirty="0"/>
              <a:t>的高效实现</a:t>
            </a:r>
            <a:endParaRPr lang="en-US" altLang="zh-CN" dirty="0"/>
          </a:p>
          <a:p>
            <a:endParaRPr lang="en-US" altLang="zh-CN" dirty="0"/>
          </a:p>
          <a:p>
            <a:r>
              <a:rPr lang="zh-CN" altLang="en-US" dirty="0"/>
              <a:t>支持列采样、正则化和并行计算，常用于二分类、多分类与回归任务</a:t>
            </a:r>
          </a:p>
          <a:p>
            <a:endParaRPr lang="zh-CN" altLang="en-US" b="1" dirty="0"/>
          </a:p>
          <a:p>
            <a:endParaRPr lang="zh-CN" altLang="en-US" dirty="0"/>
          </a:p>
        </p:txBody>
      </p:sp>
      <p:sp>
        <p:nvSpPr>
          <p:cNvPr id="12" name="文本框 11">
            <a:extLst>
              <a:ext uri="{FF2B5EF4-FFF2-40B4-BE49-F238E27FC236}">
                <a16:creationId xmlns:a16="http://schemas.microsoft.com/office/drawing/2014/main" id="{6720501A-BFB7-5883-87D1-659BBE8E7BCA}"/>
              </a:ext>
            </a:extLst>
          </p:cNvPr>
          <p:cNvSpPr txBox="1"/>
          <p:nvPr/>
        </p:nvSpPr>
        <p:spPr>
          <a:xfrm>
            <a:off x="-37966" y="3548800"/>
            <a:ext cx="2107932" cy="307777"/>
          </a:xfrm>
          <a:prstGeom prst="rect">
            <a:avLst/>
          </a:prstGeom>
          <a:noFill/>
        </p:spPr>
        <p:txBody>
          <a:bodyPr wrap="square" rtlCol="0">
            <a:spAutoFit/>
          </a:bodyPr>
          <a:lstStyle/>
          <a:p>
            <a:r>
              <a:rPr lang="en-US" altLang="zh-CN" dirty="0"/>
              <a:t>API</a:t>
            </a:r>
            <a:r>
              <a:rPr lang="zh-CN" altLang="en-US" dirty="0"/>
              <a:t>：</a:t>
            </a:r>
          </a:p>
        </p:txBody>
      </p:sp>
      <p:pic>
        <p:nvPicPr>
          <p:cNvPr id="14" name="图片 13">
            <a:extLst>
              <a:ext uri="{FF2B5EF4-FFF2-40B4-BE49-F238E27FC236}">
                <a16:creationId xmlns:a16="http://schemas.microsoft.com/office/drawing/2014/main" id="{0B7139B5-4C92-03FA-6772-5E6B6BF544D9}"/>
              </a:ext>
            </a:extLst>
          </p:cNvPr>
          <p:cNvPicPr>
            <a:picLocks noChangeAspect="1"/>
          </p:cNvPicPr>
          <p:nvPr/>
        </p:nvPicPr>
        <p:blipFill>
          <a:blip r:embed="rId3"/>
          <a:stretch>
            <a:fillRect/>
          </a:stretch>
        </p:blipFill>
        <p:spPr>
          <a:xfrm>
            <a:off x="-37966" y="3882881"/>
            <a:ext cx="6911372" cy="1451207"/>
          </a:xfrm>
          <a:prstGeom prst="rect">
            <a:avLst/>
          </a:prstGeom>
        </p:spPr>
      </p:pic>
      <p:sp>
        <p:nvSpPr>
          <p:cNvPr id="15" name="文本框 14">
            <a:extLst>
              <a:ext uri="{FF2B5EF4-FFF2-40B4-BE49-F238E27FC236}">
                <a16:creationId xmlns:a16="http://schemas.microsoft.com/office/drawing/2014/main" id="{BD7CBE05-43E5-7BAD-2E43-DC123AB83012}"/>
              </a:ext>
            </a:extLst>
          </p:cNvPr>
          <p:cNvSpPr txBox="1"/>
          <p:nvPr/>
        </p:nvSpPr>
        <p:spPr>
          <a:xfrm>
            <a:off x="7040880" y="2500293"/>
            <a:ext cx="5151119" cy="3970318"/>
          </a:xfrm>
          <a:prstGeom prst="rect">
            <a:avLst/>
          </a:prstGeom>
          <a:noFill/>
        </p:spPr>
        <p:txBody>
          <a:bodyPr wrap="square" rtlCol="0">
            <a:spAutoFit/>
          </a:bodyPr>
          <a:lstStyle/>
          <a:p>
            <a:r>
              <a:rPr lang="en-US" altLang="zh-CN" b="1" dirty="0" err="1"/>
              <a:t>use_label_encoder</a:t>
            </a:r>
            <a:r>
              <a:rPr lang="en-US" altLang="zh-CN" b="1" dirty="0"/>
              <a:t>=False</a:t>
            </a:r>
            <a:r>
              <a:rPr lang="zh-CN" altLang="en-US" b="1" dirty="0"/>
              <a:t>：禁止 </a:t>
            </a:r>
            <a:r>
              <a:rPr lang="en-US" altLang="zh-CN" b="1" dirty="0" err="1"/>
              <a:t>XGBoost</a:t>
            </a:r>
            <a:r>
              <a:rPr lang="en-US" altLang="zh-CN" b="1" dirty="0"/>
              <a:t> </a:t>
            </a:r>
            <a:r>
              <a:rPr lang="zh-CN" altLang="en-US" b="1" dirty="0"/>
              <a:t>的旧标签编码器以避免警告（</a:t>
            </a:r>
            <a:r>
              <a:rPr lang="en-US" altLang="zh-CN" b="1" dirty="0" err="1"/>
              <a:t>sklearn</a:t>
            </a:r>
            <a:r>
              <a:rPr lang="en-US" altLang="zh-CN" b="1" dirty="0"/>
              <a:t> </a:t>
            </a:r>
            <a:r>
              <a:rPr lang="zh-CN" altLang="en-US" b="1" dirty="0"/>
              <a:t>兼容性设置）。</a:t>
            </a:r>
            <a:endParaRPr lang="en-US" altLang="zh-CN" b="1" dirty="0"/>
          </a:p>
          <a:p>
            <a:endParaRPr lang="zh-CN" altLang="en-US" b="1" dirty="0"/>
          </a:p>
          <a:p>
            <a:r>
              <a:rPr lang="en-US" altLang="zh-CN" b="1" dirty="0" err="1"/>
              <a:t>eval_metric</a:t>
            </a:r>
            <a:r>
              <a:rPr lang="en-US" altLang="zh-CN" b="1" dirty="0"/>
              <a:t>='</a:t>
            </a:r>
            <a:r>
              <a:rPr lang="en-US" altLang="zh-CN" b="1" dirty="0" err="1"/>
              <a:t>logloss</a:t>
            </a:r>
            <a:r>
              <a:rPr lang="en-US" altLang="zh-CN" b="1" dirty="0"/>
              <a:t>': </a:t>
            </a:r>
            <a:r>
              <a:rPr lang="zh-CN" altLang="en-US" b="1" dirty="0"/>
              <a:t>训练期间用对数损失作为评估指标（仅用于训练</a:t>
            </a:r>
            <a:r>
              <a:rPr lang="en-US" altLang="zh-CN" b="1" dirty="0"/>
              <a:t>/</a:t>
            </a:r>
            <a:r>
              <a:rPr lang="zh-CN" altLang="en-US" b="1" dirty="0"/>
              <a:t>早停输出，不影响 </a:t>
            </a:r>
            <a:r>
              <a:rPr lang="en-US" altLang="zh-CN" b="1" dirty="0" err="1"/>
              <a:t>sklearn</a:t>
            </a:r>
            <a:r>
              <a:rPr lang="en-US" altLang="zh-CN" b="1" dirty="0"/>
              <a:t> </a:t>
            </a:r>
            <a:r>
              <a:rPr lang="zh-CN" altLang="en-US" b="1" dirty="0"/>
              <a:t>的 </a:t>
            </a:r>
            <a:r>
              <a:rPr lang="en-US" altLang="zh-CN" b="1" dirty="0"/>
              <a:t>fit </a:t>
            </a:r>
            <a:r>
              <a:rPr lang="zh-CN" altLang="en-US" b="1" dirty="0"/>
              <a:t>返回）</a:t>
            </a:r>
            <a:endParaRPr lang="en-US" altLang="zh-CN" b="1" dirty="0"/>
          </a:p>
          <a:p>
            <a:endParaRPr lang="en-US" altLang="zh-CN" b="1" dirty="0"/>
          </a:p>
          <a:p>
            <a:r>
              <a:rPr lang="en-US" altLang="zh-CN" b="1" dirty="0" err="1"/>
              <a:t>eval_metric</a:t>
            </a:r>
            <a:r>
              <a:rPr lang="zh-CN" altLang="en-US" b="1" dirty="0"/>
              <a:t>是评价函数，针对二分类：</a:t>
            </a:r>
            <a:endParaRPr lang="en-US" altLang="zh-CN" b="1" dirty="0"/>
          </a:p>
          <a:p>
            <a:endParaRPr lang="zh-CN" altLang="en-US" b="1" dirty="0"/>
          </a:p>
          <a:p>
            <a:r>
              <a:rPr lang="en-US" altLang="zh-CN" b="1" i="1" dirty="0"/>
              <a:t>    1. </a:t>
            </a:r>
            <a:r>
              <a:rPr lang="en-US" altLang="zh-CN" b="1" i="1" dirty="0" err="1"/>
              <a:t>logloss</a:t>
            </a:r>
            <a:r>
              <a:rPr lang="zh-CN" altLang="en-US" b="1" i="1" dirty="0"/>
              <a:t>：对数损失</a:t>
            </a:r>
            <a:r>
              <a:rPr lang="en-US" altLang="zh-CN" b="1" i="1" dirty="0"/>
              <a:t>(binary logistic </a:t>
            </a:r>
            <a:r>
              <a:rPr lang="en-US" altLang="zh-CN" b="1" i="1" dirty="0" err="1"/>
              <a:t>logloss</a:t>
            </a:r>
            <a:r>
              <a:rPr lang="en-US" altLang="zh-CN" b="1" i="1" dirty="0"/>
              <a:t>)</a:t>
            </a:r>
            <a:r>
              <a:rPr lang="zh-CN" altLang="en-US" b="1" i="1" dirty="0"/>
              <a:t>。</a:t>
            </a:r>
            <a:endParaRPr lang="en-US" altLang="zh-CN" b="1" i="1" dirty="0"/>
          </a:p>
          <a:p>
            <a:endParaRPr lang="en-US" altLang="zh-CN" b="1" dirty="0"/>
          </a:p>
          <a:p>
            <a:r>
              <a:rPr lang="en-US" altLang="zh-CN" b="1" i="1" dirty="0"/>
              <a:t>    2. error</a:t>
            </a:r>
            <a:r>
              <a:rPr lang="zh-CN" altLang="en-US" b="1" i="1" dirty="0"/>
              <a:t>：分类错误率（预测类别与真实不同时计数）</a:t>
            </a:r>
            <a:endParaRPr lang="en-US" altLang="zh-CN" b="1" i="1" dirty="0"/>
          </a:p>
          <a:p>
            <a:endParaRPr lang="zh-CN" altLang="en-US" b="1" dirty="0"/>
          </a:p>
          <a:p>
            <a:r>
              <a:rPr lang="en-US" altLang="zh-CN" b="1" i="1" dirty="0"/>
              <a:t>    3. </a:t>
            </a:r>
            <a:r>
              <a:rPr lang="en-US" altLang="zh-CN" b="1" i="1" dirty="0" err="1"/>
              <a:t>auc</a:t>
            </a:r>
            <a:r>
              <a:rPr lang="zh-CN" altLang="en-US" b="1" i="1" dirty="0"/>
              <a:t>：</a:t>
            </a:r>
            <a:r>
              <a:rPr lang="en-US" altLang="zh-CN" b="1" i="1" dirty="0"/>
              <a:t>ROC </a:t>
            </a:r>
            <a:r>
              <a:rPr lang="zh-CN" altLang="en-US" b="1" i="1" dirty="0"/>
              <a:t>曲线下面积</a:t>
            </a:r>
            <a:r>
              <a:rPr lang="en-US" altLang="zh-CN" b="1" i="1" dirty="0"/>
              <a:t>(Area Under ROC)</a:t>
            </a:r>
            <a:r>
              <a:rPr lang="zh-CN" altLang="en-US" b="1" i="1" dirty="0"/>
              <a:t>。</a:t>
            </a:r>
            <a:endParaRPr lang="en-US" altLang="zh-CN" b="1" i="1" dirty="0"/>
          </a:p>
          <a:p>
            <a:endParaRPr lang="en-US" altLang="zh-CN" b="1" i="1" dirty="0"/>
          </a:p>
          <a:p>
            <a:r>
              <a:rPr lang="zh-CN" altLang="en-US" b="1" i="1" dirty="0"/>
              <a:t>不同的分类情况可以选择的也不同</a:t>
            </a:r>
            <a:br>
              <a:rPr lang="zh-CN" altLang="en-US" b="1" dirty="0"/>
            </a:br>
            <a:endParaRPr lang="zh-CN" altLang="en-US" b="1" dirty="0"/>
          </a:p>
          <a:p>
            <a:endParaRPr lang="zh-CN" altLang="en-US" b="1" dirty="0"/>
          </a:p>
          <a:p>
            <a:endParaRPr lang="zh-CN" altLang="en-US" dirty="0"/>
          </a:p>
        </p:txBody>
      </p:sp>
      <p:sp>
        <p:nvSpPr>
          <p:cNvPr id="16" name="文本框 15">
            <a:extLst>
              <a:ext uri="{FF2B5EF4-FFF2-40B4-BE49-F238E27FC236}">
                <a16:creationId xmlns:a16="http://schemas.microsoft.com/office/drawing/2014/main" id="{ECDD44D1-28FC-76F3-082F-80E0F1F91A4C}"/>
              </a:ext>
            </a:extLst>
          </p:cNvPr>
          <p:cNvSpPr txBox="1"/>
          <p:nvPr/>
        </p:nvSpPr>
        <p:spPr>
          <a:xfrm>
            <a:off x="-37966" y="5415949"/>
            <a:ext cx="7184723" cy="954107"/>
          </a:xfrm>
          <a:prstGeom prst="rect">
            <a:avLst/>
          </a:prstGeom>
          <a:noFill/>
        </p:spPr>
        <p:txBody>
          <a:bodyPr wrap="square" rtlCol="0">
            <a:spAutoFit/>
          </a:bodyPr>
          <a:lstStyle/>
          <a:p>
            <a:r>
              <a:rPr lang="en-US" altLang="zh-CN" b="1" i="1" dirty="0" err="1"/>
              <a:t>xgb_model</a:t>
            </a:r>
            <a:r>
              <a:rPr lang="en-US" altLang="zh-CN" b="1" dirty="0" err="1"/>
              <a:t>.</a:t>
            </a:r>
            <a:r>
              <a:rPr lang="en-US" altLang="zh-CN" b="1" i="1" dirty="0" err="1"/>
              <a:t>predict_proba</a:t>
            </a:r>
            <a:r>
              <a:rPr lang="zh-CN" altLang="en-US" b="1" dirty="0"/>
              <a:t>输出正类的预测概率，用于计算 </a:t>
            </a:r>
            <a:r>
              <a:rPr lang="en-US" altLang="zh-CN" b="1" dirty="0" err="1"/>
              <a:t>roc_auc_score</a:t>
            </a:r>
            <a:endParaRPr lang="en-US" altLang="zh-CN" b="1" dirty="0"/>
          </a:p>
          <a:p>
            <a:endParaRPr lang="en-US" altLang="zh-CN" b="1" dirty="0"/>
          </a:p>
          <a:p>
            <a:r>
              <a:rPr lang="zh-CN" altLang="en-US" b="1" dirty="0"/>
              <a:t>也就是</a:t>
            </a:r>
            <a:r>
              <a:rPr lang="en-US" altLang="zh-CN" b="1" dirty="0"/>
              <a:t>ROC</a:t>
            </a:r>
            <a:r>
              <a:rPr lang="zh-CN" altLang="en-US" b="1" dirty="0"/>
              <a:t>曲线的阈值点</a:t>
            </a:r>
            <a:endParaRPr lang="en-US" altLang="zh-CN" b="1" dirty="0"/>
          </a:p>
          <a:p>
            <a:endParaRPr lang="zh-CN" altLang="en-US" dirty="0"/>
          </a:p>
        </p:txBody>
      </p:sp>
    </p:spTree>
    <p:extLst>
      <p:ext uri="{BB962C8B-B14F-4D97-AF65-F5344CB8AC3E}">
        <p14:creationId xmlns:p14="http://schemas.microsoft.com/office/powerpoint/2010/main" val="18179583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文本框 2">
                <a:extLst>
                  <a:ext uri="{FF2B5EF4-FFF2-40B4-BE49-F238E27FC236}">
                    <a16:creationId xmlns:a16="http://schemas.microsoft.com/office/drawing/2014/main" id="{DFE15570-761D-F30F-2197-3B9CF33EDF15}"/>
                  </a:ext>
                </a:extLst>
              </p:cNvPr>
              <p:cNvSpPr txBox="1"/>
              <p:nvPr/>
            </p:nvSpPr>
            <p:spPr>
              <a:xfrm>
                <a:off x="163628" y="375385"/>
                <a:ext cx="11694696" cy="1225079"/>
              </a:xfrm>
              <a:prstGeom prst="rect">
                <a:avLst/>
              </a:prstGeom>
              <a:noFill/>
            </p:spPr>
            <p:txBody>
              <a:bodyPr wrap="square">
                <a:spAutoFit/>
              </a:bodyPr>
              <a:lstStyle/>
              <a:p>
                <a:r>
                  <a:rPr lang="en-US" altLang="zh-CN" b="1" dirty="0" err="1"/>
                  <a:t>XGBoost</a:t>
                </a:r>
                <a:r>
                  <a:rPr lang="zh-CN" altLang="en-US" b="1" dirty="0"/>
                  <a:t>是一个树状加法模型</a:t>
                </a:r>
                <a:r>
                  <a:rPr lang="en-US" altLang="zh-CN" b="1" dirty="0"/>
                  <a:t>:</a:t>
                </a:r>
                <a:br>
                  <a:rPr lang="en-US" altLang="zh-CN" b="1" dirty="0"/>
                </a:br>
                <a:endParaRPr lang="en-US" altLang="zh-CN" b="1" dirty="0"/>
              </a:p>
              <a:p>
                <a:r>
                  <a:rPr lang="zh-CN" altLang="en-US" b="1" dirty="0"/>
                  <a:t>    每一步拟合前一步残差，最终模型为多个弱学习器的线性组合，形式上可写为 </a:t>
                </a:r>
                <a14:m>
                  <m:oMath xmlns:m="http://schemas.openxmlformats.org/officeDocument/2006/math">
                    <m:sSub>
                      <m:sSubPr>
                        <m:ctrlPr>
                          <a:rPr lang="ar-AE" altLang="zh-CN" b="1"/>
                        </m:ctrlPr>
                      </m:sSubPr>
                      <m:e>
                        <m:r>
                          <a:rPr lang="zh-CN" altLang="ar-AE" b="1"/>
                          <m:t>𝐹</m:t>
                        </m:r>
                      </m:e>
                      <m:sub>
                        <m:r>
                          <a:rPr lang="zh-CN" altLang="ar-AE" b="1"/>
                          <m:t>𝑚</m:t>
                        </m:r>
                      </m:sub>
                    </m:sSub>
                    <m:d>
                      <m:dPr>
                        <m:ctrlPr>
                          <a:rPr lang="ar-AE" altLang="zh-CN" b="1"/>
                        </m:ctrlPr>
                      </m:dPr>
                      <m:e>
                        <m:r>
                          <a:rPr lang="zh-CN" altLang="ar-AE" b="1"/>
                          <m:t>𝑥</m:t>
                        </m:r>
                      </m:e>
                    </m:d>
                    <m:r>
                      <a:rPr lang="ar-AE" altLang="zh-CN" b="1"/>
                      <m:t>=</m:t>
                    </m:r>
                    <m:sSub>
                      <m:sSubPr>
                        <m:ctrlPr>
                          <a:rPr lang="ar-AE" altLang="zh-CN" b="1"/>
                        </m:ctrlPr>
                      </m:sSubPr>
                      <m:e>
                        <m:r>
                          <a:rPr lang="zh-CN" altLang="ar-AE" b="1"/>
                          <m:t>𝐹</m:t>
                        </m:r>
                      </m:e>
                      <m:sub>
                        <m:r>
                          <a:rPr lang="zh-CN" altLang="ar-AE" b="1"/>
                          <m:t>𝑚</m:t>
                        </m:r>
                        <m:r>
                          <a:rPr lang="ar-AE" altLang="zh-CN" b="1"/>
                          <m:t>−</m:t>
                        </m:r>
                        <m:r>
                          <a:rPr lang="ar-AE" altLang="zh-CN" b="1"/>
                          <m:t>1</m:t>
                        </m:r>
                      </m:sub>
                    </m:sSub>
                    <m:d>
                      <m:dPr>
                        <m:ctrlPr>
                          <a:rPr lang="ar-AE" altLang="zh-CN" b="1"/>
                        </m:ctrlPr>
                      </m:dPr>
                      <m:e>
                        <m:r>
                          <a:rPr lang="zh-CN" altLang="ar-AE" b="1"/>
                          <m:t>𝑥</m:t>
                        </m:r>
                      </m:e>
                    </m:d>
                    <m:r>
                      <a:rPr lang="ar-AE" altLang="zh-CN" b="1"/>
                      <m:t>+</m:t>
                    </m:r>
                    <m:r>
                      <a:rPr lang="zh-CN" altLang="ar-AE" b="1"/>
                      <m:t>𝜂</m:t>
                    </m:r>
                    <m:sSub>
                      <m:sSubPr>
                        <m:ctrlPr>
                          <a:rPr lang="ar-AE" altLang="zh-CN" b="1"/>
                        </m:ctrlPr>
                      </m:sSubPr>
                      <m:e>
                        <m:r>
                          <a:rPr lang="ar-AE" altLang="zh-CN" b="1"/>
                          <m:t>h</m:t>
                        </m:r>
                      </m:e>
                      <m:sub>
                        <m:r>
                          <a:rPr lang="zh-CN" altLang="ar-AE" b="1"/>
                          <m:t>𝑚</m:t>
                        </m:r>
                      </m:sub>
                    </m:sSub>
                    <m:d>
                      <m:dPr>
                        <m:ctrlPr>
                          <a:rPr lang="ar-AE" altLang="zh-CN" b="1"/>
                        </m:ctrlPr>
                      </m:dPr>
                      <m:e>
                        <m:r>
                          <a:rPr lang="zh-CN" altLang="ar-AE" b="1"/>
                          <m:t>𝑥</m:t>
                        </m:r>
                      </m:e>
                    </m:d>
                  </m:oMath>
                </a14:m>
                <a:r>
                  <a:rPr lang="zh-CN" altLang="ar-AE" b="1" dirty="0"/>
                  <a:t>，</a:t>
                </a:r>
                <a:r>
                  <a:rPr lang="zh-CN" altLang="en-US" b="1" dirty="0"/>
                  <a:t>其中 </a:t>
                </a:r>
                <a14:m>
                  <m:oMath xmlns:m="http://schemas.openxmlformats.org/officeDocument/2006/math">
                    <m:r>
                      <a:rPr lang="zh-CN" altLang="en-US" b="1"/>
                      <m:t>𝜂</m:t>
                    </m:r>
                  </m:oMath>
                </a14:m>
                <a:r>
                  <a:rPr lang="zh-CN" altLang="en-US" b="1" dirty="0"/>
                  <a:t> 为学习率，</a:t>
                </a:r>
                <a14:m>
                  <m:oMath xmlns:m="http://schemas.openxmlformats.org/officeDocument/2006/math">
                    <m:sSub>
                      <m:sSubPr>
                        <m:ctrlPr>
                          <a:rPr lang="ar-AE" altLang="zh-CN" b="1"/>
                        </m:ctrlPr>
                      </m:sSubPr>
                      <m:e>
                        <m:r>
                          <a:rPr lang="ar-AE" altLang="zh-CN" b="1"/>
                          <m:t>h</m:t>
                        </m:r>
                      </m:e>
                      <m:sub>
                        <m:r>
                          <a:rPr lang="zh-CN" altLang="ar-AE" b="1"/>
                          <m:t>𝑚</m:t>
                        </m:r>
                      </m:sub>
                    </m:sSub>
                  </m:oMath>
                </a14:m>
                <a:r>
                  <a:rPr lang="ar-AE" altLang="zh-CN" b="1" dirty="0"/>
                  <a:t> </a:t>
                </a:r>
                <a:r>
                  <a:rPr lang="zh-CN" altLang="en-US" b="1" dirty="0"/>
                  <a:t>为第 </a:t>
                </a:r>
                <a:r>
                  <a:rPr lang="en-US" altLang="zh-CN" b="1" dirty="0"/>
                  <a:t>m </a:t>
                </a:r>
                <a:r>
                  <a:rPr lang="zh-CN" altLang="en-US" b="1" dirty="0"/>
                  <a:t>棵树。</a:t>
                </a:r>
                <a:endParaRPr lang="en-US" altLang="zh-CN" b="1" dirty="0"/>
              </a:p>
              <a:p>
                <a:endParaRPr lang="en-US" altLang="zh-CN" b="1" dirty="0"/>
              </a:p>
              <a:p>
                <a:r>
                  <a:rPr lang="zh-CN" altLang="en-US" b="1" dirty="0"/>
                  <a:t>包含训练损失 </a:t>
                </a:r>
                <a:r>
                  <a:rPr lang="en-US" altLang="zh-CN" b="1" dirty="0"/>
                  <a:t>+ </a:t>
                </a:r>
                <a:r>
                  <a:rPr lang="zh-CN" altLang="en-US" b="1" dirty="0"/>
                  <a:t>正则化项（对叶节点分数和树结构的惩罚），通过二阶泰勒展开近似一阶</a:t>
                </a:r>
                <a:r>
                  <a:rPr lang="en-US" altLang="zh-CN" b="1" dirty="0"/>
                  <a:t>/</a:t>
                </a:r>
                <a:r>
                  <a:rPr lang="zh-CN" altLang="en-US" b="1" dirty="0"/>
                  <a:t>二阶梯度来高效优化</a:t>
                </a:r>
              </a:p>
            </p:txBody>
          </p:sp>
        </mc:Choice>
        <mc:Fallback>
          <p:sp>
            <p:nvSpPr>
              <p:cNvPr id="3" name="文本框 2">
                <a:extLst>
                  <a:ext uri="{FF2B5EF4-FFF2-40B4-BE49-F238E27FC236}">
                    <a16:creationId xmlns:a16="http://schemas.microsoft.com/office/drawing/2014/main" id="{DFE15570-761D-F30F-2197-3B9CF33EDF15}"/>
                  </a:ext>
                </a:extLst>
              </p:cNvPr>
              <p:cNvSpPr txBox="1">
                <a:spLocks noRot="1" noChangeAspect="1" noMove="1" noResize="1" noEditPoints="1" noAdjustHandles="1" noChangeArrowheads="1" noChangeShapeType="1" noTextEdit="1"/>
              </p:cNvSpPr>
              <p:nvPr/>
            </p:nvSpPr>
            <p:spPr>
              <a:xfrm>
                <a:off x="163628" y="375385"/>
                <a:ext cx="11694696" cy="1225079"/>
              </a:xfrm>
              <a:prstGeom prst="rect">
                <a:avLst/>
              </a:prstGeom>
              <a:blipFill>
                <a:blip r:embed="rId2"/>
                <a:stretch>
                  <a:fillRect l="-156" t="-995" b="-3980"/>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9AAB6363-062B-C28D-661C-DE3599F79DBD}"/>
              </a:ext>
            </a:extLst>
          </p:cNvPr>
          <p:cNvSpPr txBox="1"/>
          <p:nvPr/>
        </p:nvSpPr>
        <p:spPr>
          <a:xfrm>
            <a:off x="0" y="2166971"/>
            <a:ext cx="7040879" cy="307777"/>
          </a:xfrm>
          <a:prstGeom prst="rect">
            <a:avLst/>
          </a:prstGeom>
          <a:noFill/>
        </p:spPr>
        <p:txBody>
          <a:bodyPr wrap="square" rtlCol="0">
            <a:spAutoFit/>
          </a:bodyPr>
          <a:lstStyle/>
          <a:p>
            <a:r>
              <a:rPr lang="zh-CN" altLang="en-US" b="1" dirty="0"/>
              <a:t>模型效果评估指标：</a:t>
            </a:r>
          </a:p>
        </p:txBody>
      </p:sp>
      <p:sp>
        <p:nvSpPr>
          <p:cNvPr id="6" name="文本框 5">
            <a:extLst>
              <a:ext uri="{FF2B5EF4-FFF2-40B4-BE49-F238E27FC236}">
                <a16:creationId xmlns:a16="http://schemas.microsoft.com/office/drawing/2014/main" id="{B37E2922-8151-C9D8-44C8-FB77494CBC12}"/>
              </a:ext>
            </a:extLst>
          </p:cNvPr>
          <p:cNvSpPr txBox="1"/>
          <p:nvPr/>
        </p:nvSpPr>
        <p:spPr>
          <a:xfrm>
            <a:off x="0" y="2516774"/>
            <a:ext cx="5977288" cy="1815882"/>
          </a:xfrm>
          <a:prstGeom prst="rect">
            <a:avLst/>
          </a:prstGeom>
          <a:noFill/>
        </p:spPr>
        <p:txBody>
          <a:bodyPr wrap="square" rtlCol="0">
            <a:spAutoFit/>
          </a:bodyPr>
          <a:lstStyle/>
          <a:p>
            <a:r>
              <a:rPr lang="zh-CN" altLang="en-US" b="1" i="1" dirty="0"/>
              <a:t>真阳性 </a:t>
            </a:r>
            <a:r>
              <a:rPr lang="en-US" altLang="zh-CN" b="1" i="1" dirty="0"/>
              <a:t>(TP): </a:t>
            </a:r>
            <a:r>
              <a:rPr lang="zh-CN" altLang="en-US" b="1" i="1" dirty="0"/>
              <a:t>预测为正类且真实为正类的样本数。</a:t>
            </a:r>
            <a:endParaRPr lang="en-US" altLang="zh-CN" b="1" i="1" dirty="0"/>
          </a:p>
          <a:p>
            <a:endParaRPr lang="zh-CN" altLang="en-US" b="1" dirty="0"/>
          </a:p>
          <a:p>
            <a:r>
              <a:rPr lang="zh-CN" altLang="en-US" b="1" i="1" dirty="0"/>
              <a:t>真阴性 </a:t>
            </a:r>
            <a:r>
              <a:rPr lang="en-US" altLang="zh-CN" b="1" i="1" dirty="0"/>
              <a:t>(TN): </a:t>
            </a:r>
            <a:r>
              <a:rPr lang="zh-CN" altLang="en-US" b="1" i="1" dirty="0"/>
              <a:t>预测为负类且真实为负类的样本数。</a:t>
            </a:r>
            <a:endParaRPr lang="en-US" altLang="zh-CN" b="1" i="1" dirty="0"/>
          </a:p>
          <a:p>
            <a:endParaRPr lang="zh-CN" altLang="en-US" b="1" dirty="0"/>
          </a:p>
          <a:p>
            <a:r>
              <a:rPr lang="zh-CN" altLang="en-US" b="1" i="1" dirty="0"/>
              <a:t>假阳性 </a:t>
            </a:r>
            <a:r>
              <a:rPr lang="en-US" altLang="zh-CN" b="1" i="1" dirty="0"/>
              <a:t>(FP): </a:t>
            </a:r>
            <a:r>
              <a:rPr lang="zh-CN" altLang="en-US" b="1" i="1" dirty="0"/>
              <a:t>预测为正类但真实为负类的样本数 </a:t>
            </a:r>
            <a:r>
              <a:rPr lang="en-US" altLang="zh-CN" b="1" i="1" dirty="0"/>
              <a:t>(Type I </a:t>
            </a:r>
            <a:r>
              <a:rPr lang="zh-CN" altLang="en-US" b="1" i="1" dirty="0"/>
              <a:t>错误</a:t>
            </a:r>
            <a:r>
              <a:rPr lang="en-US" altLang="zh-CN" b="1" i="1" dirty="0"/>
              <a:t>)</a:t>
            </a:r>
            <a:r>
              <a:rPr lang="zh-CN" altLang="en-US" b="1" i="1" dirty="0"/>
              <a:t>。</a:t>
            </a:r>
            <a:endParaRPr lang="en-US" altLang="zh-CN" b="1" i="1" dirty="0"/>
          </a:p>
          <a:p>
            <a:endParaRPr lang="zh-CN" altLang="en-US" b="1" dirty="0"/>
          </a:p>
          <a:p>
            <a:r>
              <a:rPr lang="zh-CN" altLang="en-US" b="1" i="1" dirty="0"/>
              <a:t>假阴性 </a:t>
            </a:r>
            <a:r>
              <a:rPr lang="en-US" altLang="zh-CN" b="1" i="1" dirty="0"/>
              <a:t>(FN): </a:t>
            </a:r>
            <a:r>
              <a:rPr lang="zh-CN" altLang="en-US" b="1" i="1" dirty="0"/>
              <a:t>预测为负类但真实为正类的样本数 </a:t>
            </a:r>
            <a:r>
              <a:rPr lang="en-US" altLang="zh-CN" b="1" i="1" dirty="0"/>
              <a:t>(Type II </a:t>
            </a:r>
            <a:r>
              <a:rPr lang="zh-CN" altLang="en-US" b="1" i="1" dirty="0"/>
              <a:t>错误</a:t>
            </a:r>
            <a:r>
              <a:rPr lang="en-US" altLang="zh-CN" b="1" i="1" dirty="0"/>
              <a:t>)</a:t>
            </a:r>
            <a:r>
              <a:rPr lang="zh-CN" altLang="en-US" b="1" i="1" dirty="0"/>
              <a:t>。</a:t>
            </a:r>
            <a:endParaRPr lang="zh-CN" altLang="en-US" b="1" dirty="0"/>
          </a:p>
          <a:p>
            <a:endParaRPr lang="zh-CN" altLang="en-US" dirty="0"/>
          </a:p>
        </p:txBody>
      </p:sp>
      <p:pic>
        <p:nvPicPr>
          <p:cNvPr id="8" name="图片 7">
            <a:extLst>
              <a:ext uri="{FF2B5EF4-FFF2-40B4-BE49-F238E27FC236}">
                <a16:creationId xmlns:a16="http://schemas.microsoft.com/office/drawing/2014/main" id="{81C71471-364E-CA27-5604-8472C51463DB}"/>
              </a:ext>
            </a:extLst>
          </p:cNvPr>
          <p:cNvPicPr>
            <a:picLocks noChangeAspect="1"/>
          </p:cNvPicPr>
          <p:nvPr/>
        </p:nvPicPr>
        <p:blipFill>
          <a:blip r:embed="rId3"/>
          <a:stretch>
            <a:fillRect/>
          </a:stretch>
        </p:blipFill>
        <p:spPr>
          <a:xfrm>
            <a:off x="6057348" y="1600464"/>
            <a:ext cx="5685473" cy="3291277"/>
          </a:xfrm>
          <a:prstGeom prst="rect">
            <a:avLst/>
          </a:prstGeom>
        </p:spPr>
      </p:pic>
      <p:sp>
        <p:nvSpPr>
          <p:cNvPr id="9" name="文本框 8">
            <a:extLst>
              <a:ext uri="{FF2B5EF4-FFF2-40B4-BE49-F238E27FC236}">
                <a16:creationId xmlns:a16="http://schemas.microsoft.com/office/drawing/2014/main" id="{35369B11-83A2-A23F-69D7-CF3857778167}"/>
              </a:ext>
            </a:extLst>
          </p:cNvPr>
          <p:cNvSpPr txBox="1"/>
          <p:nvPr/>
        </p:nvSpPr>
        <p:spPr>
          <a:xfrm>
            <a:off x="163629" y="4374682"/>
            <a:ext cx="5380524" cy="2462213"/>
          </a:xfrm>
          <a:prstGeom prst="rect">
            <a:avLst/>
          </a:prstGeom>
          <a:noFill/>
        </p:spPr>
        <p:txBody>
          <a:bodyPr wrap="square" rtlCol="0">
            <a:spAutoFit/>
          </a:bodyPr>
          <a:lstStyle/>
          <a:p>
            <a:r>
              <a:rPr lang="en-US" altLang="zh-CN" b="1" i="1" dirty="0"/>
              <a:t>'accuracy‘ </a:t>
            </a:r>
            <a:r>
              <a:rPr lang="zh-CN" altLang="en-US" b="1" i="1" dirty="0"/>
              <a:t>准确率：</a:t>
            </a:r>
            <a:r>
              <a:rPr lang="zh-CN" altLang="en-US" b="1" dirty="0"/>
              <a:t>反映总体正确率</a:t>
            </a:r>
            <a:r>
              <a:rPr lang="en-US" altLang="zh-CN" b="1" dirty="0"/>
              <a:t>=(TP+TN)/</a:t>
            </a:r>
            <a:r>
              <a:rPr lang="zh-CN" altLang="en-US" b="1" dirty="0"/>
              <a:t>样本总数</a:t>
            </a:r>
            <a:endParaRPr lang="en-US" altLang="zh-CN" b="1" dirty="0"/>
          </a:p>
          <a:p>
            <a:endParaRPr lang="en-US" altLang="zh-CN" b="1" dirty="0"/>
          </a:p>
          <a:p>
            <a:r>
              <a:rPr lang="en-US" altLang="zh-CN" b="1" i="1" dirty="0"/>
              <a:t>‘precision’ </a:t>
            </a:r>
            <a:r>
              <a:rPr lang="zh-CN" altLang="en-US" b="1" i="1" dirty="0"/>
              <a:t>精确率：</a:t>
            </a:r>
            <a:r>
              <a:rPr lang="en-US" altLang="zh-CN" b="1" dirty="0"/>
              <a:t> </a:t>
            </a:r>
            <a:r>
              <a:rPr lang="zh-CN" altLang="en-US" b="1" dirty="0"/>
              <a:t>反映正类预测的准确性</a:t>
            </a:r>
            <a:r>
              <a:rPr lang="en-US" altLang="zh-CN" b="1" dirty="0"/>
              <a:t>=TP/(TP+FP)</a:t>
            </a:r>
          </a:p>
          <a:p>
            <a:endParaRPr lang="en-US" altLang="zh-CN" b="1" dirty="0"/>
          </a:p>
          <a:p>
            <a:r>
              <a:rPr lang="en-US" altLang="zh-CN" b="1" i="1" dirty="0"/>
              <a:t>‘recall’ </a:t>
            </a:r>
            <a:r>
              <a:rPr lang="zh-CN" altLang="en-US" b="1" i="1" dirty="0"/>
              <a:t>召回率：</a:t>
            </a:r>
            <a:r>
              <a:rPr lang="zh-CN" altLang="en-US" b="1" dirty="0"/>
              <a:t>反映正类的覆盖率</a:t>
            </a:r>
            <a:r>
              <a:rPr lang="en-US" altLang="zh-CN" b="1" dirty="0"/>
              <a:t>=TP/(TP+FN)</a:t>
            </a:r>
          </a:p>
          <a:p>
            <a:endParaRPr lang="en-US" altLang="zh-CN" b="1" dirty="0"/>
          </a:p>
          <a:p>
            <a:r>
              <a:rPr lang="en-US" altLang="zh-CN" b="1" i="1" dirty="0"/>
              <a:t>‘f1_score’ FI</a:t>
            </a:r>
            <a:r>
              <a:rPr lang="zh-CN" altLang="en-US" b="1" i="1" dirty="0"/>
              <a:t>分数：</a:t>
            </a:r>
            <a:r>
              <a:rPr lang="en-US" altLang="zh-CN" b="1" dirty="0"/>
              <a:t>2*(precision*recall)/(</a:t>
            </a:r>
            <a:r>
              <a:rPr lang="en-US" altLang="zh-CN" b="1" dirty="0" err="1"/>
              <a:t>precision+recall</a:t>
            </a:r>
            <a:r>
              <a:rPr lang="en-US" altLang="zh-CN" b="1" dirty="0"/>
              <a:t>) </a:t>
            </a:r>
            <a:r>
              <a:rPr lang="zh-CN" altLang="en-US" b="1" dirty="0"/>
              <a:t>精确率和召回率的调和平均，综合两者性能</a:t>
            </a:r>
            <a:endParaRPr lang="en-US" altLang="zh-CN" b="1" dirty="0"/>
          </a:p>
          <a:p>
            <a:endParaRPr lang="en-US" altLang="zh-CN" b="1" dirty="0"/>
          </a:p>
          <a:p>
            <a:r>
              <a:rPr lang="en-US" altLang="zh-CN" b="1" i="1" dirty="0"/>
              <a:t>'</a:t>
            </a:r>
            <a:r>
              <a:rPr lang="en-US" altLang="zh-CN" b="1" i="1" dirty="0" err="1"/>
              <a:t>auc</a:t>
            </a:r>
            <a:r>
              <a:rPr lang="en-US" altLang="zh-CN" b="1" i="1" dirty="0"/>
              <a:t>’ AUC</a:t>
            </a:r>
            <a:r>
              <a:rPr lang="en-US" altLang="zh-CN" b="1" dirty="0"/>
              <a:t>: ROC</a:t>
            </a:r>
            <a:r>
              <a:rPr lang="zh-CN" altLang="en-US" b="1" dirty="0"/>
              <a:t>曲线下的面积</a:t>
            </a:r>
          </a:p>
          <a:p>
            <a:endParaRPr lang="zh-CN" altLang="en-US" dirty="0"/>
          </a:p>
        </p:txBody>
      </p:sp>
      <p:pic>
        <p:nvPicPr>
          <p:cNvPr id="18" name="图片 17">
            <a:extLst>
              <a:ext uri="{FF2B5EF4-FFF2-40B4-BE49-F238E27FC236}">
                <a16:creationId xmlns:a16="http://schemas.microsoft.com/office/drawing/2014/main" id="{2D24E7AD-E9C2-60FB-288C-5764994F318B}"/>
              </a:ext>
            </a:extLst>
          </p:cNvPr>
          <p:cNvPicPr>
            <a:picLocks noChangeAspect="1"/>
          </p:cNvPicPr>
          <p:nvPr/>
        </p:nvPicPr>
        <p:blipFill>
          <a:blip r:embed="rId4"/>
          <a:stretch>
            <a:fillRect/>
          </a:stretch>
        </p:blipFill>
        <p:spPr>
          <a:xfrm>
            <a:off x="5459520" y="5063039"/>
            <a:ext cx="6732480" cy="1815882"/>
          </a:xfrm>
          <a:prstGeom prst="rect">
            <a:avLst/>
          </a:prstGeom>
        </p:spPr>
      </p:pic>
    </p:spTree>
    <p:extLst>
      <p:ext uri="{BB962C8B-B14F-4D97-AF65-F5344CB8AC3E}">
        <p14:creationId xmlns:p14="http://schemas.microsoft.com/office/powerpoint/2010/main" val="15221829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6ACD4A0-AEFB-B34C-33F9-E1B6142C0132}"/>
              </a:ext>
            </a:extLst>
          </p:cNvPr>
          <p:cNvSpPr txBox="1"/>
          <p:nvPr/>
        </p:nvSpPr>
        <p:spPr>
          <a:xfrm>
            <a:off x="197318" y="221381"/>
            <a:ext cx="11641756" cy="307777"/>
          </a:xfrm>
          <a:prstGeom prst="rect">
            <a:avLst/>
          </a:prstGeom>
          <a:noFill/>
        </p:spPr>
        <p:txBody>
          <a:bodyPr wrap="square" rtlCol="0">
            <a:spAutoFit/>
          </a:bodyPr>
          <a:lstStyle/>
          <a:p>
            <a:r>
              <a:rPr lang="en-US" altLang="zh-CN" dirty="0"/>
              <a:t>ROC</a:t>
            </a:r>
            <a:r>
              <a:rPr lang="zh-CN" altLang="en-US" dirty="0"/>
              <a:t>曲线（</a:t>
            </a:r>
            <a:r>
              <a:rPr lang="en-US" altLang="zh-CN" dirty="0"/>
              <a:t>Receiver Operating Characteristic</a:t>
            </a:r>
            <a:r>
              <a:rPr lang="zh-CN" altLang="en-US" dirty="0"/>
              <a:t>）全称：受试者工作特征曲线</a:t>
            </a:r>
          </a:p>
        </p:txBody>
      </p:sp>
      <p:sp>
        <p:nvSpPr>
          <p:cNvPr id="3" name="文本框 2">
            <a:extLst>
              <a:ext uri="{FF2B5EF4-FFF2-40B4-BE49-F238E27FC236}">
                <a16:creationId xmlns:a16="http://schemas.microsoft.com/office/drawing/2014/main" id="{24A295EA-D69C-7CD8-925A-400DD80EEC76}"/>
              </a:ext>
            </a:extLst>
          </p:cNvPr>
          <p:cNvSpPr txBox="1"/>
          <p:nvPr/>
        </p:nvSpPr>
        <p:spPr>
          <a:xfrm>
            <a:off x="288758" y="659331"/>
            <a:ext cx="9023684" cy="954107"/>
          </a:xfrm>
          <a:prstGeom prst="rect">
            <a:avLst/>
          </a:prstGeom>
          <a:noFill/>
        </p:spPr>
        <p:txBody>
          <a:bodyPr wrap="square" rtlCol="0">
            <a:spAutoFit/>
          </a:bodyPr>
          <a:lstStyle/>
          <a:p>
            <a:r>
              <a:rPr lang="en-US" altLang="zh-CN" dirty="0"/>
              <a:t>FPR</a:t>
            </a:r>
            <a:r>
              <a:rPr lang="zh-CN" altLang="en-US" dirty="0"/>
              <a:t>（</a:t>
            </a:r>
            <a:r>
              <a:rPr lang="en-US" altLang="zh-CN" dirty="0"/>
              <a:t>False Positive Rate</a:t>
            </a:r>
            <a:r>
              <a:rPr lang="zh-CN" altLang="en-US" dirty="0"/>
              <a:t>）</a:t>
            </a:r>
            <a:r>
              <a:rPr lang="en-US" altLang="zh-CN" dirty="0"/>
              <a:t>= FP /</a:t>
            </a:r>
            <a:r>
              <a:rPr lang="zh-CN" altLang="en-US" dirty="0"/>
              <a:t>（</a:t>
            </a:r>
            <a:r>
              <a:rPr lang="en-US" altLang="zh-CN" dirty="0"/>
              <a:t>FP + TN</a:t>
            </a:r>
            <a:r>
              <a:rPr lang="zh-CN" altLang="en-US" dirty="0"/>
              <a:t>），即负类数据被分为正类的比例（</a:t>
            </a:r>
            <a:r>
              <a:rPr lang="en-US" altLang="zh-CN" dirty="0"/>
              <a:t>ROC</a:t>
            </a:r>
            <a:r>
              <a:rPr lang="zh-CN" altLang="en-US" dirty="0"/>
              <a:t>曲线的</a:t>
            </a:r>
            <a:r>
              <a:rPr lang="en-US" altLang="zh-CN" dirty="0"/>
              <a:t>x</a:t>
            </a:r>
            <a:r>
              <a:rPr lang="zh-CN" altLang="en-US" dirty="0"/>
              <a:t>轴）</a:t>
            </a:r>
            <a:endParaRPr lang="en-US" altLang="zh-CN" dirty="0"/>
          </a:p>
          <a:p>
            <a:endParaRPr lang="zh-CN" altLang="en-US" dirty="0"/>
          </a:p>
          <a:p>
            <a:r>
              <a:rPr lang="en-US" altLang="zh-CN" dirty="0"/>
              <a:t>TPR</a:t>
            </a:r>
            <a:r>
              <a:rPr lang="zh-CN" altLang="en-US" dirty="0"/>
              <a:t>（</a:t>
            </a:r>
            <a:r>
              <a:rPr lang="en-US" altLang="zh-CN" dirty="0"/>
              <a:t>True Positive Rate</a:t>
            </a:r>
            <a:r>
              <a:rPr lang="zh-CN" altLang="en-US" dirty="0"/>
              <a:t>）</a:t>
            </a:r>
            <a:r>
              <a:rPr lang="en-US" altLang="zh-CN" dirty="0"/>
              <a:t>= TP /</a:t>
            </a:r>
            <a:r>
              <a:rPr lang="zh-CN" altLang="en-US" dirty="0"/>
              <a:t>（</a:t>
            </a:r>
            <a:r>
              <a:rPr lang="en-US" altLang="zh-CN" dirty="0"/>
              <a:t>TP + FN</a:t>
            </a:r>
            <a:r>
              <a:rPr lang="zh-CN" altLang="en-US" dirty="0"/>
              <a:t>），即正类数据被分为正类的比例（</a:t>
            </a:r>
            <a:r>
              <a:rPr lang="en-US" altLang="zh-CN" dirty="0"/>
              <a:t>ROC</a:t>
            </a:r>
            <a:r>
              <a:rPr lang="zh-CN" altLang="en-US" dirty="0"/>
              <a:t>曲线的</a:t>
            </a:r>
            <a:r>
              <a:rPr lang="en-US" altLang="zh-CN" dirty="0"/>
              <a:t>y</a:t>
            </a:r>
            <a:r>
              <a:rPr lang="zh-CN" altLang="en-US" dirty="0"/>
              <a:t>轴）</a:t>
            </a:r>
          </a:p>
          <a:p>
            <a:endParaRPr lang="zh-CN" altLang="en-US" dirty="0"/>
          </a:p>
        </p:txBody>
      </p:sp>
      <p:pic>
        <p:nvPicPr>
          <p:cNvPr id="5" name="图片 4">
            <a:extLst>
              <a:ext uri="{FF2B5EF4-FFF2-40B4-BE49-F238E27FC236}">
                <a16:creationId xmlns:a16="http://schemas.microsoft.com/office/drawing/2014/main" id="{C9F2B977-384D-C486-8541-D6BBDA509FC6}"/>
              </a:ext>
            </a:extLst>
          </p:cNvPr>
          <p:cNvPicPr>
            <a:picLocks noChangeAspect="1"/>
          </p:cNvPicPr>
          <p:nvPr/>
        </p:nvPicPr>
        <p:blipFill>
          <a:blip r:embed="rId3"/>
          <a:stretch>
            <a:fillRect/>
          </a:stretch>
        </p:blipFill>
        <p:spPr>
          <a:xfrm>
            <a:off x="0" y="1443177"/>
            <a:ext cx="6862813" cy="5381134"/>
          </a:xfrm>
          <a:prstGeom prst="rect">
            <a:avLst/>
          </a:prstGeom>
        </p:spPr>
      </p:pic>
      <p:sp>
        <p:nvSpPr>
          <p:cNvPr id="6" name="文本框 5">
            <a:extLst>
              <a:ext uri="{FF2B5EF4-FFF2-40B4-BE49-F238E27FC236}">
                <a16:creationId xmlns:a16="http://schemas.microsoft.com/office/drawing/2014/main" id="{CCEC6528-000F-1616-92A2-94C809FDC01C}"/>
              </a:ext>
            </a:extLst>
          </p:cNvPr>
          <p:cNvSpPr txBox="1"/>
          <p:nvPr/>
        </p:nvSpPr>
        <p:spPr>
          <a:xfrm>
            <a:off x="6930190" y="2517600"/>
            <a:ext cx="5329186" cy="4616648"/>
          </a:xfrm>
          <a:prstGeom prst="rect">
            <a:avLst/>
          </a:prstGeom>
          <a:noFill/>
        </p:spPr>
        <p:txBody>
          <a:bodyPr wrap="square" rtlCol="0">
            <a:spAutoFit/>
          </a:bodyPr>
          <a:lstStyle/>
          <a:p>
            <a:r>
              <a:rPr lang="zh-CN" altLang="en-US" dirty="0"/>
              <a:t>对于样本数据使用分类器对其进行分类时分类器会给出每个数据为正例的概率，我们可以针对此来设定一个阈值，</a:t>
            </a:r>
            <a:endParaRPr lang="en-US" altLang="zh-CN" dirty="0"/>
          </a:p>
          <a:p>
            <a:endParaRPr lang="en-US" altLang="zh-CN" dirty="0"/>
          </a:p>
          <a:p>
            <a:r>
              <a:rPr lang="zh-CN" altLang="en-US" dirty="0"/>
              <a:t>当某个</a:t>
            </a:r>
            <a:r>
              <a:rPr lang="en-US" altLang="zh-CN" dirty="0"/>
              <a:t>sample</a:t>
            </a:r>
            <a:r>
              <a:rPr lang="zh-CN" altLang="en-US" dirty="0"/>
              <a:t>被判断为正例的概率大于这个阈值时，认为该</a:t>
            </a:r>
            <a:r>
              <a:rPr lang="en-US" altLang="zh-CN" dirty="0"/>
              <a:t>sample</a:t>
            </a:r>
            <a:r>
              <a:rPr lang="zh-CN" altLang="en-US" dirty="0"/>
              <a:t>为正例，小于则为负例，然后通过计算我们就可以得到一个</a:t>
            </a:r>
            <a:r>
              <a:rPr lang="en-US" altLang="zh-CN" dirty="0"/>
              <a:t>(TPR , FPR)</a:t>
            </a:r>
            <a:r>
              <a:rPr lang="zh-CN" altLang="en-US" dirty="0"/>
              <a:t>对，即图像上的一个点；我们通过不断调整这个阈值，就得到若干个点，从而画出一条曲线。</a:t>
            </a:r>
            <a:endParaRPr lang="en-US" altLang="zh-CN" dirty="0"/>
          </a:p>
          <a:p>
            <a:endParaRPr lang="zh-CN" altLang="en-US" dirty="0"/>
          </a:p>
          <a:p>
            <a:r>
              <a:rPr lang="zh-CN" altLang="en-US" dirty="0"/>
              <a:t>当这个阈值越大时，越多的样本被分为负例，而这些样本中其实也有正例的存在。</a:t>
            </a:r>
            <a:endParaRPr lang="en-US" altLang="zh-CN" dirty="0"/>
          </a:p>
          <a:p>
            <a:r>
              <a:rPr lang="zh-CN" altLang="en-US" dirty="0"/>
              <a:t>这样一来，</a:t>
            </a:r>
            <a:r>
              <a:rPr lang="en-US" altLang="zh-CN" dirty="0"/>
              <a:t>TPR</a:t>
            </a:r>
            <a:r>
              <a:rPr lang="zh-CN" altLang="en-US" dirty="0"/>
              <a:t>下降（正例数据被分为负例了），</a:t>
            </a:r>
            <a:r>
              <a:rPr lang="en-US" altLang="zh-CN" dirty="0"/>
              <a:t>FPR</a:t>
            </a:r>
            <a:r>
              <a:rPr lang="zh-CN" altLang="en-US" dirty="0"/>
              <a:t>下降（负类数据更不会被分为正例，但是影响要比</a:t>
            </a:r>
            <a:r>
              <a:rPr lang="en-US" altLang="zh-CN" dirty="0"/>
              <a:t>TPR</a:t>
            </a:r>
            <a:r>
              <a:rPr lang="zh-CN" altLang="en-US" dirty="0"/>
              <a:t>小，所以斜率呈上升趋势）。</a:t>
            </a:r>
            <a:endParaRPr lang="en-US" altLang="zh-CN" dirty="0"/>
          </a:p>
          <a:p>
            <a:endParaRPr lang="en-US" altLang="zh-CN" dirty="0"/>
          </a:p>
          <a:p>
            <a:r>
              <a:rPr lang="zh-CN" altLang="en-US" dirty="0"/>
              <a:t>阈值越小时，越多的样本被分为正例，而这些样本中可能包含是正例，却被分为负例的样本以及是负例却被分为正例的样本，这样一来</a:t>
            </a:r>
            <a:r>
              <a:rPr lang="en-US" altLang="zh-CN" dirty="0"/>
              <a:t>TPR</a:t>
            </a:r>
            <a:r>
              <a:rPr lang="zh-CN" altLang="en-US" dirty="0"/>
              <a:t>上升（更多的正例样本被分为正例），</a:t>
            </a:r>
            <a:r>
              <a:rPr lang="en-US" altLang="zh-CN" dirty="0"/>
              <a:t>FPR</a:t>
            </a:r>
            <a:r>
              <a:rPr lang="zh-CN" altLang="en-US" dirty="0"/>
              <a:t>上升（更多的负例样本被分为正例，影响更大，所以斜率呈下降趋势）。</a:t>
            </a:r>
            <a:endParaRPr lang="en-US" altLang="zh-CN" dirty="0"/>
          </a:p>
          <a:p>
            <a:endParaRPr lang="en-US" altLang="zh-CN" dirty="0"/>
          </a:p>
          <a:p>
            <a:r>
              <a:rPr lang="zh-CN" altLang="en-US" dirty="0"/>
              <a:t>整体图像是凸性，图像越靠近左上角越好</a:t>
            </a:r>
          </a:p>
          <a:p>
            <a:endParaRPr lang="zh-CN" altLang="en-US" dirty="0"/>
          </a:p>
        </p:txBody>
      </p:sp>
      <p:pic>
        <p:nvPicPr>
          <p:cNvPr id="10" name="图片 9">
            <a:extLst>
              <a:ext uri="{FF2B5EF4-FFF2-40B4-BE49-F238E27FC236}">
                <a16:creationId xmlns:a16="http://schemas.microsoft.com/office/drawing/2014/main" id="{FE0B8AD2-D191-F3C2-1610-931745021CB0}"/>
              </a:ext>
            </a:extLst>
          </p:cNvPr>
          <p:cNvPicPr>
            <a:picLocks noChangeAspect="1"/>
          </p:cNvPicPr>
          <p:nvPr/>
        </p:nvPicPr>
        <p:blipFill>
          <a:blip r:embed="rId4"/>
          <a:stretch>
            <a:fillRect/>
          </a:stretch>
        </p:blipFill>
        <p:spPr>
          <a:xfrm>
            <a:off x="8150579" y="1064186"/>
            <a:ext cx="4001315" cy="1453414"/>
          </a:xfrm>
          <a:prstGeom prst="rect">
            <a:avLst/>
          </a:prstGeom>
        </p:spPr>
      </p:pic>
    </p:spTree>
    <p:extLst>
      <p:ext uri="{BB962C8B-B14F-4D97-AF65-F5344CB8AC3E}">
        <p14:creationId xmlns:p14="http://schemas.microsoft.com/office/powerpoint/2010/main" val="3643267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0E40BAE2-03F2-064B-0E39-BDF9199D4208}"/>
              </a:ext>
            </a:extLst>
          </p:cNvPr>
          <p:cNvPicPr>
            <a:picLocks noChangeAspect="1"/>
          </p:cNvPicPr>
          <p:nvPr/>
        </p:nvPicPr>
        <p:blipFill>
          <a:blip r:embed="rId2"/>
          <a:stretch>
            <a:fillRect/>
          </a:stretch>
        </p:blipFill>
        <p:spPr>
          <a:xfrm>
            <a:off x="0" y="0"/>
            <a:ext cx="5373507" cy="4778944"/>
          </a:xfrm>
          <a:prstGeom prst="rect">
            <a:avLst/>
          </a:prstGeom>
        </p:spPr>
      </p:pic>
      <p:pic>
        <p:nvPicPr>
          <p:cNvPr id="5" name="图片 4">
            <a:extLst>
              <a:ext uri="{FF2B5EF4-FFF2-40B4-BE49-F238E27FC236}">
                <a16:creationId xmlns:a16="http://schemas.microsoft.com/office/drawing/2014/main" id="{8DFB313B-D7B2-0D6B-4300-5C2D165EEDE0}"/>
              </a:ext>
            </a:extLst>
          </p:cNvPr>
          <p:cNvPicPr>
            <a:picLocks noChangeAspect="1"/>
          </p:cNvPicPr>
          <p:nvPr/>
        </p:nvPicPr>
        <p:blipFill>
          <a:blip r:embed="rId3"/>
          <a:stretch>
            <a:fillRect/>
          </a:stretch>
        </p:blipFill>
        <p:spPr>
          <a:xfrm>
            <a:off x="7064943" y="1"/>
            <a:ext cx="5127056" cy="4779090"/>
          </a:xfrm>
          <a:prstGeom prst="rect">
            <a:avLst/>
          </a:prstGeom>
        </p:spPr>
      </p:pic>
      <p:sp>
        <p:nvSpPr>
          <p:cNvPr id="6" name="文本框 5">
            <a:extLst>
              <a:ext uri="{FF2B5EF4-FFF2-40B4-BE49-F238E27FC236}">
                <a16:creationId xmlns:a16="http://schemas.microsoft.com/office/drawing/2014/main" id="{EFEA0ED4-5DBE-5061-B043-64B2D44CC75C}"/>
              </a:ext>
            </a:extLst>
          </p:cNvPr>
          <p:cNvSpPr txBox="1"/>
          <p:nvPr/>
        </p:nvSpPr>
        <p:spPr>
          <a:xfrm>
            <a:off x="-1" y="4745256"/>
            <a:ext cx="12021953" cy="307777"/>
          </a:xfrm>
          <a:prstGeom prst="rect">
            <a:avLst/>
          </a:prstGeom>
          <a:noFill/>
        </p:spPr>
        <p:txBody>
          <a:bodyPr wrap="square" rtlCol="0">
            <a:spAutoFit/>
          </a:bodyPr>
          <a:lstStyle/>
          <a:p>
            <a:r>
              <a:rPr lang="zh-CN" altLang="en-US" dirty="0"/>
              <a:t>一般来说，分类器会对一批数据的每个样本给出一个是正例的概率，如上图示，共</a:t>
            </a:r>
            <a:r>
              <a:rPr lang="en-US" altLang="zh-CN" dirty="0"/>
              <a:t>20</a:t>
            </a:r>
            <a:r>
              <a:rPr lang="zh-CN" altLang="en-US" dirty="0"/>
              <a:t>个样本，</a:t>
            </a:r>
            <a:r>
              <a:rPr lang="en-US" altLang="zh-CN" dirty="0"/>
              <a:t>class</a:t>
            </a:r>
            <a:r>
              <a:rPr lang="zh-CN" altLang="en-US" dirty="0"/>
              <a:t>为实际标签，</a:t>
            </a:r>
            <a:r>
              <a:rPr lang="en-US" altLang="zh-CN" dirty="0"/>
              <a:t>score</a:t>
            </a:r>
            <a:r>
              <a:rPr lang="zh-CN" altLang="en-US" dirty="0"/>
              <a:t>为分类器判断样本为正例的概率</a:t>
            </a:r>
          </a:p>
        </p:txBody>
      </p:sp>
      <p:sp>
        <p:nvSpPr>
          <p:cNvPr id="10" name="文本框 9">
            <a:extLst>
              <a:ext uri="{FF2B5EF4-FFF2-40B4-BE49-F238E27FC236}">
                <a16:creationId xmlns:a16="http://schemas.microsoft.com/office/drawing/2014/main" id="{03E45D1F-6B60-B9B9-7C98-F574714BC339}"/>
              </a:ext>
            </a:extLst>
          </p:cNvPr>
          <p:cNvSpPr txBox="1"/>
          <p:nvPr/>
        </p:nvSpPr>
        <p:spPr>
          <a:xfrm>
            <a:off x="52938" y="5130265"/>
            <a:ext cx="11916074" cy="738664"/>
          </a:xfrm>
          <a:prstGeom prst="rect">
            <a:avLst/>
          </a:prstGeom>
          <a:noFill/>
        </p:spPr>
        <p:txBody>
          <a:bodyPr wrap="square">
            <a:spAutoFit/>
          </a:bodyPr>
          <a:lstStyle/>
          <a:p>
            <a:r>
              <a:rPr lang="en-US" altLang="zh-CN" dirty="0"/>
              <a:t>ROC</a:t>
            </a:r>
            <a:r>
              <a:rPr lang="zh-CN" altLang="en-US" dirty="0"/>
              <a:t>曲线开始从</a:t>
            </a:r>
            <a:r>
              <a:rPr lang="en-US" altLang="zh-CN" dirty="0"/>
              <a:t>(0,0)</a:t>
            </a:r>
            <a:r>
              <a:rPr lang="zh-CN" altLang="en-US" dirty="0"/>
              <a:t>开始，直到最后的</a:t>
            </a:r>
            <a:r>
              <a:rPr lang="en-US" altLang="zh-CN" dirty="0"/>
              <a:t>(1,1) </a:t>
            </a:r>
            <a:r>
              <a:rPr lang="zh-CN" altLang="en-US" dirty="0"/>
              <a:t>；</a:t>
            </a:r>
            <a:r>
              <a:rPr lang="en-US" altLang="zh-CN" b="1" i="1" dirty="0"/>
              <a:t> AUC =</a:t>
            </a:r>
            <a:r>
              <a:rPr lang="en-US" altLang="zh-CN" b="1" dirty="0"/>
              <a:t> ROC</a:t>
            </a:r>
            <a:r>
              <a:rPr lang="zh-CN" altLang="en-US" b="1" dirty="0"/>
              <a:t>曲线下的面积一定小于</a:t>
            </a:r>
            <a:r>
              <a:rPr lang="en-US" altLang="zh-CN" b="1" dirty="0"/>
              <a:t>1</a:t>
            </a:r>
          </a:p>
          <a:p>
            <a:endParaRPr lang="en-US" altLang="zh-CN" b="1" dirty="0"/>
          </a:p>
          <a:p>
            <a:r>
              <a:rPr lang="zh-CN" altLang="en-US" dirty="0"/>
              <a:t>对角线代表这个模型是随机分类，模型没有任何意义</a:t>
            </a:r>
          </a:p>
        </p:txBody>
      </p:sp>
    </p:spTree>
    <p:extLst>
      <p:ext uri="{BB962C8B-B14F-4D97-AF65-F5344CB8AC3E}">
        <p14:creationId xmlns:p14="http://schemas.microsoft.com/office/powerpoint/2010/main" val="1158581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8FE3F0B4-B070-0310-A537-A5F6708D43FF}"/>
              </a:ext>
            </a:extLst>
          </p:cNvPr>
          <p:cNvSpPr txBox="1"/>
          <p:nvPr/>
        </p:nvSpPr>
        <p:spPr>
          <a:xfrm>
            <a:off x="322446" y="206943"/>
            <a:ext cx="11160493" cy="523220"/>
          </a:xfrm>
          <a:prstGeom prst="rect">
            <a:avLst/>
          </a:prstGeom>
          <a:noFill/>
        </p:spPr>
        <p:txBody>
          <a:bodyPr wrap="square" rtlCol="0">
            <a:spAutoFit/>
          </a:bodyPr>
          <a:lstStyle/>
          <a:p>
            <a:r>
              <a:rPr lang="zh-CN" altLang="en-US" b="1" dirty="0"/>
              <a:t>方法二：随机森林分类器</a:t>
            </a:r>
          </a:p>
          <a:p>
            <a:endParaRPr lang="zh-CN" altLang="en-US" dirty="0"/>
          </a:p>
        </p:txBody>
      </p:sp>
      <p:pic>
        <p:nvPicPr>
          <p:cNvPr id="4" name="图片 3">
            <a:extLst>
              <a:ext uri="{FF2B5EF4-FFF2-40B4-BE49-F238E27FC236}">
                <a16:creationId xmlns:a16="http://schemas.microsoft.com/office/drawing/2014/main" id="{C6DD3290-C079-0250-2E08-2A9FC422BF5D}"/>
              </a:ext>
            </a:extLst>
          </p:cNvPr>
          <p:cNvPicPr>
            <a:picLocks noChangeAspect="1"/>
          </p:cNvPicPr>
          <p:nvPr/>
        </p:nvPicPr>
        <p:blipFill>
          <a:blip r:embed="rId2"/>
          <a:stretch>
            <a:fillRect/>
          </a:stretch>
        </p:blipFill>
        <p:spPr>
          <a:xfrm>
            <a:off x="0" y="548188"/>
            <a:ext cx="7276699" cy="1544961"/>
          </a:xfrm>
          <a:prstGeom prst="rect">
            <a:avLst/>
          </a:prstGeom>
        </p:spPr>
      </p:pic>
      <p:sp>
        <p:nvSpPr>
          <p:cNvPr id="5" name="文本框 4">
            <a:extLst>
              <a:ext uri="{FF2B5EF4-FFF2-40B4-BE49-F238E27FC236}">
                <a16:creationId xmlns:a16="http://schemas.microsoft.com/office/drawing/2014/main" id="{0D5A033B-CF4A-ED6D-D776-9B2C2A9765FF}"/>
              </a:ext>
            </a:extLst>
          </p:cNvPr>
          <p:cNvSpPr txBox="1"/>
          <p:nvPr/>
        </p:nvSpPr>
        <p:spPr>
          <a:xfrm>
            <a:off x="-1" y="4182177"/>
            <a:ext cx="11338561" cy="2677656"/>
          </a:xfrm>
          <a:prstGeom prst="rect">
            <a:avLst/>
          </a:prstGeom>
          <a:noFill/>
        </p:spPr>
        <p:txBody>
          <a:bodyPr wrap="square" rtlCol="0">
            <a:spAutoFit/>
          </a:bodyPr>
          <a:lstStyle/>
          <a:p>
            <a:endParaRPr lang="en-US" altLang="zh-CN" b="1" dirty="0"/>
          </a:p>
          <a:p>
            <a:r>
              <a:rPr lang="zh-CN" altLang="en-US" b="1" dirty="0"/>
              <a:t>特点：</a:t>
            </a:r>
            <a:endParaRPr lang="en-US" altLang="zh-CN" b="1" dirty="0"/>
          </a:p>
          <a:p>
            <a:endParaRPr lang="zh-CN" altLang="en-US" b="1" dirty="0"/>
          </a:p>
          <a:p>
            <a:r>
              <a:rPr lang="zh-CN" altLang="en-US" b="1" i="1" dirty="0"/>
              <a:t>对特征尺度不敏感，能处理连续与类别特征。抗过拟合能力较强（比单棵决策树稳健）。</a:t>
            </a:r>
            <a:endParaRPr lang="zh-CN" altLang="en-US" b="1" dirty="0"/>
          </a:p>
          <a:p>
            <a:r>
              <a:rPr lang="zh-CN" altLang="en-US" b="1" i="1" dirty="0"/>
              <a:t>可以直接获取特征重要性 </a:t>
            </a:r>
            <a:r>
              <a:rPr lang="en-US" altLang="zh-CN" b="1" i="1" dirty="0"/>
              <a:t>(</a:t>
            </a:r>
            <a:r>
              <a:rPr lang="en-US" altLang="zh-CN" b="1" i="1" dirty="0" err="1"/>
              <a:t>rf_model.feature_importances</a:t>
            </a:r>
            <a:r>
              <a:rPr lang="en-US" altLang="zh-CN" b="1" i="1" dirty="0"/>
              <a:t>_)</a:t>
            </a:r>
            <a:r>
              <a:rPr lang="zh-CN" altLang="en-US" b="1" i="1" dirty="0"/>
              <a:t>。少量参数需要调优即可得到不错结果。</a:t>
            </a:r>
            <a:endParaRPr lang="zh-CN" altLang="en-US" b="1" dirty="0"/>
          </a:p>
          <a:p>
            <a:br>
              <a:rPr lang="zh-CN" altLang="en-US" b="1" dirty="0"/>
            </a:br>
            <a:r>
              <a:rPr lang="zh-CN" altLang="en-US" b="1" dirty="0"/>
              <a:t>支持分类种类：</a:t>
            </a:r>
            <a:endParaRPr lang="en-US" altLang="zh-CN" b="1" dirty="0"/>
          </a:p>
          <a:p>
            <a:endParaRPr lang="zh-CN" altLang="en-US" b="1" dirty="0"/>
          </a:p>
          <a:p>
            <a:r>
              <a:rPr lang="en-US" altLang="zh-CN" b="1" i="1" dirty="0"/>
              <a:t>1. </a:t>
            </a:r>
            <a:r>
              <a:rPr lang="zh-CN" altLang="en-US" b="1" i="1" dirty="0"/>
              <a:t>多类分类</a:t>
            </a:r>
            <a:r>
              <a:rPr lang="en-US" altLang="zh-CN" b="1" i="1" dirty="0"/>
              <a:t>: </a:t>
            </a:r>
            <a:r>
              <a:rPr lang="zh-CN" altLang="en-US" b="1" i="1" dirty="0"/>
              <a:t>支持 </a:t>
            </a:r>
            <a:r>
              <a:rPr lang="en-US" altLang="zh-CN" b="1" i="1" dirty="0"/>
              <a:t>&gt;2 </a:t>
            </a:r>
            <a:r>
              <a:rPr lang="zh-CN" altLang="en-US" b="1" i="1" dirty="0"/>
              <a:t>类问题</a:t>
            </a:r>
            <a:endParaRPr lang="en-US" altLang="zh-CN" b="1" i="1" dirty="0"/>
          </a:p>
          <a:p>
            <a:r>
              <a:rPr lang="en-US" altLang="zh-CN" b="1" i="1" dirty="0"/>
              <a:t>2. </a:t>
            </a:r>
            <a:r>
              <a:rPr lang="zh-CN" altLang="en-US" b="1" i="1" dirty="0"/>
              <a:t>回归</a:t>
            </a:r>
            <a:r>
              <a:rPr lang="en-US" altLang="zh-CN" b="1" i="1" dirty="0"/>
              <a:t>: </a:t>
            </a:r>
            <a:r>
              <a:rPr lang="zh-CN" altLang="en-US" b="1" i="1" dirty="0"/>
              <a:t>用 </a:t>
            </a:r>
            <a:r>
              <a:rPr lang="en-US" altLang="zh-CN" b="1" i="1" dirty="0" err="1"/>
              <a:t>RandomForestRegressor</a:t>
            </a:r>
            <a:r>
              <a:rPr lang="en-US" altLang="zh-CN" b="1" i="1" dirty="0"/>
              <a:t> </a:t>
            </a:r>
            <a:r>
              <a:rPr lang="zh-CN" altLang="en-US" b="1" i="1" dirty="0"/>
              <a:t>预测连续目标（房价、温度等）</a:t>
            </a:r>
            <a:endParaRPr lang="zh-CN" altLang="en-US" b="1" dirty="0"/>
          </a:p>
          <a:p>
            <a:r>
              <a:rPr lang="en-US" altLang="zh-CN" b="1" i="1" dirty="0"/>
              <a:t>3. </a:t>
            </a:r>
            <a:r>
              <a:rPr lang="zh-CN" altLang="en-US" b="1" i="1" dirty="0"/>
              <a:t>多输出任务</a:t>
            </a:r>
            <a:r>
              <a:rPr lang="en-US" altLang="zh-CN" b="1" i="1" dirty="0"/>
              <a:t>: </a:t>
            </a:r>
            <a:r>
              <a:rPr lang="zh-CN" altLang="en-US" b="1" i="1" dirty="0"/>
              <a:t>处理多个目标变量（多输出回归</a:t>
            </a:r>
            <a:r>
              <a:rPr lang="en-US" altLang="zh-CN" b="1" i="1" dirty="0"/>
              <a:t>/</a:t>
            </a:r>
            <a:r>
              <a:rPr lang="zh-CN" altLang="en-US" b="1" i="1" dirty="0"/>
              <a:t>分类</a:t>
            </a:r>
            <a:endParaRPr lang="en-US" altLang="zh-CN" b="1" i="1" dirty="0"/>
          </a:p>
          <a:p>
            <a:r>
              <a:rPr lang="en-US" altLang="zh-CN" b="1" i="1" dirty="0"/>
              <a:t>4. </a:t>
            </a:r>
            <a:r>
              <a:rPr lang="zh-CN" altLang="en-US" b="1" i="1" dirty="0"/>
              <a:t>特征选择</a:t>
            </a:r>
            <a:r>
              <a:rPr lang="en-US" altLang="zh-CN" b="1" i="1" dirty="0"/>
              <a:t>: </a:t>
            </a:r>
            <a:r>
              <a:rPr lang="zh-CN" altLang="en-US" b="1" i="1" dirty="0"/>
              <a:t>用 </a:t>
            </a:r>
            <a:r>
              <a:rPr lang="en-US" altLang="zh-CN" b="1" i="1" dirty="0" err="1"/>
              <a:t>feature_importances</a:t>
            </a:r>
            <a:r>
              <a:rPr lang="en-US" altLang="zh-CN" b="1" i="1" dirty="0"/>
              <a:t>_ </a:t>
            </a:r>
            <a:r>
              <a:rPr lang="zh-CN" altLang="en-US" b="1" i="1" dirty="0"/>
              <a:t>快速筛选重要特征；</a:t>
            </a:r>
            <a:endParaRPr lang="zh-CN" altLang="en-US" dirty="0"/>
          </a:p>
        </p:txBody>
      </p:sp>
      <p:sp>
        <p:nvSpPr>
          <p:cNvPr id="6" name="文本框 5">
            <a:extLst>
              <a:ext uri="{FF2B5EF4-FFF2-40B4-BE49-F238E27FC236}">
                <a16:creationId xmlns:a16="http://schemas.microsoft.com/office/drawing/2014/main" id="{0CB17315-35B3-B712-420B-CDB31A158E5A}"/>
              </a:ext>
            </a:extLst>
          </p:cNvPr>
          <p:cNvSpPr txBox="1"/>
          <p:nvPr/>
        </p:nvSpPr>
        <p:spPr>
          <a:xfrm>
            <a:off x="7517330" y="206943"/>
            <a:ext cx="4615313" cy="2677656"/>
          </a:xfrm>
          <a:prstGeom prst="rect">
            <a:avLst/>
          </a:prstGeom>
          <a:noFill/>
        </p:spPr>
        <p:txBody>
          <a:bodyPr wrap="square" rtlCol="0">
            <a:spAutoFit/>
          </a:bodyPr>
          <a:lstStyle/>
          <a:p>
            <a:r>
              <a:rPr lang="en-US" altLang="zh-CN" b="1" i="1" dirty="0" err="1"/>
              <a:t>n_estimators</a:t>
            </a:r>
            <a:r>
              <a:rPr lang="en-US" altLang="zh-CN" b="1" i="1" dirty="0"/>
              <a:t>=100: </a:t>
            </a:r>
            <a:r>
              <a:rPr lang="zh-CN" altLang="en-US" b="1" i="1" dirty="0"/>
              <a:t>森林中树的数量（较大数量通常更稳定，但更慢）</a:t>
            </a:r>
            <a:endParaRPr lang="en-US" altLang="zh-CN" b="1" i="1" dirty="0"/>
          </a:p>
          <a:p>
            <a:endParaRPr lang="zh-CN" altLang="en-US" b="1" dirty="0"/>
          </a:p>
          <a:p>
            <a:r>
              <a:rPr lang="zh-CN" altLang="en-US" b="1" i="1" dirty="0"/>
              <a:t>稳定指的是</a:t>
            </a:r>
            <a:r>
              <a:rPr lang="en-US" altLang="zh-CN" b="1" i="1" dirty="0"/>
              <a:t>:</a:t>
            </a:r>
            <a:r>
              <a:rPr lang="zh-CN" altLang="en-US" b="1" i="1" dirty="0"/>
              <a:t>模型预测结果和性能指标在随机性（不同 </a:t>
            </a:r>
            <a:r>
              <a:rPr lang="en-US" altLang="zh-CN" b="1" i="1" dirty="0"/>
              <a:t>bootstrap </a:t>
            </a:r>
            <a:r>
              <a:rPr lang="zh-CN" altLang="en-US" b="1" i="1" dirty="0"/>
              <a:t>样本、不同树的随机性）下的波动变小</a:t>
            </a:r>
            <a:endParaRPr lang="zh-CN" altLang="en-US" b="1" dirty="0"/>
          </a:p>
          <a:p>
            <a:r>
              <a:rPr lang="zh-CN" altLang="en-US" b="1" i="1" dirty="0"/>
              <a:t>也就是方差下降，结果更可重复、更平滑</a:t>
            </a:r>
            <a:endParaRPr lang="zh-CN" altLang="en-US" b="1" dirty="0"/>
          </a:p>
          <a:p>
            <a:r>
              <a:rPr lang="zh-CN" altLang="en-US" b="1" i="1" dirty="0"/>
              <a:t>随机森林是把多棵随机化的树的预测取平均</a:t>
            </a:r>
            <a:r>
              <a:rPr lang="en-US" altLang="zh-CN" b="1" i="1" dirty="0"/>
              <a:t>/</a:t>
            </a:r>
            <a:r>
              <a:rPr lang="zh-CN" altLang="en-US" b="1" i="1" dirty="0"/>
              <a:t>投票</a:t>
            </a:r>
            <a:endParaRPr lang="zh-CN" altLang="en-US" b="1" dirty="0"/>
          </a:p>
          <a:p>
            <a:br>
              <a:rPr lang="zh-CN" altLang="en-US" b="1" dirty="0"/>
            </a:br>
            <a:endParaRPr lang="zh-CN" altLang="en-US" b="1" dirty="0"/>
          </a:p>
          <a:p>
            <a:r>
              <a:rPr lang="en-US" altLang="zh-CN" b="1" i="1" dirty="0" err="1"/>
              <a:t>random_state</a:t>
            </a:r>
            <a:r>
              <a:rPr lang="en-US" altLang="zh-CN" b="1" i="1" dirty="0"/>
              <a:t>=42: </a:t>
            </a:r>
            <a:r>
              <a:rPr lang="zh-CN" altLang="en-US" b="1" i="1" dirty="0"/>
              <a:t>随机种子，保证实验可重复。</a:t>
            </a:r>
            <a:endParaRPr lang="zh-CN" altLang="en-US" b="1" dirty="0"/>
          </a:p>
          <a:p>
            <a:r>
              <a:rPr lang="en-US" altLang="zh-CN" b="1" i="1" dirty="0" err="1"/>
              <a:t>max_depth</a:t>
            </a:r>
            <a:r>
              <a:rPr lang="en-US" altLang="zh-CN" b="1" i="1" dirty="0"/>
              <a:t>, </a:t>
            </a:r>
            <a:r>
              <a:rPr lang="en-US" altLang="zh-CN" b="1" i="1" dirty="0" err="1"/>
              <a:t>max_features</a:t>
            </a:r>
            <a:r>
              <a:rPr lang="en-US" altLang="zh-CN" b="1" i="1" dirty="0"/>
              <a:t>, </a:t>
            </a:r>
            <a:r>
              <a:rPr lang="en-US" altLang="zh-CN" b="1" i="1" dirty="0" err="1"/>
              <a:t>min_samples_leaf</a:t>
            </a:r>
            <a:r>
              <a:rPr lang="en-US" altLang="zh-CN" b="1" i="1" dirty="0"/>
              <a:t> </a:t>
            </a:r>
            <a:r>
              <a:rPr lang="zh-CN" altLang="en-US" b="1" i="1" dirty="0"/>
              <a:t>等）使用默认值，可能不是最优</a:t>
            </a:r>
            <a:endParaRPr lang="zh-CN" altLang="en-US" b="1" dirty="0"/>
          </a:p>
        </p:txBody>
      </p:sp>
      <p:sp>
        <p:nvSpPr>
          <p:cNvPr id="7" name="文本框 6">
            <a:extLst>
              <a:ext uri="{FF2B5EF4-FFF2-40B4-BE49-F238E27FC236}">
                <a16:creationId xmlns:a16="http://schemas.microsoft.com/office/drawing/2014/main" id="{85FAEDA9-F975-CB4D-6ED7-5CFAC88AC106}"/>
              </a:ext>
            </a:extLst>
          </p:cNvPr>
          <p:cNvSpPr txBox="1"/>
          <p:nvPr/>
        </p:nvSpPr>
        <p:spPr>
          <a:xfrm>
            <a:off x="-1" y="2106783"/>
            <a:ext cx="7387390" cy="2246769"/>
          </a:xfrm>
          <a:prstGeom prst="rect">
            <a:avLst/>
          </a:prstGeom>
          <a:noFill/>
        </p:spPr>
        <p:txBody>
          <a:bodyPr wrap="square" rtlCol="0">
            <a:spAutoFit/>
          </a:bodyPr>
          <a:lstStyle/>
          <a:p>
            <a:r>
              <a:rPr lang="zh-CN" altLang="en-US" b="1" i="1" dirty="0"/>
              <a:t>随机森林通过对训练集做有放回的自助采样</a:t>
            </a:r>
            <a:r>
              <a:rPr lang="en-US" altLang="zh-CN" b="1" i="1" dirty="0"/>
              <a:t>(bootstrap)</a:t>
            </a:r>
            <a:r>
              <a:rPr lang="zh-CN" altLang="en-US" b="1" i="1" dirty="0"/>
              <a:t>产生每棵树的训练子集</a:t>
            </a:r>
            <a:endParaRPr lang="en-US" altLang="zh-CN" b="1" i="1" dirty="0"/>
          </a:p>
          <a:p>
            <a:endParaRPr lang="zh-CN" altLang="en-US" b="1" dirty="0"/>
          </a:p>
          <a:p>
            <a:r>
              <a:rPr lang="zh-CN" altLang="en-US" b="1" i="1" dirty="0"/>
              <a:t>每次节点分裂时</a:t>
            </a:r>
            <a:r>
              <a:rPr lang="en-US" altLang="zh-CN" b="1" i="1" dirty="0"/>
              <a:t>,</a:t>
            </a:r>
            <a:r>
              <a:rPr lang="zh-CN" altLang="en-US" b="1" i="1" dirty="0"/>
              <a:t>只在随机选取的一部分特征上寻找最佳分裂（特征子采样）</a:t>
            </a:r>
            <a:r>
              <a:rPr lang="en-US" altLang="zh-CN" b="1" i="1" dirty="0"/>
              <a:t>,</a:t>
            </a:r>
            <a:r>
              <a:rPr lang="zh-CN" altLang="en-US" b="1" i="1" dirty="0"/>
              <a:t>增加树之间差异性，降低方差并提高泛化能力</a:t>
            </a:r>
            <a:endParaRPr lang="en-US" altLang="zh-CN" b="1" i="1" dirty="0"/>
          </a:p>
          <a:p>
            <a:endParaRPr lang="zh-CN" altLang="en-US" b="1" dirty="0"/>
          </a:p>
          <a:p>
            <a:r>
              <a:rPr lang="zh-CN" altLang="en-US" b="1" i="1" dirty="0"/>
              <a:t>每棵树通常不剪枝</a:t>
            </a:r>
            <a:r>
              <a:rPr lang="en-US" altLang="zh-CN" b="1" i="1" dirty="0"/>
              <a:t>(</a:t>
            </a:r>
            <a:r>
              <a:rPr lang="zh-CN" altLang="en-US" b="1" i="1" dirty="0"/>
              <a:t>或只受 </a:t>
            </a:r>
            <a:r>
              <a:rPr lang="en-US" altLang="zh-CN" b="1" i="1" dirty="0" err="1"/>
              <a:t>max_depth</a:t>
            </a:r>
            <a:r>
              <a:rPr lang="en-US" altLang="zh-CN" b="1" i="1" dirty="0"/>
              <a:t> </a:t>
            </a:r>
            <a:r>
              <a:rPr lang="zh-CN" altLang="en-US" b="1" i="1" dirty="0"/>
              <a:t>限制</a:t>
            </a:r>
            <a:r>
              <a:rPr lang="en-US" altLang="zh-CN" b="1" i="1" dirty="0"/>
              <a:t>),</a:t>
            </a:r>
            <a:r>
              <a:rPr lang="zh-CN" altLang="en-US" b="1" i="1" dirty="0"/>
              <a:t>是高方差低偏差的基学习器</a:t>
            </a:r>
            <a:r>
              <a:rPr lang="en-US" altLang="zh-CN" b="1" i="1" dirty="0"/>
              <a:t>,</a:t>
            </a:r>
            <a:r>
              <a:rPr lang="zh-CN" altLang="en-US" b="1" i="1" dirty="0"/>
              <a:t>通过集成平均减少过拟合</a:t>
            </a:r>
            <a:endParaRPr lang="en-US" altLang="zh-CN" b="1" i="1" dirty="0"/>
          </a:p>
          <a:p>
            <a:endParaRPr lang="en-US" altLang="zh-CN" b="1" i="1" dirty="0"/>
          </a:p>
          <a:p>
            <a:r>
              <a:rPr lang="zh-CN" altLang="en-US" b="1" dirty="0"/>
              <a:t>简单来说：对每棵树进行分类投票，返回多数投票类别</a:t>
            </a:r>
          </a:p>
          <a:p>
            <a:endParaRPr lang="zh-CN" altLang="en-US" dirty="0"/>
          </a:p>
        </p:txBody>
      </p:sp>
      <p:pic>
        <p:nvPicPr>
          <p:cNvPr id="9" name="图片 8">
            <a:extLst>
              <a:ext uri="{FF2B5EF4-FFF2-40B4-BE49-F238E27FC236}">
                <a16:creationId xmlns:a16="http://schemas.microsoft.com/office/drawing/2014/main" id="{F095ADD5-307C-D394-D91E-5CE13C644D1B}"/>
              </a:ext>
            </a:extLst>
          </p:cNvPr>
          <p:cNvPicPr>
            <a:picLocks noChangeAspect="1"/>
          </p:cNvPicPr>
          <p:nvPr/>
        </p:nvPicPr>
        <p:blipFill>
          <a:blip r:embed="rId3"/>
          <a:stretch>
            <a:fillRect/>
          </a:stretch>
        </p:blipFill>
        <p:spPr>
          <a:xfrm>
            <a:off x="8673968" y="3582151"/>
            <a:ext cx="3518032" cy="3275849"/>
          </a:xfrm>
          <a:prstGeom prst="rect">
            <a:avLst/>
          </a:prstGeom>
        </p:spPr>
      </p:pic>
    </p:spTree>
    <p:extLst>
      <p:ext uri="{BB962C8B-B14F-4D97-AF65-F5344CB8AC3E}">
        <p14:creationId xmlns:p14="http://schemas.microsoft.com/office/powerpoint/2010/main" val="2034236393"/>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611</TotalTime>
  <Words>3192</Words>
  <Application>Microsoft Office PowerPoint</Application>
  <PresentationFormat>宽屏</PresentationFormat>
  <Paragraphs>344</Paragraphs>
  <Slides>26</Slides>
  <Notes>11</Notes>
  <HiddenSlides>0</HiddenSlides>
  <MMClips>0</MMClips>
  <ScaleCrop>false</ScaleCrop>
  <HeadingPairs>
    <vt:vector size="6" baseType="variant">
      <vt:variant>
        <vt:lpstr>已用的字体</vt:lpstr>
      </vt:variant>
      <vt:variant>
        <vt:i4>3</vt:i4>
      </vt:variant>
      <vt:variant>
        <vt:lpstr>主题</vt:lpstr>
      </vt:variant>
      <vt:variant>
        <vt:i4>2</vt:i4>
      </vt:variant>
      <vt:variant>
        <vt:lpstr>幻灯片标题</vt:lpstr>
      </vt:variant>
      <vt:variant>
        <vt:i4>26</vt:i4>
      </vt:variant>
    </vt:vector>
  </HeadingPairs>
  <TitlesOfParts>
    <vt:vector size="31" baseType="lpstr">
      <vt:lpstr>Noto Sans SC</vt:lpstr>
      <vt:lpstr>黑体</vt:lpstr>
      <vt:lpstr>Arial</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gby@edu.nuc.email</cp:lastModifiedBy>
  <cp:revision>184</cp:revision>
  <dcterms:created xsi:type="dcterms:W3CDTF">2026-03-25T08:22:00Z</dcterms:created>
  <dcterms:modified xsi:type="dcterms:W3CDTF">2026-03-29T09:58:53Z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2052-12.1.0.24657</vt:lpwstr>
  </property>
  <property fmtid="{D5CDD505-2E9C-101B-9397-08002B2CF9AE}" pid="3" name="ICV">
    <vt:lpwstr>8921C6EC268644C88DED4A4F5FCA24EE_12</vt:lpwstr>
  </property>
</Properties>
</file>