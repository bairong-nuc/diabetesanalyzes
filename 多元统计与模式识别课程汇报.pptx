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277" r:id="rId3"/>
    <p:sldId id="257" r:id="rId4"/>
    <p:sldId id="258" r:id="rId5"/>
    <p:sldId id="285" r:id="rId6"/>
    <p:sldId id="283" r:id="rId7"/>
    <p:sldId id="284" r:id="rId8"/>
    <p:sldId id="286" r:id="rId9"/>
    <p:sldId id="287" r:id="rId10"/>
    <p:sldId id="288" r:id="rId11"/>
    <p:sldId id="290" r:id="rId12"/>
    <p:sldId id="291" r:id="rId13"/>
    <p:sldId id="292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6" userDrawn="1">
          <p15:clr>
            <a:srgbClr val="747775"/>
          </p15:clr>
        </p15:guide>
        <p15:guide id="2" pos="287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1" d="100"/>
          <a:sy n="131" d="100"/>
        </p:scale>
        <p:origin x="108" y="100"/>
      </p:cViewPr>
      <p:guideLst>
        <p:guide orient="horz" pos="1646"/>
        <p:guide pos="2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本次汇报将分为四个部分。首先，我将介绍研究的背景与意义；其次，详细阐述研究内容与技术思路；接着，说明实验的方法与设计；最后，展示并分析实验结果，并进行总结与展望。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5323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形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192000" cy="6859051"/>
          </a:xfrm>
          <a:prstGeom prst="rect">
            <a:avLst/>
          </a:prstGeom>
        </p:spPr>
      </p:pic>
      <p:pic>
        <p:nvPicPr>
          <p:cNvPr id="32" name="图形 31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875" y="167005"/>
            <a:ext cx="11518900" cy="6197600"/>
          </a:xfrm>
          <a:prstGeom prst="rect">
            <a:avLst/>
          </a:prstGeom>
        </p:spPr>
      </p:pic>
      <p:pic>
        <p:nvPicPr>
          <p:cNvPr id="3" name="图片 2" descr="9717abb16921ec7e0dd594a564d1e8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9235" y="400685"/>
            <a:ext cx="1502410" cy="15043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5365" y="2294255"/>
            <a:ext cx="104673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      基于机器学习的血糖预测模型研究与应用</a:t>
            </a:r>
            <a:endParaRPr lang="en-US" altLang="en-US" sz="3200" b="1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/>
        </p:nvSpPr>
        <p:spPr>
          <a:xfrm>
            <a:off x="2286000" y="3429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chemeClr val="tx1"/>
                </a:solidFill>
                <a:latin typeface="+mn-ea"/>
                <a:ea typeface="+mn-ea"/>
                <a:cs typeface="Noto Sans SC" panose="020B0200000000000000" charset="-122"/>
                <a:sym typeface="Noto Sans SC" panose="020B0200000000000000" charset="-122"/>
              </a:rPr>
              <a:t>课程汇报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5544514" y="3115219"/>
            <a:ext cx="1073944" cy="0"/>
          </a:xfrm>
          <a:prstGeom prst="line">
            <a:avLst/>
          </a:prstGeom>
          <a:ln w="28575">
            <a:solidFill>
              <a:srgbClr val="F29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466330" y="5352415"/>
            <a:ext cx="66471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汇报人：S202513003 </a:t>
            </a:r>
            <a:r>
              <a:rPr lang="zh-CN" altLang="en-US" sz="16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Noto Sans SC" panose="020B0200000000000000" charset="-122"/>
              </a:rPr>
              <a:t>龚柏荣</a:t>
            </a:r>
            <a:endParaRPr lang="zh-CN" altLang="en-US" sz="16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endParaRPr lang="zh-CN" altLang="en-US" sz="16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74745" y="3823335"/>
            <a:ext cx="66471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SzTx/>
            </a:pPr>
            <a:endParaRPr lang="en-US" altLang="zh-CN" sz="10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endParaRPr lang="en-US" altLang="zh-CN" sz="16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  <a:p>
            <a:endParaRPr lang="zh-CN" altLang="en-US" sz="1600" b="0" i="0" u="none" strike="noStrike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-45085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9408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1999" y="149225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635000" cy="381000"/>
          </a:xfrm>
          <a:prstGeom prst="roundRect">
            <a:avLst>
              <a:gd name="adj" fmla="val 16666"/>
            </a:avLst>
          </a:prstGeom>
          <a:solidFill>
            <a:srgbClr val="005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1778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1778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329"/>
                </a:solidFill>
                <a:ea typeface="Noto Sans SC" panose="020B0200000000000000" charset="-122"/>
              </a:rPr>
              <a:t>背景与挑战</a:t>
            </a:r>
            <a:endParaRPr lang="en-US" sz="2000" b="1" dirty="0">
              <a:solidFill>
                <a:srgbClr val="1F2329"/>
              </a:solidFill>
              <a:ea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2603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12"/>
          <p:cNvSpPr/>
          <p:nvPr/>
        </p:nvSpPr>
        <p:spPr>
          <a:xfrm>
            <a:off x="1016000" y="2857500"/>
            <a:ext cx="635000" cy="381000"/>
          </a:xfrm>
          <a:prstGeom prst="roundRect">
            <a:avLst>
              <a:gd name="adj" fmla="val 16666"/>
            </a:avLst>
          </a:prstGeom>
          <a:solidFill>
            <a:srgbClr val="005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2857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2857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329"/>
                </a:solidFill>
                <a:ea typeface="Noto Sans SC" panose="020B0200000000000000" charset="-122"/>
                <a:sym typeface="Noto Sans SC" panose="020B0200000000000000" charset="-122"/>
              </a:rPr>
              <a:t>论文思路框架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3683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3937000"/>
            <a:ext cx="635000" cy="381000"/>
          </a:xfrm>
          <a:prstGeom prst="roundRect">
            <a:avLst>
              <a:gd name="adj" fmla="val 16666"/>
            </a:avLst>
          </a:prstGeom>
          <a:solidFill>
            <a:srgbClr val="005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39370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3937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762000" y="4762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5F7FA">
              <a:alpha val="100000"/>
            </a:srgbClr>
          </a:solidFill>
          <a:ln cap="flat" cmpd="sng">
            <a:solidFill>
              <a:srgbClr val="C6D0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016500"/>
            <a:ext cx="635000" cy="381000"/>
          </a:xfrm>
          <a:prstGeom prst="roundRect">
            <a:avLst>
              <a:gd name="adj" fmla="val 16666"/>
            </a:avLst>
          </a:prstGeom>
          <a:solidFill>
            <a:srgbClr val="0052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1016000" y="5016500"/>
            <a:ext cx="63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5016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特征压缩与降维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66675" y="71755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5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研究背景与挑战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4996774" cy="27051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AutoShape 6"/>
          <p:cNvSpPr/>
          <p:nvPr/>
        </p:nvSpPr>
        <p:spPr>
          <a:xfrm>
            <a:off x="1016000" y="14859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血糖预测的数据类型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97668" y="1422400"/>
            <a:ext cx="5044331" cy="313203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>
              <a:buAutoNum type="arabicPeriod"/>
              <a:defRPr/>
            </a:pPr>
            <a:r>
              <a:rPr lang="zh-CN" altLang="en-US" dirty="0"/>
              <a:t>结构化表格：诊断、实验室结果、剂量记录（</a:t>
            </a:r>
            <a:r>
              <a:rPr lang="en-US" altLang="zh-CN" dirty="0"/>
              <a:t>EHR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AutoNum type="arabicPeriod"/>
              <a:defRPr/>
            </a:pPr>
            <a:endParaRPr lang="en-US" altLang="zh-CN" dirty="0"/>
          </a:p>
          <a:p>
            <a:pPr marL="342900" indent="-342900">
              <a:buAutoNum type="arabicPeriod"/>
              <a:defRPr/>
            </a:pPr>
            <a:r>
              <a:rPr lang="zh-CN" altLang="en-US" dirty="0"/>
              <a:t>图像：餐食照片（碳水估计）、</a:t>
            </a:r>
            <a:r>
              <a:rPr lang="en-US" altLang="zh-CN" dirty="0"/>
              <a:t>CGM </a:t>
            </a:r>
            <a:r>
              <a:rPr lang="zh-CN" altLang="en-US" dirty="0"/>
              <a:t>设备</a:t>
            </a:r>
            <a:endParaRPr lang="en-US" altLang="zh-CN" dirty="0"/>
          </a:p>
          <a:p>
            <a:pPr marL="342900" indent="-342900">
              <a:buAutoNum type="arabicPeriod"/>
              <a:defRPr/>
            </a:pPr>
            <a:endParaRPr lang="en-US" altLang="zh-CN" dirty="0"/>
          </a:p>
          <a:p>
            <a:pPr marL="342900" indent="-342900">
              <a:buAutoNum type="arabicPeriod"/>
              <a:defRPr/>
            </a:pPr>
            <a:r>
              <a:rPr lang="zh-CN" altLang="en-US" dirty="0"/>
              <a:t>音频：语音日志</a:t>
            </a:r>
            <a:r>
              <a:rPr lang="en-US" altLang="zh-CN" dirty="0"/>
              <a:t>/</a:t>
            </a:r>
            <a:r>
              <a:rPr lang="zh-CN" altLang="en-US" dirty="0"/>
              <a:t>语音问诊</a:t>
            </a:r>
            <a:endParaRPr lang="en-US" altLang="zh-CN" dirty="0"/>
          </a:p>
          <a:p>
            <a:pPr marL="342900" indent="-342900">
              <a:buAutoNum type="arabicPeriod"/>
              <a:defRPr/>
            </a:pPr>
            <a:endParaRPr lang="en-US" altLang="zh-CN" dirty="0"/>
          </a:p>
          <a:p>
            <a:pPr marL="342900" indent="-342900">
              <a:buFont typeface="Arial" panose="020B0604020202020204"/>
              <a:buAutoNum type="arabicPeriod"/>
              <a:defRPr/>
            </a:pPr>
            <a:r>
              <a:rPr lang="zh-CN" altLang="en-US" dirty="0"/>
              <a:t>文本：饮食</a:t>
            </a:r>
            <a:r>
              <a:rPr lang="en-US" altLang="zh-CN" dirty="0"/>
              <a:t>/</a:t>
            </a:r>
            <a:r>
              <a:rPr lang="zh-CN" altLang="en-US" dirty="0"/>
              <a:t>症状</a:t>
            </a:r>
            <a:r>
              <a:rPr lang="en-US" altLang="zh-CN" dirty="0"/>
              <a:t>/</a:t>
            </a:r>
            <a:r>
              <a:rPr lang="zh-CN" altLang="en-US" dirty="0"/>
              <a:t>注释、医疗记录、日记（需 </a:t>
            </a:r>
            <a:r>
              <a:rPr lang="en-US" altLang="zh-CN" dirty="0"/>
              <a:t>NLP </a:t>
            </a:r>
            <a:r>
              <a:rPr lang="zh-CN" altLang="en-US" dirty="0"/>
              <a:t>解析）</a:t>
            </a:r>
          </a:p>
          <a:p>
            <a:pPr marL="342900" indent="-342900">
              <a:buAutoNum type="arabicPeriod"/>
              <a:defRPr/>
            </a:pPr>
            <a:endParaRPr lang="en-US" altLang="zh-CN" dirty="0"/>
          </a:p>
          <a:p>
            <a:pPr marL="342900" indent="-342900">
              <a:buFont typeface="Arial" panose="020B0604020202020204"/>
              <a:buAutoNum type="arabicPeriod"/>
              <a:defRPr/>
            </a:pPr>
            <a:r>
              <a:rPr lang="zh-CN" altLang="en-US" dirty="0"/>
              <a:t>时序数据（核心）：</a:t>
            </a:r>
            <a:r>
              <a:rPr lang="en-US" altLang="zh-CN" dirty="0"/>
              <a:t>CGM</a:t>
            </a:r>
            <a:r>
              <a:rPr lang="zh-CN" altLang="en-US" dirty="0"/>
              <a:t>（高频）、胰岛素注射数据</a:t>
            </a:r>
            <a:endParaRPr lang="en-US" altLang="zh-CN" dirty="0"/>
          </a:p>
          <a:p>
            <a:pPr marL="342900" indent="-342900">
              <a:buAutoNum type="arabicPeriod"/>
              <a:defRPr/>
            </a:pPr>
            <a:endParaRPr lang="en-US" altLang="zh-CN" dirty="0"/>
          </a:p>
        </p:txBody>
      </p:sp>
      <p:sp>
        <p:nvSpPr>
          <p:cNvPr id="8" name="AutoShape 8"/>
          <p:cNvSpPr/>
          <p:nvPr/>
        </p:nvSpPr>
        <p:spPr>
          <a:xfrm>
            <a:off x="6096000" y="1397000"/>
            <a:ext cx="5207540" cy="299693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0" name="AutoShape 10"/>
          <p:cNvSpPr/>
          <p:nvPr/>
        </p:nvSpPr>
        <p:spPr>
          <a:xfrm>
            <a:off x="6441873" y="1509693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主要面临的挑战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6949873" y="1890693"/>
            <a:ext cx="406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1832E48-7738-0E28-9537-03CA12FEACDB}"/>
              </a:ext>
            </a:extLst>
          </p:cNvPr>
          <p:cNvSpPr txBox="1"/>
          <p:nvPr/>
        </p:nvSpPr>
        <p:spPr>
          <a:xfrm>
            <a:off x="6096000" y="1839893"/>
            <a:ext cx="50837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高维：多模态与长时间窗口导致特征维数大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稀疏：事件（餐、注射、手动记录）不连续或丢失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噪声：</a:t>
            </a:r>
            <a:r>
              <a:rPr lang="en-US" altLang="zh-CN" dirty="0"/>
              <a:t>CGM </a:t>
            </a:r>
            <a:r>
              <a:rPr lang="zh-CN" altLang="en-US" dirty="0"/>
              <a:t>测量误差、用户手工输入不精确（碳水估计）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不平衡：低血糖事件稀少，但临床重要性高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计算</a:t>
            </a:r>
            <a:r>
              <a:rPr lang="en-US" altLang="zh-CN" dirty="0"/>
              <a:t>/</a:t>
            </a:r>
            <a:r>
              <a:rPr lang="zh-CN" altLang="en-US" dirty="0"/>
              <a:t>存储限制：边缘设备与移动应用的资源受限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实时需求：预警</a:t>
            </a:r>
            <a:r>
              <a:rPr lang="en-US" altLang="zh-CN" dirty="0"/>
              <a:t>/</a:t>
            </a:r>
            <a:r>
              <a:rPr lang="zh-CN" altLang="en-US" dirty="0"/>
              <a:t>闭环系统对延迟敏感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D9EA5D-C87E-79F2-1E35-B2B06C0A820C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论文思路框架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166D94B-F032-EB4B-7901-8046CF895595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E4990A0-E8D0-37A9-8C67-571A60637E76}"/>
              </a:ext>
            </a:extLst>
          </p:cNvPr>
          <p:cNvSpPr txBox="1"/>
          <p:nvPr/>
        </p:nvSpPr>
        <p:spPr>
          <a:xfrm>
            <a:off x="762000" y="1391055"/>
            <a:ext cx="958336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作者把血糖预测</a:t>
            </a:r>
            <a:r>
              <a:rPr lang="en-US" altLang="zh-CN" dirty="0"/>
              <a:t>/</a:t>
            </a:r>
            <a:r>
              <a:rPr lang="zh-CN" altLang="en-US" dirty="0"/>
              <a:t>事件检测看作一个回归与分类混合问题：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首先通过系统化的特征提取得到高质量表示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之后再用降维</a:t>
            </a:r>
            <a:r>
              <a:rPr lang="en-US" altLang="zh-CN" dirty="0"/>
              <a:t>/</a:t>
            </a:r>
            <a:r>
              <a:rPr lang="zh-CN" altLang="en-US" dirty="0"/>
              <a:t>量化</a:t>
            </a:r>
            <a:r>
              <a:rPr lang="en-US" altLang="zh-CN" dirty="0"/>
              <a:t>/</a:t>
            </a:r>
            <a:r>
              <a:rPr lang="zh-CN" altLang="en-US" dirty="0"/>
              <a:t>蒸馏等压缩手段在保证临床性能（低血糖召回、</a:t>
            </a:r>
            <a:r>
              <a:rPr lang="en-US" altLang="zh-CN" dirty="0"/>
              <a:t>Clarke grid A/B </a:t>
            </a:r>
            <a:r>
              <a:rPr lang="zh-CN" altLang="en-US" dirty="0"/>
              <a:t>等）前提下满足延迟与存储约束。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最后将这个基于机器学习的血糖检测系统部署到</a:t>
            </a:r>
            <a:r>
              <a:rPr lang="en-US" altLang="zh-CN" dirty="0"/>
              <a:t>WEB</a:t>
            </a:r>
            <a:r>
              <a:rPr lang="zh-CN" altLang="en-US" dirty="0"/>
              <a:t>端。</a:t>
            </a:r>
          </a:p>
          <a:p>
            <a:endParaRPr lang="zh-CN" alt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3D8910A-FF28-BDBE-32C6-265D12A5C744}"/>
              </a:ext>
            </a:extLst>
          </p:cNvPr>
          <p:cNvSpPr/>
          <p:nvPr/>
        </p:nvSpPr>
        <p:spPr>
          <a:xfrm>
            <a:off x="1275945" y="3176081"/>
            <a:ext cx="9640110" cy="2295728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F90CE7-6F96-80D0-EF24-67204803A786}"/>
              </a:ext>
            </a:extLst>
          </p:cNvPr>
          <p:cNvSpPr txBox="1"/>
          <p:nvPr/>
        </p:nvSpPr>
        <p:spPr>
          <a:xfrm>
            <a:off x="1473740" y="3429000"/>
            <a:ext cx="9372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任务类型：短期回归（预测未来 </a:t>
            </a:r>
            <a:r>
              <a:rPr lang="en-US" altLang="zh-CN" dirty="0"/>
              <a:t>60 min </a:t>
            </a:r>
            <a:r>
              <a:rPr lang="zh-CN" altLang="en-US" dirty="0"/>
              <a:t>的血糖值） → 可衍生出分类任务（是否会发生低血糖</a:t>
            </a:r>
            <a:r>
              <a:rPr lang="en-US" altLang="zh-CN" dirty="0"/>
              <a:t>/</a:t>
            </a:r>
            <a:r>
              <a:rPr lang="zh-CN" altLang="en-US" dirty="0"/>
              <a:t>高血糖）。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血糖分类为：二分类／不平衡分类问题。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这里主要关注论文的数据分类（事件识别</a:t>
            </a:r>
            <a:r>
              <a:rPr lang="en-US" altLang="zh-CN" dirty="0"/>
              <a:t>/</a:t>
            </a:r>
            <a:r>
              <a:rPr lang="zh-CN" altLang="en-US" dirty="0"/>
              <a:t>标签构造）、特征提取（手工</a:t>
            </a:r>
            <a:r>
              <a:rPr lang="en-US" altLang="zh-CN" dirty="0"/>
              <a:t>/</a:t>
            </a:r>
            <a:r>
              <a:rPr lang="zh-CN" altLang="en-US" dirty="0"/>
              <a:t>表示学习）、压缩（特征降维</a:t>
            </a:r>
            <a:r>
              <a:rPr lang="en-US" altLang="zh-CN" dirty="0"/>
              <a:t>/</a:t>
            </a:r>
            <a:r>
              <a:rPr lang="zh-CN" altLang="en-US" dirty="0"/>
              <a:t>模型压缩</a:t>
            </a:r>
            <a:r>
              <a:rPr lang="en-US" altLang="zh-CN" dirty="0"/>
              <a:t>/</a:t>
            </a:r>
            <a:r>
              <a:rPr lang="zh-CN" altLang="en-US" dirty="0"/>
              <a:t>量化）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AutoShape 19">
            <a:extLst>
              <a:ext uri="{FF2B5EF4-FFF2-40B4-BE49-F238E27FC236}">
                <a16:creationId xmlns:a16="http://schemas.microsoft.com/office/drawing/2014/main" id="{A99D94EF-874F-FFB6-743C-54A3A5B2F5F1}"/>
              </a:ext>
            </a:extLst>
          </p:cNvPr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856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9">
            <a:extLst>
              <a:ext uri="{FF2B5EF4-FFF2-40B4-BE49-F238E27FC236}">
                <a16:creationId xmlns:a16="http://schemas.microsoft.com/office/drawing/2014/main" id="{54F0F21E-3DAC-188E-9F91-5734F0944E0E}"/>
              </a:ext>
            </a:extLst>
          </p:cNvPr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3F9264E-CECA-0194-6792-3BCBE098E033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9260D079-E1B4-8F36-FC30-4D6E79BF985C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08D3E895-CCCD-B108-0B66-03847FDCEC66}"/>
              </a:ext>
            </a:extLst>
          </p:cNvPr>
          <p:cNvSpPr/>
          <p:nvPr/>
        </p:nvSpPr>
        <p:spPr>
          <a:xfrm>
            <a:off x="324256" y="1396999"/>
            <a:ext cx="11475395" cy="42926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D45816-5EAA-D9B0-54CB-4754DD58EA05}"/>
              </a:ext>
            </a:extLst>
          </p:cNvPr>
          <p:cNvSpPr txBox="1"/>
          <p:nvPr/>
        </p:nvSpPr>
        <p:spPr>
          <a:xfrm>
            <a:off x="836579" y="1556426"/>
            <a:ext cx="109290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手工特征（强可解释、工程友好）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  <a:p>
            <a:r>
              <a:rPr lang="zh-CN" altLang="en-US" dirty="0"/>
              <a:t>核心类别：</a:t>
            </a:r>
            <a:endParaRPr lang="en-US" altLang="zh-CN" dirty="0"/>
          </a:p>
          <a:p>
            <a:endParaRPr lang="zh-CN" altLang="en-US" dirty="0"/>
          </a:p>
          <a:p>
            <a:pPr lvl="1"/>
            <a:r>
              <a:rPr lang="en-US" altLang="zh-CN" dirty="0"/>
              <a:t>       - </a:t>
            </a:r>
            <a:r>
              <a:rPr lang="zh-CN" altLang="en-US" dirty="0"/>
              <a:t>窗口统计：</a:t>
            </a:r>
            <a:r>
              <a:rPr lang="en-US" altLang="zh-CN" dirty="0"/>
              <a:t>mean/std/min/max/median</a:t>
            </a:r>
            <a:r>
              <a:rPr lang="zh-CN" altLang="en-US" dirty="0"/>
              <a:t>、线性斜率（多个尺度：</a:t>
            </a:r>
            <a:r>
              <a:rPr lang="en-US" altLang="zh-CN" dirty="0"/>
              <a:t>5/30/60/120 min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       </a:t>
            </a:r>
            <a:r>
              <a:rPr lang="en-US" altLang="zh-CN" dirty="0"/>
              <a:t>- </a:t>
            </a:r>
            <a:r>
              <a:rPr lang="zh-CN" altLang="en-US" dirty="0"/>
              <a:t>事件驱动：</a:t>
            </a:r>
            <a:r>
              <a:rPr lang="en-US" altLang="zh-CN" dirty="0" err="1"/>
              <a:t>time_since_last_meal</a:t>
            </a:r>
            <a:r>
              <a:rPr lang="zh-CN" altLang="en-US" dirty="0"/>
              <a:t>、</a:t>
            </a:r>
            <a:r>
              <a:rPr lang="en-US" altLang="zh-CN" dirty="0" err="1"/>
              <a:t>time_since_last_insulin</a:t>
            </a:r>
            <a:r>
              <a:rPr lang="zh-CN" altLang="en-US" dirty="0"/>
              <a:t>、</a:t>
            </a:r>
            <a:r>
              <a:rPr lang="en-US" altLang="zh-CN" dirty="0"/>
              <a:t>IOB </a:t>
            </a:r>
            <a:r>
              <a:rPr lang="zh-CN" altLang="en-US" dirty="0"/>
              <a:t>当前值与累积、</a:t>
            </a:r>
            <a:r>
              <a:rPr lang="en-US" altLang="zh-CN" dirty="0" err="1"/>
              <a:t>recent_carbs_sum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       - </a:t>
            </a:r>
            <a:r>
              <a:rPr lang="zh-CN" altLang="en-US" dirty="0"/>
              <a:t>时序模式：</a:t>
            </a:r>
            <a:r>
              <a:rPr lang="en-US" altLang="zh-CN" dirty="0" err="1"/>
              <a:t>peak_height_after_meal</a:t>
            </a:r>
            <a:r>
              <a:rPr lang="zh-CN" altLang="en-US" dirty="0"/>
              <a:t>、</a:t>
            </a:r>
            <a:r>
              <a:rPr lang="en-US" altLang="zh-CN" dirty="0" err="1"/>
              <a:t>time_to_peak</a:t>
            </a:r>
            <a:r>
              <a:rPr lang="zh-CN" altLang="en-US" dirty="0"/>
              <a:t>估计、</a:t>
            </a:r>
            <a:r>
              <a:rPr lang="en-US" altLang="zh-CN" dirty="0" err="1"/>
              <a:t>decay_rate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       </a:t>
            </a:r>
            <a:r>
              <a:rPr lang="en-US" altLang="zh-CN" dirty="0"/>
              <a:t>- </a:t>
            </a:r>
            <a:r>
              <a:rPr lang="zh-CN" altLang="en-US" dirty="0"/>
              <a:t>周期</a:t>
            </a:r>
            <a:r>
              <a:rPr lang="en-US" altLang="zh-CN" dirty="0"/>
              <a:t>/</a:t>
            </a:r>
            <a:r>
              <a:rPr lang="zh-CN" altLang="en-US" dirty="0"/>
              <a:t>上下文：</a:t>
            </a:r>
            <a:r>
              <a:rPr lang="en-US" altLang="zh-CN" dirty="0" err="1"/>
              <a:t>hour_of_day</a:t>
            </a:r>
            <a:r>
              <a:rPr lang="en-US" altLang="zh-CN" dirty="0"/>
              <a:t> sin/cos</a:t>
            </a:r>
            <a:r>
              <a:rPr lang="zh-CN" altLang="en-US" dirty="0"/>
              <a:t>、</a:t>
            </a:r>
            <a:r>
              <a:rPr lang="en-US" altLang="zh-CN" dirty="0"/>
              <a:t>weekday</a:t>
            </a:r>
            <a:r>
              <a:rPr lang="zh-CN" altLang="en-US" dirty="0"/>
              <a:t>、睡眠</a:t>
            </a:r>
            <a:r>
              <a:rPr lang="en-US" altLang="zh-CN" dirty="0"/>
              <a:t>/</a:t>
            </a:r>
            <a:r>
              <a:rPr lang="zh-CN" altLang="en-US" dirty="0"/>
              <a:t>活动段标志</a:t>
            </a:r>
          </a:p>
          <a:p>
            <a:endParaRPr lang="en-US" altLang="zh-CN" dirty="0"/>
          </a:p>
          <a:p>
            <a:r>
              <a:rPr lang="zh-CN" altLang="en-US" dirty="0"/>
              <a:t>工程要点：</a:t>
            </a:r>
            <a:endParaRPr lang="en-US" altLang="zh-CN" dirty="0"/>
          </a:p>
          <a:p>
            <a:endParaRPr lang="zh-CN" altLang="en-US" dirty="0"/>
          </a:p>
          <a:p>
            <a:pPr lvl="1"/>
            <a:r>
              <a:rPr lang="zh-CN" altLang="en-US" dirty="0"/>
              <a:t>每个统计必须仅用窗口内“过去”数据（避免时间泄露）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缺失处理：缺失掩码 </a:t>
            </a:r>
            <a:r>
              <a:rPr lang="en-US" altLang="zh-CN" dirty="0"/>
              <a:t>+ </a:t>
            </a:r>
            <a:r>
              <a:rPr lang="zh-CN" altLang="en-US" dirty="0"/>
              <a:t>缺失指示位（模型可学习“缺失即信息”）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对高基数类别（食物类型、药物）优先用 </a:t>
            </a:r>
            <a:r>
              <a:rPr lang="en-US" altLang="zh-CN" dirty="0"/>
              <a:t>target encoding </a:t>
            </a:r>
            <a:r>
              <a:rPr lang="zh-CN" altLang="en-US" dirty="0"/>
              <a:t>或 </a:t>
            </a:r>
            <a:r>
              <a:rPr lang="en-US" altLang="zh-CN" dirty="0"/>
              <a:t>embedding </a:t>
            </a:r>
            <a:r>
              <a:rPr lang="zh-CN" altLang="en-US" dirty="0"/>
              <a:t>而非 </a:t>
            </a:r>
            <a:r>
              <a:rPr lang="en-US" altLang="zh-CN" dirty="0"/>
              <a:t>one-hot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19398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9">
            <a:extLst>
              <a:ext uri="{FF2B5EF4-FFF2-40B4-BE49-F238E27FC236}">
                <a16:creationId xmlns:a16="http://schemas.microsoft.com/office/drawing/2014/main" id="{86D5EE37-3BCC-7CFC-A322-C3F61466764F}"/>
              </a:ext>
            </a:extLst>
          </p:cNvPr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BBB2843-858F-F71F-AC70-E05D119AF569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036604BF-06FC-D853-E8D7-72E688271522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7EF7682-BA92-4F79-8FD8-E5AD6812888A}"/>
              </a:ext>
            </a:extLst>
          </p:cNvPr>
          <p:cNvSpPr/>
          <p:nvPr/>
        </p:nvSpPr>
        <p:spPr>
          <a:xfrm>
            <a:off x="324256" y="1396999"/>
            <a:ext cx="11475395" cy="42926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398359-DE13-F394-327C-80B7878E513A}"/>
              </a:ext>
            </a:extLst>
          </p:cNvPr>
          <p:cNvSpPr txBox="1"/>
          <p:nvPr/>
        </p:nvSpPr>
        <p:spPr>
          <a:xfrm>
            <a:off x="836579" y="1556426"/>
            <a:ext cx="109290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zh-CN" altLang="en-US" dirty="0"/>
              <a:t>表示学习（深度特征）</a:t>
            </a:r>
            <a:endParaRPr lang="en-US" altLang="zh-CN" dirty="0"/>
          </a:p>
          <a:p>
            <a:pPr marL="342900" indent="-342900">
              <a:buAutoNum type="arabicPeriod"/>
            </a:pPr>
            <a:endParaRPr lang="zh-CN" altLang="en-US" dirty="0"/>
          </a:p>
          <a:p>
            <a:r>
              <a:rPr lang="zh-CN" altLang="en-US" dirty="0"/>
              <a:t>适用场景：原始时序（</a:t>
            </a:r>
            <a:r>
              <a:rPr lang="en-US" altLang="zh-CN" dirty="0"/>
              <a:t>CGM</a:t>
            </a:r>
            <a:r>
              <a:rPr lang="zh-CN" altLang="en-US" dirty="0"/>
              <a:t>、</a:t>
            </a:r>
            <a:r>
              <a:rPr lang="en-US" altLang="zh-CN" dirty="0"/>
              <a:t>IOB</a:t>
            </a:r>
            <a:r>
              <a:rPr lang="zh-CN" altLang="en-US" dirty="0"/>
              <a:t>、</a:t>
            </a:r>
            <a:r>
              <a:rPr lang="en-US" altLang="zh-CN" dirty="0"/>
              <a:t>HR</a:t>
            </a:r>
            <a:r>
              <a:rPr lang="zh-CN" altLang="en-US" dirty="0"/>
              <a:t>）长度大、数据量大、或需捕捉复杂动态模式</a:t>
            </a:r>
          </a:p>
          <a:p>
            <a:endParaRPr lang="en-US" altLang="zh-CN" dirty="0"/>
          </a:p>
          <a:p>
            <a:r>
              <a:rPr lang="zh-CN" altLang="en-US" dirty="0"/>
              <a:t>常用架构：</a:t>
            </a:r>
          </a:p>
          <a:p>
            <a:pPr lvl="3"/>
            <a:r>
              <a:rPr lang="en-US" altLang="zh-CN" dirty="0"/>
              <a:t>	- 1D‑CNN / TCN</a:t>
            </a:r>
            <a:r>
              <a:rPr lang="zh-CN" altLang="en-US" dirty="0"/>
              <a:t>（局部模式，延迟低）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en-US" altLang="zh-CN" dirty="0"/>
              <a:t>	- LSTM / </a:t>
            </a:r>
            <a:r>
              <a:rPr lang="en-US" altLang="zh-CN" dirty="0" err="1"/>
              <a:t>BiLSTM</a:t>
            </a:r>
            <a:r>
              <a:rPr lang="zh-CN" altLang="en-US" dirty="0"/>
              <a:t>（序列依赖）</a:t>
            </a:r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en-US" altLang="zh-CN" dirty="0"/>
              <a:t>	- Transformer</a:t>
            </a:r>
            <a:r>
              <a:rPr lang="zh-CN" altLang="en-US" dirty="0"/>
              <a:t>（长依赖，</a:t>
            </a:r>
            <a:r>
              <a:rPr lang="en-US" altLang="zh-CN" dirty="0"/>
              <a:t>attention </a:t>
            </a:r>
            <a:r>
              <a:rPr lang="zh-CN" altLang="en-US" dirty="0"/>
              <a:t>可解释性）</a:t>
            </a:r>
          </a:p>
          <a:p>
            <a:endParaRPr lang="zh-CN" altLang="en-US" dirty="0"/>
          </a:p>
          <a:p>
            <a:r>
              <a:rPr lang="zh-CN" altLang="en-US" dirty="0"/>
              <a:t>训练方式：</a:t>
            </a:r>
            <a:endParaRPr lang="en-US" altLang="zh-CN" dirty="0"/>
          </a:p>
          <a:p>
            <a:endParaRPr lang="zh-CN" altLang="en-US" dirty="0"/>
          </a:p>
          <a:p>
            <a:pPr lvl="1"/>
            <a:r>
              <a:rPr lang="en-US" altLang="zh-CN" dirty="0"/>
              <a:t>	- </a:t>
            </a:r>
            <a:r>
              <a:rPr lang="zh-CN" altLang="en-US" dirty="0"/>
              <a:t>监督训练（直接最小化回归</a:t>
            </a:r>
            <a:r>
              <a:rPr lang="en-US" altLang="zh-CN" dirty="0"/>
              <a:t>/</a:t>
            </a:r>
            <a:r>
              <a:rPr lang="zh-CN" altLang="en-US" dirty="0"/>
              <a:t>分类 </a:t>
            </a:r>
            <a:r>
              <a:rPr lang="en-US" altLang="zh-CN" dirty="0"/>
              <a:t>loss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en-US" altLang="zh-CN" dirty="0"/>
              <a:t>	- </a:t>
            </a:r>
            <a:r>
              <a:rPr lang="zh-CN" altLang="en-US" dirty="0"/>
              <a:t>自监督 </a:t>
            </a:r>
            <a:r>
              <a:rPr lang="en-US" altLang="zh-CN" dirty="0"/>
              <a:t>/ </a:t>
            </a:r>
            <a:r>
              <a:rPr lang="zh-CN" altLang="en-US" dirty="0"/>
              <a:t>对比学习（</a:t>
            </a:r>
            <a:r>
              <a:rPr lang="en-US" altLang="zh-CN" dirty="0"/>
              <a:t>TS2Vec</a:t>
            </a:r>
            <a:r>
              <a:rPr lang="zh-CN" altLang="en-US" dirty="0"/>
              <a:t>、</a:t>
            </a:r>
            <a:r>
              <a:rPr lang="en-US" altLang="zh-CN" dirty="0" err="1"/>
              <a:t>SimCLR</a:t>
            </a:r>
            <a:r>
              <a:rPr lang="en-US" altLang="zh-CN" dirty="0"/>
              <a:t>/</a:t>
            </a:r>
            <a:r>
              <a:rPr lang="zh-CN" altLang="en-US" dirty="0"/>
              <a:t>改编、</a:t>
            </a:r>
            <a:r>
              <a:rPr lang="en-US" altLang="zh-CN" dirty="0"/>
              <a:t>CPC</a:t>
            </a:r>
            <a:r>
              <a:rPr lang="zh-CN" altLang="en-US" dirty="0"/>
              <a:t>）用于无标签历史数据预训练</a:t>
            </a:r>
          </a:p>
        </p:txBody>
      </p:sp>
    </p:spTree>
    <p:extLst>
      <p:ext uri="{BB962C8B-B14F-4D97-AF65-F5344CB8AC3E}">
        <p14:creationId xmlns:p14="http://schemas.microsoft.com/office/powerpoint/2010/main" val="3144682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9">
            <a:extLst>
              <a:ext uri="{FF2B5EF4-FFF2-40B4-BE49-F238E27FC236}">
                <a16:creationId xmlns:a16="http://schemas.microsoft.com/office/drawing/2014/main" id="{0F6E6EB0-C54D-A77B-B3D5-26DCD06DA831}"/>
              </a:ext>
            </a:extLst>
          </p:cNvPr>
          <p:cNvSpPr/>
          <p:nvPr/>
        </p:nvSpPr>
        <p:spPr>
          <a:xfrm>
            <a:off x="762000" y="6498617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C686142-7D20-4B3D-D003-5D9931379854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45D2AF88-5886-A454-597E-D39C29DBDF2C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D898B24-14C3-50E5-0B15-ED08EB9B7BE2}"/>
              </a:ext>
            </a:extLst>
          </p:cNvPr>
          <p:cNvSpPr/>
          <p:nvPr/>
        </p:nvSpPr>
        <p:spPr>
          <a:xfrm>
            <a:off x="324256" y="1396999"/>
            <a:ext cx="11475395" cy="4856804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D0E04F-9938-4E90-1484-F3288FB8ABDA}"/>
              </a:ext>
            </a:extLst>
          </p:cNvPr>
          <p:cNvSpPr txBox="1"/>
          <p:nvPr/>
        </p:nvSpPr>
        <p:spPr>
          <a:xfrm>
            <a:off x="476655" y="1575881"/>
            <a:ext cx="1128894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3"/>
            </a:pPr>
            <a:r>
              <a:rPr lang="zh-CN" altLang="en-US" dirty="0"/>
              <a:t>在血糖预测中，采用“混合特征</a:t>
            </a:r>
            <a:r>
              <a:rPr lang="en-US" altLang="zh-CN" dirty="0"/>
              <a:t>”</a:t>
            </a:r>
            <a:r>
              <a:rPr lang="zh-CN" altLang="en-US" dirty="0"/>
              <a:t>策略</a:t>
            </a:r>
            <a:endParaRPr lang="en-US" altLang="zh-CN" dirty="0"/>
          </a:p>
          <a:p>
            <a:pPr marL="342900" indent="-342900">
              <a:buAutoNum type="arabicPeriod" startAt="3"/>
            </a:pPr>
            <a:endParaRPr lang="zh-CN" altLang="en-US" dirty="0"/>
          </a:p>
          <a:p>
            <a:r>
              <a:rPr lang="en-US" altLang="zh-CN" dirty="0"/>
              <a:t>    </a:t>
            </a:r>
            <a:r>
              <a:rPr lang="zh-CN" altLang="en-US" dirty="0"/>
              <a:t>将强可解释的手工特征（窗口统计、事件驱动、时序</a:t>
            </a:r>
            <a:r>
              <a:rPr lang="en-US" altLang="zh-CN" dirty="0"/>
              <a:t>/</a:t>
            </a:r>
            <a:r>
              <a:rPr lang="zh-CN" altLang="en-US" dirty="0"/>
              <a:t>生理特征、周期上下文）与深度学习学得的时序表示</a:t>
            </a:r>
            <a:r>
              <a:rPr lang="en-US" altLang="zh-CN" dirty="0"/>
              <a:t>1D‑CNN/TCN/LSTM/Transformer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拼接后输入 </a:t>
            </a:r>
            <a:r>
              <a:rPr lang="en-US" altLang="zh-CN" dirty="0"/>
              <a:t>head</a:t>
            </a:r>
            <a:r>
              <a:rPr lang="zh-CN" altLang="en-US" dirty="0"/>
              <a:t>（</a:t>
            </a:r>
            <a:r>
              <a:rPr lang="en-US" altLang="zh-CN" dirty="0"/>
              <a:t>MLP </a:t>
            </a:r>
            <a:r>
              <a:rPr lang="zh-CN" altLang="en-US" dirty="0"/>
              <a:t>或 </a:t>
            </a:r>
            <a:r>
              <a:rPr lang="en-US" altLang="zh-CN" dirty="0"/>
              <a:t>GBDT/</a:t>
            </a:r>
            <a:r>
              <a:rPr lang="en-US" altLang="zh-CN" dirty="0" err="1"/>
              <a:t>LightGBM</a:t>
            </a:r>
            <a:r>
              <a:rPr lang="zh-CN" altLang="en-US" dirty="0"/>
              <a:t>）。这样既保留临床可解释性，也提高对复杂动态模式的捕捉能力。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78C787-1FC1-3781-D5F2-FC48FC24170B}"/>
              </a:ext>
            </a:extLst>
          </p:cNvPr>
          <p:cNvSpPr txBox="1"/>
          <p:nvPr/>
        </p:nvSpPr>
        <p:spPr>
          <a:xfrm>
            <a:off x="607979" y="2924314"/>
            <a:ext cx="5369668" cy="361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先看手工特征：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数据输入：时间序列，含时间戳均为 </a:t>
            </a:r>
            <a:r>
              <a:rPr lang="en-US" altLang="zh-CN" dirty="0"/>
              <a:t>UTC </a:t>
            </a:r>
            <a:r>
              <a:rPr lang="zh-CN" altLang="en-US" dirty="0"/>
              <a:t>且同步</a:t>
            </a:r>
            <a:endParaRPr lang="en-US" altLang="zh-CN" dirty="0"/>
          </a:p>
          <a:p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en-US" altLang="zh-CN" dirty="0"/>
              <a:t>CGM</a:t>
            </a:r>
            <a:r>
              <a:rPr lang="zh-CN" altLang="en-US" dirty="0"/>
              <a:t>（连续血糖，每</a:t>
            </a:r>
            <a:r>
              <a:rPr lang="en-US" altLang="zh-CN" dirty="0"/>
              <a:t>5 </a:t>
            </a:r>
            <a:r>
              <a:rPr lang="zh-CN" altLang="en-US" dirty="0"/>
              <a:t>分钟</a:t>
            </a:r>
            <a:r>
              <a:rPr lang="en-US" altLang="zh-CN" dirty="0"/>
              <a:t>/</a:t>
            </a:r>
            <a:r>
              <a:rPr lang="zh-CN" altLang="en-US" dirty="0"/>
              <a:t>采样）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胰岛素注射</a:t>
            </a:r>
            <a:r>
              <a:rPr lang="en-US" altLang="zh-CN" dirty="0"/>
              <a:t>/</a:t>
            </a:r>
            <a:r>
              <a:rPr lang="zh-CN" altLang="en-US" dirty="0"/>
              <a:t>泵事件（剂量、类型：餐时</a:t>
            </a:r>
            <a:r>
              <a:rPr lang="en-US" altLang="zh-CN" dirty="0"/>
              <a:t>/</a:t>
            </a:r>
            <a:r>
              <a:rPr lang="zh-CN" altLang="en-US" dirty="0"/>
              <a:t>基础、速效</a:t>
            </a:r>
            <a:r>
              <a:rPr lang="en-US" altLang="zh-CN" dirty="0"/>
              <a:t>/</a:t>
            </a:r>
            <a:r>
              <a:rPr lang="zh-CN" altLang="en-US" dirty="0"/>
              <a:t>长效）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摄入碳水（</a:t>
            </a:r>
            <a:r>
              <a:rPr lang="en-US" altLang="zh-CN" dirty="0"/>
              <a:t>carbs</a:t>
            </a:r>
            <a:r>
              <a:rPr lang="zh-CN" altLang="en-US" dirty="0"/>
              <a:t>）与餐类型（餐</a:t>
            </a:r>
            <a:r>
              <a:rPr lang="en-US" altLang="zh-CN" dirty="0"/>
              <a:t>/</a:t>
            </a:r>
            <a:r>
              <a:rPr lang="zh-CN" altLang="en-US" dirty="0"/>
              <a:t>零食</a:t>
            </a:r>
            <a:r>
              <a:rPr lang="en-US" altLang="zh-CN" dirty="0"/>
              <a:t>/</a:t>
            </a:r>
            <a:r>
              <a:rPr lang="zh-CN" altLang="en-US" dirty="0"/>
              <a:t>饮料）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人体活动</a:t>
            </a:r>
            <a:r>
              <a:rPr lang="en-US" altLang="zh-CN" dirty="0"/>
              <a:t>/</a:t>
            </a:r>
            <a:r>
              <a:rPr lang="zh-CN" altLang="en-US" dirty="0"/>
              <a:t>运动、心率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en-US" altLang="zh-CN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睡眠段</a:t>
            </a:r>
            <a:r>
              <a:rPr lang="en-US" altLang="zh-CN" dirty="0"/>
              <a:t>/</a:t>
            </a:r>
            <a:r>
              <a:rPr lang="zh-CN" altLang="en-US" dirty="0"/>
              <a:t>醒段（或用加速度推断）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en-US" altLang="zh-CN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人口统计</a:t>
            </a:r>
            <a:r>
              <a:rPr lang="en-US" altLang="zh-CN" dirty="0"/>
              <a:t>/</a:t>
            </a:r>
            <a:r>
              <a:rPr lang="zh-CN" altLang="en-US" dirty="0"/>
              <a:t>体征（年龄、体重、胰岛素敏感性等）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76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9">
            <a:extLst>
              <a:ext uri="{FF2B5EF4-FFF2-40B4-BE49-F238E27FC236}">
                <a16:creationId xmlns:a16="http://schemas.microsoft.com/office/drawing/2014/main" id="{B1A7FCD6-4086-E31B-6138-427EC890ED16}"/>
              </a:ext>
            </a:extLst>
          </p:cNvPr>
          <p:cNvSpPr/>
          <p:nvPr/>
        </p:nvSpPr>
        <p:spPr>
          <a:xfrm>
            <a:off x="787129" y="6270017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C3A40D2-D339-F339-A097-3313A86B6AC6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3F9E40CB-AF73-7CFB-176E-BAF6D4816803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8E1A6F4E-94E3-1287-DABF-1C2A5CC3319D}"/>
              </a:ext>
            </a:extLst>
          </p:cNvPr>
          <p:cNvSpPr/>
          <p:nvPr/>
        </p:nvSpPr>
        <p:spPr>
          <a:xfrm>
            <a:off x="324256" y="1396999"/>
            <a:ext cx="11475395" cy="455822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6F6387-E5BA-D332-12CE-E0869A0BE26D}"/>
              </a:ext>
            </a:extLst>
          </p:cNvPr>
          <p:cNvSpPr txBox="1"/>
          <p:nvPr/>
        </p:nvSpPr>
        <p:spPr>
          <a:xfrm>
            <a:off x="671209" y="1955260"/>
            <a:ext cx="1078392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特征类别：</a:t>
            </a:r>
            <a:endParaRPr lang="en-US" altLang="zh-CN" dirty="0"/>
          </a:p>
          <a:p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窗口统计（强可解释、低成本） 目的：捕捉近期水平与波动性 使用窗口：</a:t>
            </a:r>
            <a:r>
              <a:rPr lang="en-US" altLang="zh-CN" dirty="0"/>
              <a:t>5 min</a:t>
            </a:r>
            <a:r>
              <a:rPr lang="zh-CN" altLang="en-US" dirty="0"/>
              <a:t>（平均值，均值，斜率，线性回归斜率） 特征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事件驱动特征（临床关键） 目的：把离散事件（餐、注射、运动）转换成对血糖的动态影响量化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zh-CN" altLang="en-US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时序模式与动态特征（更细粒度） 目的：捕捉餐后</a:t>
            </a:r>
            <a:r>
              <a:rPr lang="en-US" altLang="zh-CN" dirty="0"/>
              <a:t>/</a:t>
            </a:r>
            <a:r>
              <a:rPr lang="zh-CN" altLang="en-US" dirty="0"/>
              <a:t>胰岛素后血糖波动形状 特征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en-US" altLang="zh-CN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周期</a:t>
            </a:r>
            <a:r>
              <a:rPr lang="en-US" altLang="zh-CN" dirty="0"/>
              <a:t>/</a:t>
            </a:r>
            <a:r>
              <a:rPr lang="zh-CN" altLang="en-US" dirty="0"/>
              <a:t>上下文（生理节律） 目的：引入昼夜、周内行为差异及睡眠</a:t>
            </a:r>
            <a:r>
              <a:rPr lang="en-US" altLang="zh-CN" dirty="0"/>
              <a:t>/</a:t>
            </a:r>
            <a:r>
              <a:rPr lang="zh-CN" altLang="en-US" dirty="0"/>
              <a:t>活动状态 特征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en-US" altLang="zh-CN" dirty="0"/>
          </a:p>
          <a:p>
            <a:pPr marL="285750" lvl="1" indent="-285750">
              <a:buFontTx/>
              <a:buChar char="-"/>
            </a:pPr>
            <a:r>
              <a:rPr lang="zh-CN" altLang="en-US" dirty="0"/>
              <a:t>血糖专用衍生（</a:t>
            </a:r>
            <a:r>
              <a:rPr lang="en-US" altLang="zh-CN" dirty="0"/>
              <a:t>CGM </a:t>
            </a:r>
            <a:r>
              <a:rPr lang="zh-CN" altLang="en-US" dirty="0"/>
              <a:t>特定）</a:t>
            </a:r>
            <a:endParaRPr lang="en-US" altLang="zh-CN" dirty="0"/>
          </a:p>
          <a:p>
            <a:pPr marL="285750" lvl="1" indent="-285750">
              <a:buFontTx/>
              <a:buChar char="-"/>
            </a:pPr>
            <a:endParaRPr lang="en-US" altLang="zh-CN" dirty="0"/>
          </a:p>
          <a:p>
            <a:pPr lvl="1"/>
            <a:r>
              <a:rPr lang="zh-CN" altLang="en-US" dirty="0"/>
              <a:t>缺失数据处理：填补 </a:t>
            </a:r>
            <a:r>
              <a:rPr lang="en-US" altLang="zh-CN" dirty="0"/>
              <a:t>+ </a:t>
            </a:r>
            <a:r>
              <a:rPr lang="zh-CN" altLang="en-US" dirty="0"/>
              <a:t>掩码 </a:t>
            </a:r>
            <a:r>
              <a:rPr lang="en-US" altLang="zh-CN" dirty="0"/>
              <a:t>+ </a:t>
            </a:r>
            <a:r>
              <a:rPr lang="zh-CN" altLang="en-US" dirty="0"/>
              <a:t>指示位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    使用向前填充（</a:t>
            </a:r>
            <a:r>
              <a:rPr lang="en-US" altLang="zh-CN" dirty="0" err="1"/>
              <a:t>FFill</a:t>
            </a:r>
            <a:r>
              <a:rPr lang="zh-CN" altLang="en-US" dirty="0"/>
              <a:t>）</a:t>
            </a:r>
            <a:r>
              <a:rPr lang="en-US" altLang="zh-CN" dirty="0"/>
              <a:t>/</a:t>
            </a:r>
            <a:r>
              <a:rPr lang="zh-CN" altLang="en-US" dirty="0"/>
              <a:t>插值来维持连续输入，同时保留 </a:t>
            </a:r>
            <a:r>
              <a:rPr lang="en-US" altLang="zh-CN" dirty="0" err="1"/>
              <a:t>mask_is_imputed</a:t>
            </a:r>
            <a:r>
              <a:rPr lang="zh-CN" altLang="en-US" dirty="0"/>
              <a:t>、</a:t>
            </a:r>
            <a:r>
              <a:rPr lang="en-US" altLang="zh-CN" dirty="0" err="1"/>
              <a:t>num_samples_in_window</a:t>
            </a:r>
            <a:r>
              <a:rPr lang="en-US" altLang="zh-CN" dirty="0"/>
              <a:t>(</a:t>
            </a:r>
            <a:r>
              <a:rPr lang="zh-CN" altLang="en-US" dirty="0"/>
              <a:t>保证数学特征相同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1760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9">
            <a:extLst>
              <a:ext uri="{FF2B5EF4-FFF2-40B4-BE49-F238E27FC236}">
                <a16:creationId xmlns:a16="http://schemas.microsoft.com/office/drawing/2014/main" id="{16728726-5C99-8DE9-AB99-9E369C08D225}"/>
              </a:ext>
            </a:extLst>
          </p:cNvPr>
          <p:cNvSpPr/>
          <p:nvPr/>
        </p:nvSpPr>
        <p:spPr>
          <a:xfrm>
            <a:off x="762000" y="57658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6786A0B-3A73-6E21-50B8-143F50514E72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特征提取</a:t>
            </a:r>
            <a:endParaRPr lang="en-US" sz="1100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DA183295-D55D-CD12-196C-24A3EED04B06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3124602-BB60-1CFF-72D4-7EAD0526A110}"/>
              </a:ext>
            </a:extLst>
          </p:cNvPr>
          <p:cNvSpPr/>
          <p:nvPr/>
        </p:nvSpPr>
        <p:spPr>
          <a:xfrm>
            <a:off x="324256" y="1396999"/>
            <a:ext cx="11475395" cy="3812163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807117-3E86-A652-A45C-5478B146507B}"/>
              </a:ext>
            </a:extLst>
          </p:cNvPr>
          <p:cNvSpPr txBox="1"/>
          <p:nvPr/>
        </p:nvSpPr>
        <p:spPr>
          <a:xfrm>
            <a:off x="685799" y="1712068"/>
            <a:ext cx="107693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再看深度表示学习：</a:t>
            </a:r>
            <a:endParaRPr lang="en-US" altLang="zh-CN" dirty="0"/>
          </a:p>
          <a:p>
            <a:endParaRPr lang="zh-CN" altLang="en-US" dirty="0"/>
          </a:p>
          <a:p>
            <a:pPr lvl="1"/>
            <a:r>
              <a:rPr lang="zh-CN" altLang="en-US" dirty="0"/>
              <a:t>    自监督预训练：</a:t>
            </a:r>
            <a:r>
              <a:rPr lang="en-US" altLang="zh-CN" dirty="0"/>
              <a:t>TS2Vec / contrastive</a:t>
            </a:r>
            <a:r>
              <a:rPr lang="zh-CN" altLang="en-US" dirty="0"/>
              <a:t>（</a:t>
            </a:r>
            <a:r>
              <a:rPr lang="en-US" altLang="zh-CN" dirty="0" err="1"/>
              <a:t>SimCLR</a:t>
            </a:r>
            <a:r>
              <a:rPr lang="en-US" altLang="zh-CN" dirty="0"/>
              <a:t> </a:t>
            </a:r>
            <a:r>
              <a:rPr lang="zh-CN" altLang="en-US" dirty="0"/>
              <a:t>改编）</a:t>
            </a:r>
            <a:r>
              <a:rPr lang="en-US" altLang="zh-CN" dirty="0"/>
              <a:t>/CPC</a:t>
            </a:r>
            <a:r>
              <a:rPr lang="zh-CN" altLang="en-US" dirty="0"/>
              <a:t>，用大量无标签历史序列学到表示。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    其中</a:t>
            </a:r>
            <a:r>
              <a:rPr lang="en-US" altLang="zh-CN" dirty="0"/>
              <a:t>linear‑probe</a:t>
            </a:r>
            <a:r>
              <a:rPr lang="zh-CN" altLang="en-US" dirty="0"/>
              <a:t>（冻结 </a:t>
            </a:r>
            <a:r>
              <a:rPr lang="en-US" altLang="zh-CN" dirty="0"/>
              <a:t>encoder</a:t>
            </a:r>
            <a:r>
              <a:rPr lang="zh-CN" altLang="en-US" dirty="0"/>
              <a:t>，仅训练线性 </a:t>
            </a:r>
            <a:r>
              <a:rPr lang="en-US" altLang="zh-CN" dirty="0"/>
              <a:t>head</a:t>
            </a:r>
            <a:r>
              <a:rPr lang="zh-CN" altLang="en-US" dirty="0"/>
              <a:t>）快速检验表示质量。</a:t>
            </a:r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    微调：在有标签的数据上做 </a:t>
            </a:r>
            <a:r>
              <a:rPr lang="en-US" altLang="zh-CN" dirty="0"/>
              <a:t>full fine‑tune </a:t>
            </a:r>
            <a:r>
              <a:rPr lang="zh-CN" altLang="en-US" dirty="0"/>
              <a:t>或仅微调后端 </a:t>
            </a:r>
            <a:r>
              <a:rPr lang="en-US" altLang="zh-CN" dirty="0"/>
              <a:t>head</a:t>
            </a:r>
            <a:r>
              <a:rPr lang="zh-CN" altLang="en-US" dirty="0"/>
              <a:t>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需要注意：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   在自监督阶段保留原始缺失掩码作为输入通道（编码为 </a:t>
            </a:r>
            <a:r>
              <a:rPr lang="en-US" altLang="zh-CN" dirty="0"/>
              <a:t>0/1</a:t>
            </a:r>
            <a:r>
              <a:rPr lang="zh-CN" altLang="en-US" dirty="0"/>
              <a:t>），让 </a:t>
            </a:r>
            <a:r>
              <a:rPr lang="en-US" altLang="zh-CN" dirty="0"/>
              <a:t>encoder </a:t>
            </a:r>
            <a:r>
              <a:rPr lang="zh-CN" altLang="en-US" dirty="0"/>
              <a:t>学到缺失模式。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   为避免过拟合个体差异，采用 </a:t>
            </a:r>
            <a:r>
              <a:rPr lang="en-US" altLang="zh-CN" dirty="0"/>
              <a:t>patient‑holdout </a:t>
            </a:r>
            <a:r>
              <a:rPr lang="zh-CN" altLang="en-US" dirty="0"/>
              <a:t>的 </a:t>
            </a:r>
            <a:r>
              <a:rPr lang="en-US" altLang="zh-CN" dirty="0"/>
              <a:t>cross‑validation</a:t>
            </a:r>
            <a:r>
              <a:rPr lang="zh-CN" altLang="en-US" dirty="0"/>
              <a:t>（不在同一患者上同时出现训练和验证样本）。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107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30742-F2F5-086D-CF24-FBE502149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9">
            <a:extLst>
              <a:ext uri="{FF2B5EF4-FFF2-40B4-BE49-F238E27FC236}">
                <a16:creationId xmlns:a16="http://schemas.microsoft.com/office/drawing/2014/main" id="{8EAB650D-BA2B-2192-8657-6C2A4ECAC9A6}"/>
              </a:ext>
            </a:extLst>
          </p:cNvPr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D656728-1FDD-4AEF-2EDF-561FA1DED6D5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特征压缩与降维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BD66EE79-101C-C7DC-678C-A08377557994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C57E9FF9-60F4-83ED-B04A-2BA65665A522}"/>
              </a:ext>
            </a:extLst>
          </p:cNvPr>
          <p:cNvSpPr/>
          <p:nvPr/>
        </p:nvSpPr>
        <p:spPr>
          <a:xfrm>
            <a:off x="324256" y="1396999"/>
            <a:ext cx="11475395" cy="42926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2AA78F-4B9D-9998-6A22-5C600A40E07E}"/>
              </a:ext>
            </a:extLst>
          </p:cNvPr>
          <p:cNvSpPr txBox="1"/>
          <p:nvPr/>
        </p:nvSpPr>
        <p:spPr>
          <a:xfrm>
            <a:off x="573932" y="1862846"/>
            <a:ext cx="1119167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目标：保留判别能力，降低模型存储与延迟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非学习型降维（</a:t>
            </a:r>
            <a:r>
              <a:rPr lang="en-US" altLang="zh-CN" dirty="0"/>
              <a:t>fast</a:t>
            </a:r>
            <a:r>
              <a:rPr lang="zh-CN" altLang="en-US" dirty="0"/>
              <a:t>、确定性、易解释）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   适用场景：离线批处理、快速基线、可解释性需求高且维度不超大的情形。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常见方法：</a:t>
            </a:r>
            <a:endParaRPr lang="en-US" altLang="zh-CN" dirty="0"/>
          </a:p>
          <a:p>
            <a:r>
              <a:rPr lang="en-US" altLang="zh-CN" dirty="0"/>
              <a:t>   </a:t>
            </a:r>
          </a:p>
          <a:p>
            <a:r>
              <a:rPr lang="en-US" altLang="zh-CN" dirty="0"/>
              <a:t>    - PCA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主成分分析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zh-CN" altLang="en-US" dirty="0"/>
              <a:t>线性正交投影，最大化投影数据方差；按特征方差排序，通常用前 </a:t>
            </a:r>
            <a:r>
              <a:rPr lang="en-US" altLang="zh-CN" dirty="0"/>
              <a:t>k </a:t>
            </a:r>
            <a:r>
              <a:rPr lang="zh-CN" altLang="en-US" dirty="0"/>
              <a:t>个主成分。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- </a:t>
            </a:r>
            <a:r>
              <a:rPr lang="en-US" altLang="zh-CN" dirty="0" err="1"/>
              <a:t>TruncatedSVD</a:t>
            </a:r>
            <a:r>
              <a:rPr lang="zh-CN" altLang="en-US" dirty="0"/>
              <a:t>：与 </a:t>
            </a:r>
            <a:r>
              <a:rPr lang="en-US" altLang="zh-CN" dirty="0"/>
              <a:t>PCA </a:t>
            </a:r>
            <a:r>
              <a:rPr lang="zh-CN" altLang="en-US" dirty="0"/>
              <a:t>类似，但能直接作用于稀疏矩阵（不中心化，常用在样本维度非常高且稀疏）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- LDA</a:t>
            </a:r>
            <a:r>
              <a:rPr lang="zh-CN" altLang="en-US" dirty="0"/>
              <a:t>（线性判别分析，监督）：最大化类间散度 </a:t>
            </a:r>
            <a:r>
              <a:rPr lang="en-US" altLang="zh-CN" dirty="0"/>
              <a:t>/ </a:t>
            </a:r>
            <a:r>
              <a:rPr lang="zh-CN" altLang="en-US" dirty="0"/>
              <a:t>最小化类内散度，目标是提高线性判别能力。</a:t>
            </a:r>
            <a:r>
              <a:rPr lang="en-US" altLang="zh-CN" dirty="0"/>
              <a:t>(</a:t>
            </a:r>
            <a:r>
              <a:rPr lang="zh-CN" altLang="en-US" dirty="0"/>
              <a:t>常用在标签稀少且数据线性可分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    - UMAP / t‑SNE</a:t>
            </a:r>
            <a:r>
              <a:rPr lang="zh-CN" altLang="en-US" dirty="0"/>
              <a:t>：主要用于可视化（</a:t>
            </a:r>
            <a:r>
              <a:rPr lang="en-US" altLang="zh-CN" dirty="0"/>
              <a:t>2D/3D</a:t>
            </a:r>
            <a:r>
              <a:rPr lang="zh-CN" altLang="en-US" dirty="0"/>
              <a:t>），</a:t>
            </a:r>
            <a:r>
              <a:rPr lang="en-US" altLang="zh-CN" dirty="0"/>
              <a:t>t‑SNE </a:t>
            </a:r>
            <a:r>
              <a:rPr lang="zh-CN" altLang="en-US" dirty="0"/>
              <a:t>与 </a:t>
            </a:r>
            <a:r>
              <a:rPr lang="en-US" altLang="zh-CN" dirty="0"/>
              <a:t>UMAP </a:t>
            </a:r>
            <a:r>
              <a:rPr lang="zh-CN" altLang="en-US" dirty="0"/>
              <a:t>都保留局部结构但会改变尺度与全局距离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0715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0479-3C9B-431E-A721-F927D5E1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9">
            <a:extLst>
              <a:ext uri="{FF2B5EF4-FFF2-40B4-BE49-F238E27FC236}">
                <a16:creationId xmlns:a16="http://schemas.microsoft.com/office/drawing/2014/main" id="{3F083AA1-EB4F-5695-301B-320B918F3940}"/>
              </a:ext>
            </a:extLst>
          </p:cNvPr>
          <p:cNvSpPr/>
          <p:nvPr/>
        </p:nvSpPr>
        <p:spPr>
          <a:xfrm>
            <a:off x="762000" y="6221378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469E2AA-BF70-04F6-C982-C4A856A78413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特征压缩与降维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48A7B919-E4F6-7A00-7EA3-26888C53FFC4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C0D333EC-FABE-29BD-1278-6B92E88E4CCD}"/>
              </a:ext>
            </a:extLst>
          </p:cNvPr>
          <p:cNvSpPr/>
          <p:nvPr/>
        </p:nvSpPr>
        <p:spPr>
          <a:xfrm>
            <a:off x="324256" y="1396999"/>
            <a:ext cx="11475395" cy="457092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40B28B-6396-93C5-D77D-36EA6D7D315F}"/>
              </a:ext>
            </a:extLst>
          </p:cNvPr>
          <p:cNvSpPr txBox="1"/>
          <p:nvPr/>
        </p:nvSpPr>
        <p:spPr>
          <a:xfrm>
            <a:off x="603114" y="1396999"/>
            <a:ext cx="1119653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pPr marL="342900" indent="-342900">
              <a:buAutoNum type="arabicPeriod" startAt="2"/>
            </a:pPr>
            <a:r>
              <a:rPr lang="zh-CN" altLang="en-US" dirty="0"/>
              <a:t>学习型降维（可训练、灵活、可为下游任务定制）</a:t>
            </a:r>
            <a:endParaRPr lang="en-US" altLang="zh-CN" dirty="0"/>
          </a:p>
          <a:p>
            <a:pPr marL="342900" indent="-342900">
              <a:buAutoNum type="arabicPeriod" startAt="2"/>
            </a:pPr>
            <a:endParaRPr lang="en-US" altLang="zh-CN" dirty="0"/>
          </a:p>
          <a:p>
            <a:r>
              <a:rPr lang="zh-CN" altLang="en-US" dirty="0"/>
              <a:t>适应场景：深度 </a:t>
            </a:r>
            <a:r>
              <a:rPr lang="en-US" altLang="zh-CN" dirty="0"/>
              <a:t>embedding </a:t>
            </a:r>
            <a:r>
              <a:rPr lang="zh-CN" altLang="en-US" dirty="0"/>
              <a:t>压缩、希望在压缩过程中保留判别能力、需要端到端可微训练时。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常见方法：</a:t>
            </a:r>
            <a:endParaRPr lang="en-US" altLang="zh-CN" dirty="0"/>
          </a:p>
          <a:p>
            <a:r>
              <a:rPr lang="en-US" altLang="zh-CN" dirty="0"/>
              <a:t>   </a:t>
            </a:r>
          </a:p>
          <a:p>
            <a:r>
              <a:rPr lang="en-US" altLang="zh-CN" dirty="0"/>
              <a:t>    - Autoencoder</a:t>
            </a:r>
            <a:r>
              <a:rPr lang="zh-CN" altLang="en-US" dirty="0"/>
              <a:t>：结构 </a:t>
            </a:r>
            <a:r>
              <a:rPr lang="en-US" altLang="zh-CN" dirty="0"/>
              <a:t>encoder -&gt; bottleneck (latent) -&gt; decoder</a:t>
            </a:r>
            <a:r>
              <a:rPr lang="zh-CN" altLang="en-US" dirty="0"/>
              <a:t>；训练目标最小化重建损失（捕捉非线性结构；易与下游任务结合）。</a:t>
            </a:r>
          </a:p>
          <a:p>
            <a:endParaRPr lang="en-US" altLang="zh-CN" dirty="0"/>
          </a:p>
          <a:p>
            <a:r>
              <a:rPr lang="en-US" altLang="zh-CN" dirty="0"/>
              <a:t>    - Variational Autoencoder</a:t>
            </a:r>
            <a:r>
              <a:rPr lang="zh-CN" altLang="en-US" dirty="0"/>
              <a:t>：通过概率编码（推断潜变量分布）并加入 </a:t>
            </a:r>
            <a:r>
              <a:rPr lang="en-US" altLang="zh-CN" dirty="0"/>
              <a:t>KL </a:t>
            </a:r>
            <a:r>
              <a:rPr lang="zh-CN" altLang="en-US" dirty="0"/>
              <a:t>正则，能学平滑的潜在空间，适合生成与插值。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- Supervised dimensionality reduction</a:t>
            </a:r>
            <a:r>
              <a:rPr lang="zh-CN" altLang="en-US" dirty="0"/>
              <a:t>：（有标签信号引导压缩）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方法：在 </a:t>
            </a:r>
            <a:r>
              <a:rPr lang="en-US" altLang="zh-CN" dirty="0"/>
              <a:t>encoder </a:t>
            </a:r>
            <a:r>
              <a:rPr lang="zh-CN" altLang="en-US" dirty="0"/>
              <a:t>的 </a:t>
            </a:r>
            <a:r>
              <a:rPr lang="en-US" altLang="zh-CN" dirty="0"/>
              <a:t>bottleneck </a:t>
            </a:r>
            <a:r>
              <a:rPr lang="zh-CN" altLang="en-US" dirty="0"/>
              <a:t>后加一个判别 </a:t>
            </a:r>
            <a:r>
              <a:rPr lang="en-US" altLang="zh-CN" dirty="0"/>
              <a:t>head</a:t>
            </a:r>
            <a:r>
              <a:rPr lang="zh-CN" altLang="en-US" dirty="0"/>
              <a:t>，联合训练重建 </a:t>
            </a:r>
            <a:r>
              <a:rPr lang="en-US" altLang="zh-CN" dirty="0"/>
              <a:t>loss + </a:t>
            </a:r>
            <a:r>
              <a:rPr lang="zh-CN" altLang="en-US" dirty="0"/>
              <a:t>判别 </a:t>
            </a:r>
            <a:r>
              <a:rPr lang="en-US" altLang="zh-CN" dirty="0"/>
              <a:t>loss</a:t>
            </a:r>
            <a:r>
              <a:rPr lang="zh-CN" altLang="en-US" dirty="0"/>
              <a:t>（交叉熵、</a:t>
            </a:r>
            <a:r>
              <a:rPr lang="en-US" altLang="zh-CN" dirty="0"/>
              <a:t>triplet/contrastive </a:t>
            </a:r>
            <a:r>
              <a:rPr lang="zh-CN" altLang="en-US" dirty="0"/>
              <a:t>等）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直接用判别 </a:t>
            </a:r>
            <a:r>
              <a:rPr lang="en-US" altLang="zh-CN" dirty="0"/>
              <a:t>loss</a:t>
            </a:r>
            <a:r>
              <a:rPr lang="zh-CN" altLang="en-US" dirty="0"/>
              <a:t>（不重建）训练瓶颈，使其对下游任务最有信息（可视为瓶颈微调）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经典监督方法：</a:t>
            </a:r>
            <a:r>
              <a:rPr lang="en-US" altLang="zh-CN" dirty="0"/>
              <a:t>LDA</a:t>
            </a:r>
            <a:r>
              <a:rPr lang="zh-CN" altLang="en-US" dirty="0"/>
              <a:t>、</a:t>
            </a:r>
            <a:r>
              <a:rPr lang="en-US" altLang="zh-CN" dirty="0"/>
              <a:t>Fisher Discriminant</a:t>
            </a:r>
          </a:p>
          <a:p>
            <a:endParaRPr lang="en-US" altLang="zh-CN" dirty="0"/>
          </a:p>
          <a:p>
            <a:r>
              <a:rPr lang="zh-CN" altLang="en-US" dirty="0"/>
              <a:t>一般先使用</a:t>
            </a:r>
            <a:r>
              <a:rPr lang="en-US" altLang="zh-CN" dirty="0"/>
              <a:t>AE / VAE </a:t>
            </a:r>
            <a:r>
              <a:rPr lang="zh-CN" altLang="en-US" dirty="0"/>
              <a:t>预训练 </a:t>
            </a:r>
            <a:r>
              <a:rPr lang="en-US" altLang="zh-CN" dirty="0"/>
              <a:t>encoder</a:t>
            </a:r>
            <a:r>
              <a:rPr lang="zh-CN" altLang="en-US" dirty="0"/>
              <a:t>，再做有监督微调（</a:t>
            </a:r>
            <a:r>
              <a:rPr lang="en-US" altLang="zh-CN" dirty="0"/>
              <a:t>fine-tune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877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79185-B316-FD59-4CE9-17E7637D0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9">
            <a:extLst>
              <a:ext uri="{FF2B5EF4-FFF2-40B4-BE49-F238E27FC236}">
                <a16:creationId xmlns:a16="http://schemas.microsoft.com/office/drawing/2014/main" id="{86E72313-00DA-B4D5-4A35-85EBD77870A1}"/>
              </a:ext>
            </a:extLst>
          </p:cNvPr>
          <p:cNvSpPr/>
          <p:nvPr/>
        </p:nvSpPr>
        <p:spPr>
          <a:xfrm>
            <a:off x="762000" y="5842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0052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BF9AE5D-0965-FE33-F8FA-8020006B1AFF}"/>
              </a:ext>
            </a:extLst>
          </p:cNvPr>
          <p:cNvSpPr/>
          <p:nvPr/>
        </p:nvSpPr>
        <p:spPr>
          <a:xfrm>
            <a:off x="762000" y="508000"/>
            <a:ext cx="358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0052FF"/>
                </a:solidFill>
                <a:ea typeface="Noto Sans SC" panose="020B0200000000000000" charset="-122"/>
                <a:sym typeface="Noto Sans SC" panose="020B0200000000000000" charset="-122"/>
              </a:rPr>
              <a:t>特征压缩与降维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3B3C658A-FC94-90BD-6087-5DAEBF76ECF6}"/>
              </a:ext>
            </a:extLst>
          </p:cNvPr>
          <p:cNvSpPr/>
          <p:nvPr/>
        </p:nvSpPr>
        <p:spPr>
          <a:xfrm>
            <a:off x="762000" y="1079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52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4961BDC4-CFBA-AA78-34A4-AE5A3334F4A3}"/>
              </a:ext>
            </a:extLst>
          </p:cNvPr>
          <p:cNvSpPr/>
          <p:nvPr/>
        </p:nvSpPr>
        <p:spPr>
          <a:xfrm>
            <a:off x="324256" y="1396999"/>
            <a:ext cx="11475395" cy="42926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224565-753D-3ED8-AA60-4576AB1A32B2}"/>
              </a:ext>
            </a:extLst>
          </p:cNvPr>
          <p:cNvSpPr txBox="1"/>
          <p:nvPr/>
        </p:nvSpPr>
        <p:spPr>
          <a:xfrm>
            <a:off x="569068" y="1511299"/>
            <a:ext cx="111965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3.    </a:t>
            </a:r>
            <a:r>
              <a:rPr lang="zh-CN" altLang="en-US" dirty="0"/>
              <a:t>在血糖预测中使用的是分层压缩策略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- </a:t>
            </a:r>
            <a:r>
              <a:rPr lang="zh-CN" altLang="en-US" dirty="0"/>
              <a:t>保留若干关键可解释手工特征原样（</a:t>
            </a:r>
            <a:r>
              <a:rPr lang="en-US" altLang="zh-CN" dirty="0"/>
              <a:t>top-K</a:t>
            </a:r>
            <a:r>
              <a:rPr lang="zh-CN" altLang="en-US" dirty="0"/>
              <a:t>，审计）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           - </a:t>
            </a:r>
            <a:r>
              <a:rPr lang="zh-CN" altLang="en-US" dirty="0"/>
              <a:t>对其余手工数值特征用非学习型方法（</a:t>
            </a:r>
            <a:r>
              <a:rPr lang="en-US" altLang="zh-CN" dirty="0"/>
              <a:t>PCA</a:t>
            </a:r>
            <a:r>
              <a:rPr lang="zh-CN" altLang="en-US" dirty="0"/>
              <a:t>）做轻量压缩以保留方差并保留可解释载荷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           - </a:t>
            </a:r>
            <a:r>
              <a:rPr lang="zh-CN" altLang="en-US" dirty="0"/>
              <a:t>对深度学得的高维 </a:t>
            </a:r>
            <a:r>
              <a:rPr lang="en-US" altLang="zh-CN" dirty="0"/>
              <a:t>embedding </a:t>
            </a:r>
            <a:r>
              <a:rPr lang="zh-CN" altLang="en-US" dirty="0"/>
              <a:t>用学习型压缩（</a:t>
            </a:r>
            <a:r>
              <a:rPr lang="en-US" altLang="zh-CN" dirty="0"/>
              <a:t> Supervised dimensionality reduction 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9824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1555</Words>
  <Application>Microsoft Office PowerPoint</Application>
  <PresentationFormat>宽屏</PresentationFormat>
  <Paragraphs>190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Noto Sans SC</vt:lpstr>
      <vt:lpstr>黑体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gby@edu.nuc.email</cp:lastModifiedBy>
  <cp:revision>50</cp:revision>
  <dcterms:created xsi:type="dcterms:W3CDTF">2026-03-25T08:22:00Z</dcterms:created>
  <dcterms:modified xsi:type="dcterms:W3CDTF">2026-03-26T10:37:16Z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8921C6EC268644C88DED4A4F5FCA24EE_12</vt:lpwstr>
  </property>
</Properties>
</file>