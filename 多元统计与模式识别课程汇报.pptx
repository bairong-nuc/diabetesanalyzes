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2"/>
  </p:sldMasterIdLst>
  <p:notesMasterIdLst>
    <p:notesMasterId r:id="rId9"/>
  </p:notesMasterIdLst>
  <p:sldIdLst>
    <p:sldId id="277" r:id="rId3"/>
    <p:sldId id="257" r:id="rId4"/>
    <p:sldId id="285" r:id="rId5"/>
    <p:sldId id="258" r:id="rId6"/>
    <p:sldId id="293" r:id="rId7"/>
    <p:sldId id="294" r:id="rId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46" userDrawn="1">
          <p15:clr>
            <a:srgbClr val="747775"/>
          </p15:clr>
        </p15:guide>
        <p15:guide id="2" pos="2872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31" d="100"/>
          <a:sy n="131" d="100"/>
        </p:scale>
        <p:origin x="108" y="100"/>
      </p:cViewPr>
      <p:guideLst>
        <p:guide orient="horz" pos="1646"/>
        <p:guide pos="28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29.03.2026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4327-933C-CEDE-CB30-3390CB265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6E225C7-1AF9-B7C7-09DF-A2C2473E52F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D922E2-7B15-142B-98DD-38266ADCC7FA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C0C79C40-B672-E3DE-C412-C5E94F1C99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7E68E2B-C612-4123-3EAD-831CFAAFC7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A17323-1E71-48B3-6324-6136FB44A1E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5F2A3D-2E17-7F58-5D1D-F085C171E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3240586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CE986-F621-79BD-1B0F-19556F728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9E1CE37-1BC8-86FA-4514-563C32648D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53E0BB-E826-632A-6A90-93B7830B94F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7ABD2A7B-7F24-70AE-2D06-6CC7D624C9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4707B696-A746-59A6-E641-448813990D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A78AD8-CB19-F4A9-27C8-A9D899F6FFA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45B65E-5555-71AC-0DEB-48A12597D7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824462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‹#›</a:t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mathchi/diabetes-data-set/data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hyperlink" Target="diabetes.csv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mailto:vgs@aplcen.apl.jhu.edu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形 29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12192000" cy="6859051"/>
          </a:xfrm>
          <a:prstGeom prst="rect">
            <a:avLst/>
          </a:prstGeom>
        </p:spPr>
      </p:pic>
      <p:pic>
        <p:nvPicPr>
          <p:cNvPr id="32" name="图形 31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6875" y="167005"/>
            <a:ext cx="11518900" cy="6197600"/>
          </a:xfrm>
          <a:prstGeom prst="rect">
            <a:avLst/>
          </a:prstGeom>
        </p:spPr>
      </p:pic>
      <p:pic>
        <p:nvPicPr>
          <p:cNvPr id="3" name="图片 2" descr="9717abb16921ec7e0dd594a564d1e8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9235" y="400685"/>
            <a:ext cx="1502410" cy="150431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1015365" y="2294255"/>
            <a:ext cx="1046734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b="1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Noto Sans SC" panose="020B0200000000000000" charset="-122"/>
                <a:sym typeface="Noto Sans SC" panose="020B0200000000000000" charset="-122"/>
              </a:rPr>
              <a:t>      基于机器学习的血糖预测模型研究与应用</a:t>
            </a:r>
            <a:endParaRPr lang="en-US" altLang="en-US" sz="3200" b="1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11" name="AutoShape 7"/>
          <p:cNvSpPr/>
          <p:nvPr/>
        </p:nvSpPr>
        <p:spPr>
          <a:xfrm>
            <a:off x="2286000" y="3429000"/>
            <a:ext cx="762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t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 spc="400">
                <a:solidFill>
                  <a:schemeClr val="tx1"/>
                </a:solidFill>
                <a:latin typeface="+mn-ea"/>
                <a:ea typeface="+mn-ea"/>
                <a:cs typeface="Noto Sans SC" panose="020B0200000000000000" charset="-122"/>
                <a:sym typeface="Noto Sans SC" panose="020B0200000000000000" charset="-122"/>
              </a:rPr>
              <a:t>课程汇报</a:t>
            </a:r>
          </a:p>
        </p:txBody>
      </p:sp>
      <p:cxnSp>
        <p:nvCxnSpPr>
          <p:cNvPr id="13" name="直接连接符 12"/>
          <p:cNvCxnSpPr/>
          <p:nvPr/>
        </p:nvCxnSpPr>
        <p:spPr>
          <a:xfrm>
            <a:off x="5544514" y="3115219"/>
            <a:ext cx="1073944" cy="0"/>
          </a:xfrm>
          <a:prstGeom prst="line">
            <a:avLst/>
          </a:prstGeom>
          <a:ln w="28575">
            <a:solidFill>
              <a:srgbClr val="F2963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7466330" y="5352415"/>
            <a:ext cx="664718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Noto Sans SC" panose="020B0200000000000000" charset="-122"/>
              </a:rPr>
              <a:t>汇报人：S202513003 </a:t>
            </a:r>
            <a:r>
              <a:rPr lang="zh-CN" altLang="en-US" sz="1600" dirty="0">
                <a:solidFill>
                  <a:schemeClr val="tx1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  <a:sym typeface="Noto Sans SC" panose="020B0200000000000000" charset="-122"/>
              </a:rPr>
              <a:t>龚柏荣</a:t>
            </a:r>
            <a:endParaRPr lang="zh-CN" altLang="en-US" sz="1600" b="0" i="0" u="none" strike="noStrike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Noto Sans SC" panose="020B0200000000000000" charset="-122"/>
            </a:endParaRPr>
          </a:p>
          <a:p>
            <a:endParaRPr lang="zh-CN" altLang="en-US" sz="1600" b="0" i="0" u="none" strike="noStrike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Noto Sans SC" panose="020B0200000000000000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674745" y="3823335"/>
            <a:ext cx="664718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SzTx/>
            </a:pPr>
            <a:endParaRPr lang="en-US" altLang="zh-CN" sz="1000" b="0" i="0" u="none" strike="noStrike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Noto Sans SC" panose="020B0200000000000000" charset="-122"/>
            </a:endParaRPr>
          </a:p>
          <a:p>
            <a:endParaRPr lang="en-US" altLang="zh-CN" sz="1600" b="0" i="0" u="none" strike="noStrike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Noto Sans SC" panose="020B0200000000000000" charset="-122"/>
            </a:endParaRPr>
          </a:p>
          <a:p>
            <a:endParaRPr lang="zh-CN" altLang="en-US" sz="1600" b="0" i="0" u="none" strike="noStrike" dirty="0">
              <a:solidFill>
                <a:schemeClr val="tx1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  <a:sym typeface="Noto Sans SC" panose="020B0200000000000000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-45085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FFFFFF">
              <a:alpha val="9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762000" y="508000"/>
            <a:ext cx="89408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 dirty="0" err="1">
                <a:solidFill>
                  <a:srgbClr val="0052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目录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1999" y="1492250"/>
            <a:ext cx="10668000" cy="889000"/>
          </a:xfrm>
          <a:prstGeom prst="roundRect">
            <a:avLst>
              <a:gd name="adj" fmla="val 14285"/>
            </a:avLst>
          </a:prstGeom>
          <a:solidFill>
            <a:srgbClr val="F5F7FA">
              <a:alpha val="100000"/>
            </a:srgbClr>
          </a:solidFill>
          <a:ln cap="flat" cmpd="sng">
            <a:solidFill>
              <a:srgbClr val="C6D0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7" name="AutoShape 7"/>
          <p:cNvSpPr/>
          <p:nvPr/>
        </p:nvSpPr>
        <p:spPr>
          <a:xfrm>
            <a:off x="1016000" y="1778000"/>
            <a:ext cx="635000" cy="381000"/>
          </a:xfrm>
          <a:prstGeom prst="roundRect">
            <a:avLst>
              <a:gd name="adj" fmla="val 16666"/>
            </a:avLst>
          </a:prstGeom>
          <a:solidFill>
            <a:srgbClr val="0052F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016000" y="1778000"/>
            <a:ext cx="63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2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905000" y="17780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2000" b="1" dirty="0">
                <a:solidFill>
                  <a:srgbClr val="1F2329"/>
                </a:solidFill>
                <a:ea typeface="Noto Sans SC" panose="020B0200000000000000" charset="-122"/>
              </a:rPr>
              <a:t>研究目标与数据集介绍</a:t>
            </a:r>
            <a:endParaRPr lang="en-US" sz="2000" b="1" dirty="0">
              <a:solidFill>
                <a:srgbClr val="1F2329"/>
              </a:solidFill>
              <a:ea typeface="Noto Sans SC" panose="020B0200000000000000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762000" y="2603500"/>
            <a:ext cx="10668000" cy="889000"/>
          </a:xfrm>
          <a:prstGeom prst="roundRect">
            <a:avLst>
              <a:gd name="adj" fmla="val 14285"/>
            </a:avLst>
          </a:prstGeom>
          <a:solidFill>
            <a:srgbClr val="F5F7FA">
              <a:alpha val="100000"/>
            </a:srgbClr>
          </a:solidFill>
          <a:ln cap="flat" cmpd="sng">
            <a:solidFill>
              <a:srgbClr val="C6D0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12" name="AutoShape 12"/>
          <p:cNvSpPr/>
          <p:nvPr/>
        </p:nvSpPr>
        <p:spPr>
          <a:xfrm>
            <a:off x="1016000" y="2857500"/>
            <a:ext cx="635000" cy="381000"/>
          </a:xfrm>
          <a:prstGeom prst="roundRect">
            <a:avLst>
              <a:gd name="adj" fmla="val 16666"/>
            </a:avLst>
          </a:prstGeom>
          <a:solidFill>
            <a:srgbClr val="0052F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1016000" y="2857500"/>
            <a:ext cx="63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2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905000" y="28575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000" b="1" dirty="0">
                <a:solidFill>
                  <a:srgbClr val="1F2329"/>
                </a:solidFill>
                <a:ea typeface="Noto Sans SC" panose="020B0200000000000000" charset="-122"/>
                <a:sym typeface="Noto Sans SC" panose="020B0200000000000000" charset="-122"/>
              </a:rPr>
              <a:t>数据分析与传统机器学习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762000" y="3683000"/>
            <a:ext cx="10668000" cy="889000"/>
          </a:xfrm>
          <a:prstGeom prst="roundRect">
            <a:avLst>
              <a:gd name="adj" fmla="val 14285"/>
            </a:avLst>
          </a:prstGeom>
          <a:solidFill>
            <a:srgbClr val="F5F7FA">
              <a:alpha val="100000"/>
            </a:srgbClr>
          </a:solidFill>
          <a:ln cap="flat" cmpd="sng">
            <a:solidFill>
              <a:srgbClr val="C6D0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1016000" y="3937000"/>
            <a:ext cx="635000" cy="381000"/>
          </a:xfrm>
          <a:prstGeom prst="roundRect">
            <a:avLst>
              <a:gd name="adj" fmla="val 16666"/>
            </a:avLst>
          </a:prstGeom>
          <a:solidFill>
            <a:srgbClr val="0052F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1016000" y="3937000"/>
            <a:ext cx="63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2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1905000" y="39370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000" b="1" dirty="0">
                <a:solidFill>
                  <a:srgbClr val="1F2329"/>
                </a:solidFill>
                <a:ea typeface="Noto Sans SC" panose="020B0200000000000000" charset="-122"/>
                <a:sym typeface="Noto Sans SC" panose="020B0200000000000000" charset="-122"/>
              </a:rPr>
              <a:t>数据分析与深度学习</a:t>
            </a:r>
            <a:endParaRPr lang="en-US" sz="1100" dirty="0"/>
          </a:p>
        </p:txBody>
      </p:sp>
      <p:sp>
        <p:nvSpPr>
          <p:cNvPr id="21" name="AutoShape 21"/>
          <p:cNvSpPr/>
          <p:nvPr/>
        </p:nvSpPr>
        <p:spPr>
          <a:xfrm>
            <a:off x="762000" y="4762500"/>
            <a:ext cx="10668000" cy="889000"/>
          </a:xfrm>
          <a:prstGeom prst="roundRect">
            <a:avLst>
              <a:gd name="adj" fmla="val 14285"/>
            </a:avLst>
          </a:prstGeom>
          <a:solidFill>
            <a:srgbClr val="F5F7FA">
              <a:alpha val="100000"/>
            </a:srgbClr>
          </a:solidFill>
          <a:ln cap="flat" cmpd="sng">
            <a:solidFill>
              <a:srgbClr val="C6D0E1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1016000" y="5016500"/>
            <a:ext cx="635000" cy="381000"/>
          </a:xfrm>
          <a:prstGeom prst="roundRect">
            <a:avLst>
              <a:gd name="adj" fmla="val 16666"/>
            </a:avLst>
          </a:prstGeom>
          <a:solidFill>
            <a:srgbClr val="0052FF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1016000" y="5016500"/>
            <a:ext cx="635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052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1905000" y="50165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000" b="1" dirty="0">
                <a:solidFill>
                  <a:srgbClr val="1F2329"/>
                </a:solidFill>
                <a:ea typeface="Noto Sans SC" panose="020B0200000000000000" charset="-122"/>
                <a:sym typeface="Noto Sans SC" panose="020B0200000000000000" charset="-122"/>
              </a:rPr>
              <a:t>总结与资源分享</a:t>
            </a:r>
            <a:endParaRPr lang="en-US" sz="1100" dirty="0"/>
          </a:p>
        </p:txBody>
      </p:sp>
      <p:sp>
        <p:nvSpPr>
          <p:cNvPr id="26" name="AutoShape 26"/>
          <p:cNvSpPr/>
          <p:nvPr/>
        </p:nvSpPr>
        <p:spPr>
          <a:xfrm>
            <a:off x="66675" y="7175500"/>
            <a:ext cx="12192000" cy="1016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9D9EA5D-C87E-79F2-1E35-B2B06C0A820C}"/>
              </a:ext>
            </a:extLst>
          </p:cNvPr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0052FF"/>
                </a:solidFill>
                <a:ea typeface="Noto Sans SC" panose="020B0200000000000000" charset="-122"/>
                <a:sym typeface="Noto Sans SC" panose="020B0200000000000000" charset="-122"/>
              </a:rPr>
              <a:t>论文思路框架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D166D94B-F032-EB4B-7901-8046CF895595}"/>
              </a:ext>
            </a:extLst>
          </p:cNvPr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4990A0-E8D0-37A9-8C67-571A60637E76}"/>
              </a:ext>
            </a:extLst>
          </p:cNvPr>
          <p:cNvSpPr txBox="1"/>
          <p:nvPr/>
        </p:nvSpPr>
        <p:spPr>
          <a:xfrm>
            <a:off x="762000" y="1391055"/>
            <a:ext cx="958336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作者把血糖预测看作一个分类混合问题：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首先进行数据清洗，分析了特征值与分类之间的关系，使用深度学习的注意力机制与</a:t>
            </a:r>
            <a:r>
              <a:rPr lang="en-US" altLang="zh-CN" dirty="0"/>
              <a:t>CNN</a:t>
            </a:r>
            <a:r>
              <a:rPr lang="zh-CN" altLang="en-US" dirty="0"/>
              <a:t>训练模型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在此基础上，作者提出了基于粒子群优化的融合模型设计，和使用注意力机制与</a:t>
            </a:r>
            <a:r>
              <a:rPr lang="en-US" altLang="zh-CN" dirty="0"/>
              <a:t>CNN</a:t>
            </a:r>
            <a:r>
              <a:rPr lang="zh-CN" altLang="en-US" dirty="0"/>
              <a:t>做了对比，优化了识别效率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之后再用模型蒸馏等压缩手段在保证临床性能（低血糖召回、</a:t>
            </a:r>
            <a:r>
              <a:rPr lang="en-US" altLang="zh-CN" dirty="0"/>
              <a:t>Clarke grid A/B </a:t>
            </a:r>
            <a:r>
              <a:rPr lang="zh-CN" altLang="en-US" dirty="0"/>
              <a:t>）前提下满足延迟与存储约束。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最后将这个基于机器学习的血糖检测系统部署到</a:t>
            </a:r>
            <a:r>
              <a:rPr lang="en-US" altLang="zh-CN" dirty="0"/>
              <a:t>WEB</a:t>
            </a:r>
            <a:r>
              <a:rPr lang="zh-CN" altLang="en-US" dirty="0"/>
              <a:t>端。</a:t>
            </a:r>
          </a:p>
          <a:p>
            <a:endParaRPr lang="zh-CN" altLang="en-US" dirty="0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B3D8910A-FF28-BDBE-32C6-265D12A5C744}"/>
              </a:ext>
            </a:extLst>
          </p:cNvPr>
          <p:cNvSpPr/>
          <p:nvPr/>
        </p:nvSpPr>
        <p:spPr>
          <a:xfrm>
            <a:off x="1190829" y="3637824"/>
            <a:ext cx="9640110" cy="2295728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sz="1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F90CE7-6F96-80D0-EF24-67204803A786}"/>
              </a:ext>
            </a:extLst>
          </p:cNvPr>
          <p:cNvSpPr txBox="1"/>
          <p:nvPr/>
        </p:nvSpPr>
        <p:spPr>
          <a:xfrm>
            <a:off x="1887168" y="4243911"/>
            <a:ext cx="9372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任务类型：短期回归（预测未来 </a:t>
            </a:r>
            <a:r>
              <a:rPr lang="en-US" altLang="zh-CN" dirty="0"/>
              <a:t>60 min </a:t>
            </a:r>
            <a:r>
              <a:rPr lang="zh-CN" altLang="en-US" dirty="0"/>
              <a:t>的血糖值） → 抽象成分类任务（是否会发生高血糖）。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血糖分类任务为：连续时间的二分类</a:t>
            </a:r>
            <a:endParaRPr lang="en-US" altLang="zh-CN" dirty="0"/>
          </a:p>
          <a:p>
            <a:endParaRPr lang="en-US" altLang="zh-CN" dirty="0"/>
          </a:p>
        </p:txBody>
      </p:sp>
      <p:sp>
        <p:nvSpPr>
          <p:cNvPr id="7" name="AutoShape 19">
            <a:extLst>
              <a:ext uri="{FF2B5EF4-FFF2-40B4-BE49-F238E27FC236}">
                <a16:creationId xmlns:a16="http://schemas.microsoft.com/office/drawing/2014/main" id="{A99D94EF-874F-FFB6-743C-54A3A5B2F5F1}"/>
              </a:ext>
            </a:extLst>
          </p:cNvPr>
          <p:cNvSpPr/>
          <p:nvPr/>
        </p:nvSpPr>
        <p:spPr>
          <a:xfrm>
            <a:off x="762000" y="6182468"/>
            <a:ext cx="10668000" cy="12700"/>
          </a:xfrm>
          <a:prstGeom prst="roundRect">
            <a:avLst>
              <a:gd name="adj" fmla="val 0"/>
            </a:avLst>
          </a:prstGeom>
          <a:solidFill>
            <a:srgbClr val="0052FF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5856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i="0" u="none" strike="noStrike" dirty="0">
                <a:solidFill>
                  <a:srgbClr val="0052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论文研究问题简化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762000" y="1572098"/>
            <a:ext cx="5207540" cy="4123446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lang="zh-CN" altLang="en-US" dirty="0"/>
          </a:p>
        </p:txBody>
      </p:sp>
      <p:sp>
        <p:nvSpPr>
          <p:cNvPr id="11" name="AutoShape 11"/>
          <p:cNvSpPr/>
          <p:nvPr/>
        </p:nvSpPr>
        <p:spPr>
          <a:xfrm>
            <a:off x="6949873" y="1890693"/>
            <a:ext cx="4064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</p:txBody>
      </p:sp>
      <p:sp>
        <p:nvSpPr>
          <p:cNvPr id="19" name="AutoShape 19"/>
          <p:cNvSpPr/>
          <p:nvPr/>
        </p:nvSpPr>
        <p:spPr>
          <a:xfrm>
            <a:off x="762000" y="5842000"/>
            <a:ext cx="10668000" cy="12700"/>
          </a:xfrm>
          <a:prstGeom prst="roundRect">
            <a:avLst>
              <a:gd name="adj" fmla="val 0"/>
            </a:avLst>
          </a:prstGeom>
          <a:solidFill>
            <a:srgbClr val="0052FF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1832E48-7738-0E28-9537-03CA12FEACDB}"/>
              </a:ext>
            </a:extLst>
          </p:cNvPr>
          <p:cNvSpPr txBox="1"/>
          <p:nvPr/>
        </p:nvSpPr>
        <p:spPr>
          <a:xfrm>
            <a:off x="767403" y="1833664"/>
            <a:ext cx="5328597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/>
              <a:buAutoNum type="arabicPeriod"/>
            </a:pPr>
            <a:r>
              <a:rPr lang="zh-CN" altLang="en-US" dirty="0"/>
              <a:t>原论文输入数据包含时间序列，含时间戳均为 </a:t>
            </a:r>
            <a:r>
              <a:rPr lang="en-US" altLang="zh-CN" dirty="0"/>
              <a:t>UTC </a:t>
            </a:r>
            <a:r>
              <a:rPr lang="zh-CN" altLang="en-US" dirty="0"/>
              <a:t>且同步</a:t>
            </a:r>
            <a:endParaRPr lang="en-US" altLang="zh-CN" dirty="0"/>
          </a:p>
          <a:p>
            <a:pPr lvl="1"/>
            <a:endParaRPr lang="en-US" altLang="zh-CN" dirty="0"/>
          </a:p>
          <a:p>
            <a:pPr lvl="1"/>
            <a:r>
              <a:rPr lang="zh-CN" altLang="en-US" dirty="0"/>
              <a:t>数据量特别大且没有数据集。原论文中输入的数据大致有</a:t>
            </a:r>
            <a:endParaRPr lang="en-US" altLang="zh-CN" dirty="0"/>
          </a:p>
          <a:p>
            <a:pPr marL="285750" lvl="1" indent="-285750">
              <a:buFontTx/>
              <a:buChar char="-"/>
            </a:pPr>
            <a:endParaRPr lang="en-US" altLang="zh-CN" dirty="0"/>
          </a:p>
          <a:p>
            <a:pPr marL="285750" lvl="1" indent="-285750">
              <a:buFontTx/>
              <a:buChar char="-"/>
            </a:pPr>
            <a:r>
              <a:rPr lang="en-US" altLang="zh-CN" dirty="0"/>
              <a:t>CGM</a:t>
            </a:r>
            <a:r>
              <a:rPr lang="zh-CN" altLang="en-US" dirty="0"/>
              <a:t>（连续血糖，每</a:t>
            </a:r>
            <a:r>
              <a:rPr lang="en-US" altLang="zh-CN" dirty="0"/>
              <a:t>5 </a:t>
            </a:r>
            <a:r>
              <a:rPr lang="zh-CN" altLang="en-US" dirty="0"/>
              <a:t>分钟</a:t>
            </a:r>
            <a:r>
              <a:rPr lang="en-US" altLang="zh-CN" dirty="0"/>
              <a:t>/</a:t>
            </a:r>
            <a:r>
              <a:rPr lang="zh-CN" altLang="en-US" dirty="0"/>
              <a:t>采样）</a:t>
            </a:r>
            <a:endParaRPr lang="en-US" altLang="zh-CN" dirty="0"/>
          </a:p>
          <a:p>
            <a:pPr marL="285750" lvl="1" indent="-285750">
              <a:buFontTx/>
              <a:buChar char="-"/>
            </a:pPr>
            <a:endParaRPr lang="zh-CN" altLang="en-US" dirty="0"/>
          </a:p>
          <a:p>
            <a:pPr marL="285750" lvl="1" indent="-285750">
              <a:buFontTx/>
              <a:buChar char="-"/>
            </a:pPr>
            <a:r>
              <a:rPr lang="zh-CN" altLang="en-US" dirty="0"/>
              <a:t>胰岛素注射</a:t>
            </a:r>
            <a:r>
              <a:rPr lang="en-US" altLang="zh-CN" dirty="0"/>
              <a:t>/</a:t>
            </a:r>
            <a:r>
              <a:rPr lang="zh-CN" altLang="en-US" dirty="0"/>
              <a:t>泵事件（剂量、类型：餐时</a:t>
            </a:r>
            <a:r>
              <a:rPr lang="en-US" altLang="zh-CN" dirty="0"/>
              <a:t>/</a:t>
            </a:r>
            <a:r>
              <a:rPr lang="zh-CN" altLang="en-US" dirty="0"/>
              <a:t>基础、速效</a:t>
            </a:r>
            <a:r>
              <a:rPr lang="en-US" altLang="zh-CN" dirty="0"/>
              <a:t>/</a:t>
            </a:r>
            <a:r>
              <a:rPr lang="zh-CN" altLang="en-US" dirty="0"/>
              <a:t>长效）</a:t>
            </a:r>
            <a:endParaRPr lang="en-US" altLang="zh-CN" dirty="0"/>
          </a:p>
          <a:p>
            <a:pPr marL="285750" lvl="1" indent="-285750">
              <a:buFontTx/>
              <a:buChar char="-"/>
            </a:pPr>
            <a:endParaRPr lang="zh-CN" altLang="en-US" dirty="0"/>
          </a:p>
          <a:p>
            <a:pPr marL="285750" lvl="1" indent="-285750">
              <a:buFontTx/>
              <a:buChar char="-"/>
            </a:pPr>
            <a:r>
              <a:rPr lang="zh-CN" altLang="en-US" dirty="0"/>
              <a:t>摄入碳水（</a:t>
            </a:r>
            <a:r>
              <a:rPr lang="en-US" altLang="zh-CN" dirty="0"/>
              <a:t>carbs</a:t>
            </a:r>
            <a:r>
              <a:rPr lang="zh-CN" altLang="en-US" dirty="0"/>
              <a:t>）与餐类型（餐</a:t>
            </a:r>
            <a:r>
              <a:rPr lang="en-US" altLang="zh-CN" dirty="0"/>
              <a:t>/</a:t>
            </a:r>
            <a:r>
              <a:rPr lang="zh-CN" altLang="en-US" dirty="0"/>
              <a:t>零食</a:t>
            </a:r>
            <a:r>
              <a:rPr lang="en-US" altLang="zh-CN" dirty="0"/>
              <a:t>/</a:t>
            </a:r>
            <a:r>
              <a:rPr lang="zh-CN" altLang="en-US" dirty="0"/>
              <a:t>饮料）</a:t>
            </a:r>
            <a:endParaRPr lang="en-US" altLang="zh-CN" dirty="0"/>
          </a:p>
          <a:p>
            <a:pPr lvl="1"/>
            <a:endParaRPr lang="en-US" altLang="zh-CN" dirty="0"/>
          </a:p>
          <a:p>
            <a:pPr marL="285750" lvl="1" indent="-285750">
              <a:buFontTx/>
              <a:buChar char="-"/>
            </a:pPr>
            <a:r>
              <a:rPr lang="zh-CN" altLang="en-US" dirty="0"/>
              <a:t>人体活动</a:t>
            </a:r>
            <a:r>
              <a:rPr lang="en-US" altLang="zh-CN" dirty="0"/>
              <a:t>/</a:t>
            </a:r>
            <a:r>
              <a:rPr lang="zh-CN" altLang="en-US" dirty="0"/>
              <a:t>运动、心率</a:t>
            </a:r>
            <a:endParaRPr lang="en-US" altLang="zh-CN" dirty="0"/>
          </a:p>
          <a:p>
            <a:pPr marL="285750" lvl="1" indent="-285750">
              <a:buFontTx/>
              <a:buChar char="-"/>
            </a:pPr>
            <a:endParaRPr lang="en-US" altLang="zh-CN" dirty="0"/>
          </a:p>
          <a:p>
            <a:pPr marL="285750" lvl="1" indent="-285750">
              <a:buFontTx/>
              <a:buChar char="-"/>
            </a:pPr>
            <a:r>
              <a:rPr lang="zh-CN" altLang="en-US" dirty="0"/>
              <a:t>睡眠段</a:t>
            </a:r>
            <a:r>
              <a:rPr lang="en-US" altLang="zh-CN" dirty="0"/>
              <a:t>/</a:t>
            </a:r>
            <a:r>
              <a:rPr lang="zh-CN" altLang="en-US" dirty="0"/>
              <a:t>醒段（或用加速度推断）</a:t>
            </a:r>
            <a:endParaRPr lang="en-US" altLang="zh-CN" dirty="0"/>
          </a:p>
          <a:p>
            <a:pPr marL="285750" lvl="1" indent="-285750">
              <a:buFontTx/>
              <a:buChar char="-"/>
            </a:pPr>
            <a:endParaRPr lang="en-US" altLang="zh-CN" dirty="0"/>
          </a:p>
          <a:p>
            <a:pPr marL="285750" lvl="1" indent="-285750">
              <a:buFontTx/>
              <a:buChar char="-"/>
            </a:pPr>
            <a:r>
              <a:rPr lang="zh-CN" altLang="en-US" dirty="0"/>
              <a:t>人口统计</a:t>
            </a:r>
            <a:r>
              <a:rPr lang="en-US" altLang="zh-CN" dirty="0"/>
              <a:t>/</a:t>
            </a:r>
            <a:r>
              <a:rPr lang="zh-CN" altLang="en-US" dirty="0"/>
              <a:t>体征（年龄、体重、胰岛素敏感性等）</a:t>
            </a:r>
          </a:p>
          <a:p>
            <a:pPr lvl="2"/>
            <a:endParaRPr lang="en-US" altLang="zh-CN" dirty="0"/>
          </a:p>
          <a:p>
            <a:pPr marL="342900" indent="-342900">
              <a:buFont typeface="Arial" panose="020B0604020202020204"/>
              <a:buAutoNum type="arabicPeriod"/>
            </a:pPr>
            <a:endParaRPr lang="en-US" altLang="zh-CN" dirty="0"/>
          </a:p>
        </p:txBody>
      </p:sp>
      <p:sp>
        <p:nvSpPr>
          <p:cNvPr id="5" name="AutoShape 8">
            <a:extLst>
              <a:ext uri="{FF2B5EF4-FFF2-40B4-BE49-F238E27FC236}">
                <a16:creationId xmlns:a16="http://schemas.microsoft.com/office/drawing/2014/main" id="{D16D4F28-44B2-F577-06F3-D2FD5B109630}"/>
              </a:ext>
            </a:extLst>
          </p:cNvPr>
          <p:cNvSpPr/>
          <p:nvPr/>
        </p:nvSpPr>
        <p:spPr>
          <a:xfrm>
            <a:off x="6217057" y="1572097"/>
            <a:ext cx="5207540" cy="4123447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FB50663-FC17-2B4E-B5E6-4454868FA666}"/>
              </a:ext>
            </a:extLst>
          </p:cNvPr>
          <p:cNvSpPr txBox="1"/>
          <p:nvPr/>
        </p:nvSpPr>
        <p:spPr>
          <a:xfrm>
            <a:off x="6478621" y="1833664"/>
            <a:ext cx="4610911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dirty="0"/>
              <a:t>为了减少数据量，这里我们不研究连续时间的输入</a:t>
            </a:r>
            <a:endParaRPr lang="en-US" altLang="zh-CN" dirty="0"/>
          </a:p>
          <a:p>
            <a:pPr marL="342900" indent="-342900">
              <a:buAutoNum type="arabicPeriod"/>
            </a:pPr>
            <a:endParaRPr lang="en-US" altLang="zh-CN" dirty="0"/>
          </a:p>
          <a:p>
            <a:r>
              <a:rPr lang="zh-CN" altLang="en-US" dirty="0"/>
              <a:t>数据删除时间这个维度，只研究固定时间的输入数据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marL="342900" indent="-342900">
              <a:buAutoNum type="arabicPeriod" startAt="2"/>
            </a:pPr>
            <a:r>
              <a:rPr lang="zh-CN" altLang="en-US" dirty="0"/>
              <a:t>为了尽可能使得问题变得可复现，这里的预测结果</a:t>
            </a:r>
            <a:endParaRPr lang="en-US" altLang="zh-CN" dirty="0"/>
          </a:p>
          <a:p>
            <a:pPr marL="342900" indent="-342900">
              <a:buAutoNum type="arabicPeriod" startAt="2"/>
            </a:pPr>
            <a:endParaRPr lang="en-US" altLang="zh-CN" dirty="0"/>
          </a:p>
          <a:p>
            <a:r>
              <a:rPr lang="zh-CN" altLang="en-US" dirty="0"/>
              <a:t>时间维度也删除，也就是说我们只研究固定时刻输入数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据与输出结果</a:t>
            </a:r>
            <a:r>
              <a:rPr lang="en-US" altLang="zh-CN" dirty="0"/>
              <a:t>outcome</a:t>
            </a:r>
            <a:r>
              <a:rPr lang="zh-CN" altLang="en-US" dirty="0"/>
              <a:t>之间的关系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marL="342900" indent="-342900">
              <a:buAutoNum type="arabicPeriod" startAt="3"/>
            </a:pPr>
            <a:r>
              <a:rPr lang="zh-CN" altLang="en-US" dirty="0"/>
              <a:t>总结：我们将原来论文研究的通过输入数据预测未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来</a:t>
            </a:r>
            <a:r>
              <a:rPr lang="en-US" altLang="zh-CN" dirty="0"/>
              <a:t>60</a:t>
            </a:r>
            <a:r>
              <a:rPr lang="zh-CN" altLang="en-US" dirty="0"/>
              <a:t>分钟是否会高血糖的连续时间的二分类简化为：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输入身体健康指标来推测这个人是否有糖尿病</a:t>
            </a:r>
            <a:r>
              <a:rPr lang="en-US" altLang="zh-CN" dirty="0"/>
              <a:t>(</a:t>
            </a:r>
            <a:r>
              <a:rPr lang="zh-CN" altLang="en-US" dirty="0"/>
              <a:t>可能性</a:t>
            </a:r>
            <a:r>
              <a:rPr lang="en-US" altLang="zh-CN" dirty="0"/>
              <a:t>)</a:t>
            </a:r>
            <a:endParaRPr lang="zh-CN" alt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330BF-5BF1-D858-0889-AEBCBB15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D9EF2F7-B937-1396-377B-F6EBA299BED3}"/>
              </a:ext>
            </a:extLst>
          </p:cNvPr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i="0" u="none" strike="noStrike" dirty="0">
                <a:solidFill>
                  <a:srgbClr val="0052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数据集介绍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8FCBFA6-B5E7-6EEE-A6C2-0C309D51EBE9}"/>
              </a:ext>
            </a:extLst>
          </p:cNvPr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DF28CB72-A3AB-76BC-2644-D9158A93CD9F}"/>
              </a:ext>
            </a:extLst>
          </p:cNvPr>
          <p:cNvSpPr/>
          <p:nvPr/>
        </p:nvSpPr>
        <p:spPr>
          <a:xfrm>
            <a:off x="6949873" y="1890693"/>
            <a:ext cx="4064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</p:txBody>
      </p:sp>
      <p:sp>
        <p:nvSpPr>
          <p:cNvPr id="19" name="AutoShape 19">
            <a:extLst>
              <a:ext uri="{FF2B5EF4-FFF2-40B4-BE49-F238E27FC236}">
                <a16:creationId xmlns:a16="http://schemas.microsoft.com/office/drawing/2014/main" id="{3CA0B97C-CBCF-900B-4265-C1508271044B}"/>
              </a:ext>
            </a:extLst>
          </p:cNvPr>
          <p:cNvSpPr/>
          <p:nvPr/>
        </p:nvSpPr>
        <p:spPr>
          <a:xfrm>
            <a:off x="762000" y="5842000"/>
            <a:ext cx="10668000" cy="12700"/>
          </a:xfrm>
          <a:prstGeom prst="roundRect">
            <a:avLst>
              <a:gd name="adj" fmla="val 0"/>
            </a:avLst>
          </a:prstGeom>
          <a:solidFill>
            <a:srgbClr val="0052FF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2893739-6F7E-073E-43E7-F76FB1C66962}"/>
              </a:ext>
            </a:extLst>
          </p:cNvPr>
          <p:cNvSpPr txBox="1"/>
          <p:nvPr/>
        </p:nvSpPr>
        <p:spPr>
          <a:xfrm>
            <a:off x="3035030" y="822523"/>
            <a:ext cx="2228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hlinkClick r:id="rId3"/>
              </a:rPr>
              <a:t>Kaggle </a:t>
            </a:r>
            <a:r>
              <a:rPr lang="zh-CN" altLang="en-US" dirty="0">
                <a:hlinkClick r:id="rId3"/>
              </a:rPr>
              <a:t>糖尿病公开数据集</a:t>
            </a:r>
            <a:endParaRPr lang="zh-CN" altLang="en-US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DC2B349F-4820-C56F-F147-6040ED90E2C8}"/>
              </a:ext>
            </a:extLst>
          </p:cNvPr>
          <p:cNvSpPr txBox="1"/>
          <p:nvPr/>
        </p:nvSpPr>
        <p:spPr>
          <a:xfrm>
            <a:off x="762000" y="1434830"/>
            <a:ext cx="1054154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0052FF"/>
                </a:solidFill>
              </a:rPr>
              <a:t>背景：</a:t>
            </a:r>
            <a:endParaRPr lang="en-US" altLang="zh-CN" sz="1800" dirty="0">
              <a:solidFill>
                <a:srgbClr val="0052FF"/>
              </a:solidFill>
            </a:endParaRPr>
          </a:p>
          <a:p>
            <a:endParaRPr lang="en-US" altLang="zh-CN" dirty="0"/>
          </a:p>
          <a:p>
            <a:r>
              <a:rPr lang="zh-CN" altLang="en-US" dirty="0"/>
              <a:t>该数据集最初来自美国国家糖尿病、消化和肾脏疾病研究所。其目标是根据诊断测量结果预测患者是否患有糖尿病。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3736C6B-EE37-6916-E43F-0351D1F4F758}"/>
              </a:ext>
            </a:extLst>
          </p:cNvPr>
          <p:cNvSpPr txBox="1"/>
          <p:nvPr/>
        </p:nvSpPr>
        <p:spPr>
          <a:xfrm>
            <a:off x="714223" y="2582573"/>
            <a:ext cx="10876284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0052FF"/>
                </a:solidFill>
              </a:rPr>
              <a:t>内容：</a:t>
            </a:r>
            <a:endParaRPr lang="en-US" altLang="zh-CN" sz="1800" dirty="0">
              <a:solidFill>
                <a:srgbClr val="0052FF"/>
              </a:solidFill>
            </a:endParaRPr>
          </a:p>
          <a:p>
            <a:endParaRPr lang="en-US" altLang="zh-CN" dirty="0">
              <a:solidFill>
                <a:schemeClr val="accent1"/>
              </a:solidFill>
            </a:endParaRPr>
          </a:p>
          <a:p>
            <a:r>
              <a:rPr lang="zh-CN" altLang="en-US" dirty="0"/>
              <a:t>从大型数据库中选取这些病例时，我们设置了若干限制条件。具体而言，所有患者均为至少 </a:t>
            </a:r>
            <a:r>
              <a:rPr lang="en-US" altLang="zh-CN" dirty="0"/>
              <a:t>21 </a:t>
            </a:r>
            <a:r>
              <a:rPr lang="zh-CN" altLang="en-US" dirty="0"/>
              <a:t>岁且具有皮马印第安人血统的女性。</a:t>
            </a:r>
            <a:endParaRPr lang="en-US" altLang="zh-CN" dirty="0"/>
          </a:p>
          <a:p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妊娠次数：妊娠次数</a:t>
            </a: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血糖：口服葡萄糖耐量试验 </a:t>
            </a:r>
            <a:r>
              <a:rPr lang="en-US" altLang="zh-CN" dirty="0"/>
              <a:t>2 </a:t>
            </a:r>
            <a:r>
              <a:rPr lang="zh-CN" altLang="en-US" dirty="0"/>
              <a:t>小时后的血浆葡萄糖浓度</a:t>
            </a: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血压：舒张压（毫米汞柱）</a:t>
            </a: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皮肤厚度：肱三头肌皮褶厚度（毫米）</a:t>
            </a: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胰岛素：</a:t>
            </a:r>
            <a:r>
              <a:rPr lang="en-US" altLang="zh-CN" dirty="0"/>
              <a:t>2 </a:t>
            </a:r>
            <a:r>
              <a:rPr lang="zh-CN" altLang="en-US" dirty="0"/>
              <a:t>小时血清胰岛素（微单位</a:t>
            </a:r>
            <a:r>
              <a:rPr lang="en-US" altLang="zh-CN" dirty="0"/>
              <a:t>/</a:t>
            </a:r>
            <a:r>
              <a:rPr lang="zh-CN" altLang="en-US" dirty="0"/>
              <a:t>毫升）</a:t>
            </a: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8C3FEA0-96E0-A5F9-0D13-66BA04F8A05F}"/>
              </a:ext>
            </a:extLst>
          </p:cNvPr>
          <p:cNvSpPr txBox="1"/>
          <p:nvPr/>
        </p:nvSpPr>
        <p:spPr>
          <a:xfrm>
            <a:off x="6152365" y="3429000"/>
            <a:ext cx="474709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altLang="zh-CN" dirty="0"/>
              <a:t>BMI</a:t>
            </a:r>
            <a:r>
              <a:rPr lang="zh-CN" altLang="en-US" dirty="0"/>
              <a:t>：体重指数</a:t>
            </a: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糖尿病家系：糖尿病谱系函数</a:t>
            </a: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年龄：年龄（岁）</a:t>
            </a:r>
            <a:endParaRPr lang="en-US" altLang="zh-CN" dirty="0"/>
          </a:p>
          <a:p>
            <a:pPr marL="285750" indent="-285750">
              <a:buFontTx/>
              <a:buChar char="-"/>
            </a:pPr>
            <a:endParaRPr lang="en-US" altLang="zh-CN" dirty="0"/>
          </a:p>
          <a:p>
            <a:pPr marL="285750" indent="-285750">
              <a:buFontTx/>
              <a:buChar char="-"/>
            </a:pPr>
            <a:r>
              <a:rPr lang="zh-CN" altLang="en-US" dirty="0"/>
              <a:t>结果：分类变量（</a:t>
            </a:r>
            <a:r>
              <a:rPr lang="en-US" altLang="zh-CN" dirty="0"/>
              <a:t>0 </a:t>
            </a:r>
            <a:r>
              <a:rPr lang="zh-CN" altLang="en-US" dirty="0"/>
              <a:t>或 </a:t>
            </a:r>
            <a:r>
              <a:rPr lang="en-US" altLang="zh-CN" dirty="0"/>
              <a:t>1</a:t>
            </a:r>
            <a:r>
              <a:rPr lang="zh-CN" altLang="en-US" dirty="0"/>
              <a:t>）</a:t>
            </a:r>
          </a:p>
          <a:p>
            <a:endParaRPr lang="zh-CN" altLang="en-US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0DBC2F0-79B5-92C3-036A-7F27FA46BF26}"/>
              </a:ext>
            </a:extLst>
          </p:cNvPr>
          <p:cNvSpPr txBox="1"/>
          <p:nvPr/>
        </p:nvSpPr>
        <p:spPr>
          <a:xfrm>
            <a:off x="5413442" y="818195"/>
            <a:ext cx="18117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hlinkClick r:id="rId4" action="ppaction://hlinkfile"/>
              </a:rPr>
              <a:t>数据集表格</a:t>
            </a:r>
            <a:r>
              <a:rPr lang="en-US" altLang="zh-CN" dirty="0">
                <a:hlinkClick r:id="rId4" action="ppaction://hlinkfile"/>
              </a:rPr>
              <a:t>CSV</a:t>
            </a:r>
            <a:r>
              <a:rPr lang="zh-CN" altLang="en-US" dirty="0">
                <a:hlinkClick r:id="rId4" action="ppaction://hlinkfile"/>
              </a:rPr>
              <a:t>文件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0613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3B75C-7F3C-8CFE-1270-017C34BC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E902E3B-EABA-F961-33F7-0A52454C00B6}"/>
              </a:ext>
            </a:extLst>
          </p:cNvPr>
          <p:cNvSpPr/>
          <p:nvPr/>
        </p:nvSpPr>
        <p:spPr>
          <a:xfrm>
            <a:off x="762000" y="508000"/>
            <a:ext cx="3581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3200" b="1" i="0" u="none" strike="noStrike" dirty="0">
                <a:solidFill>
                  <a:srgbClr val="0052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数据集介绍</a:t>
            </a:r>
            <a:endParaRPr lang="en-US" sz="1100" dirty="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34C7C4FE-B4CA-D666-4AAA-4B12CC5E5E1B}"/>
              </a:ext>
            </a:extLst>
          </p:cNvPr>
          <p:cNvSpPr/>
          <p:nvPr/>
        </p:nvSpPr>
        <p:spPr>
          <a:xfrm>
            <a:off x="762000" y="1079500"/>
            <a:ext cx="508000" cy="50800"/>
          </a:xfrm>
          <a:prstGeom prst="roundRect">
            <a:avLst>
              <a:gd name="adj" fmla="val 0"/>
            </a:avLst>
          </a:prstGeom>
          <a:solidFill>
            <a:srgbClr val="0052FF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" name="AutoShape 11">
            <a:extLst>
              <a:ext uri="{FF2B5EF4-FFF2-40B4-BE49-F238E27FC236}">
                <a16:creationId xmlns:a16="http://schemas.microsoft.com/office/drawing/2014/main" id="{29102929-C2C5-FE57-1CBD-2CEF6D5436CF}"/>
              </a:ext>
            </a:extLst>
          </p:cNvPr>
          <p:cNvSpPr/>
          <p:nvPr/>
        </p:nvSpPr>
        <p:spPr>
          <a:xfrm>
            <a:off x="6949873" y="1890693"/>
            <a:ext cx="4064000" cy="57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</p:txBody>
      </p:sp>
      <p:sp>
        <p:nvSpPr>
          <p:cNvPr id="19" name="AutoShape 19">
            <a:extLst>
              <a:ext uri="{FF2B5EF4-FFF2-40B4-BE49-F238E27FC236}">
                <a16:creationId xmlns:a16="http://schemas.microsoft.com/office/drawing/2014/main" id="{5D4E49C4-A65A-7954-AB46-53E4BA53D70A}"/>
              </a:ext>
            </a:extLst>
          </p:cNvPr>
          <p:cNvSpPr/>
          <p:nvPr/>
        </p:nvSpPr>
        <p:spPr>
          <a:xfrm>
            <a:off x="762000" y="5842000"/>
            <a:ext cx="10668000" cy="12700"/>
          </a:xfrm>
          <a:prstGeom prst="roundRect">
            <a:avLst>
              <a:gd name="adj" fmla="val 0"/>
            </a:avLst>
          </a:prstGeom>
          <a:solidFill>
            <a:srgbClr val="0052FF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1BF3F90B-AE7D-2DC1-4AB3-2A79509317ED}"/>
              </a:ext>
            </a:extLst>
          </p:cNvPr>
          <p:cNvSpPr txBox="1"/>
          <p:nvPr/>
        </p:nvSpPr>
        <p:spPr>
          <a:xfrm>
            <a:off x="762000" y="1434830"/>
            <a:ext cx="10541540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800" dirty="0">
                <a:solidFill>
                  <a:srgbClr val="0052FF"/>
                </a:solidFill>
              </a:rPr>
              <a:t>来源：</a:t>
            </a:r>
            <a:endParaRPr lang="en-US" altLang="zh-CN" sz="1800" dirty="0">
              <a:solidFill>
                <a:srgbClr val="0052FF"/>
              </a:solidFill>
            </a:endParaRPr>
          </a:p>
          <a:p>
            <a:endParaRPr lang="en-US" altLang="zh-CN" dirty="0"/>
          </a:p>
          <a:p>
            <a:r>
              <a:rPr lang="en-US" altLang="zh-CN" dirty="0"/>
              <a:t>1.     Original owners: National Institute of Diabetes and Digestive </a:t>
            </a:r>
            <a:r>
              <a:rPr lang="en-US" altLang="zh-CN" dirty="0" err="1"/>
              <a:t>andKidney</a:t>
            </a:r>
            <a:r>
              <a:rPr lang="en-US" altLang="zh-CN" dirty="0"/>
              <a:t> Diseases</a:t>
            </a:r>
          </a:p>
          <a:p>
            <a:br>
              <a:rPr lang="en-US" altLang="zh-CN" dirty="0"/>
            </a:br>
            <a:r>
              <a:rPr lang="en-US" altLang="zh-CN" dirty="0"/>
              <a:t>2.     Donor of database: Vincent </a:t>
            </a:r>
            <a:r>
              <a:rPr lang="en-US" altLang="zh-CN" dirty="0" err="1"/>
              <a:t>Sigillito</a:t>
            </a:r>
            <a:r>
              <a:rPr lang="en-US" altLang="zh-CN" dirty="0"/>
              <a:t> (</a:t>
            </a:r>
            <a:r>
              <a:rPr lang="en-US" altLang="zh-CN" dirty="0">
                <a:hlinkClick r:id="rId3"/>
              </a:rPr>
              <a:t>vgs@aplcen.apl.jhu.edu</a:t>
            </a:r>
            <a:r>
              <a:rPr lang="en-US" altLang="zh-CN" dirty="0"/>
              <a:t>)</a:t>
            </a:r>
            <a:r>
              <a:rPr lang="zh-CN" altLang="en-US" dirty="0"/>
              <a:t>；</a:t>
            </a:r>
            <a:r>
              <a:rPr lang="en-US" altLang="zh-CN" dirty="0"/>
              <a:t>Research Center, RMI Group Leader</a:t>
            </a:r>
            <a:r>
              <a:rPr lang="zh-CN" altLang="en-US" dirty="0"/>
              <a:t>；</a:t>
            </a:r>
            <a:r>
              <a:rPr lang="en-US" altLang="zh-CN" dirty="0"/>
              <a:t>Applied Physics Laboratory</a:t>
            </a:r>
            <a:r>
              <a:rPr lang="zh-CN" altLang="en-US" dirty="0"/>
              <a:t>；</a:t>
            </a:r>
            <a:r>
              <a:rPr lang="en-US" altLang="zh-CN" dirty="0"/>
              <a:t>The Johns Hopkins University</a:t>
            </a:r>
            <a:r>
              <a:rPr lang="zh-CN" altLang="en-US" dirty="0"/>
              <a:t>；</a:t>
            </a:r>
            <a:r>
              <a:rPr lang="en-US" altLang="zh-CN" dirty="0"/>
              <a:t>Johns Hopkins Road</a:t>
            </a:r>
            <a:r>
              <a:rPr lang="zh-CN" altLang="en-US" dirty="0"/>
              <a:t>；</a:t>
            </a:r>
            <a:r>
              <a:rPr lang="en-US" altLang="zh-CN" dirty="0"/>
              <a:t>Laurel, MD 20707(301) 953-6231</a:t>
            </a:r>
            <a:br>
              <a:rPr lang="en-US" altLang="zh-CN" dirty="0"/>
            </a:br>
            <a:endParaRPr lang="en-US" altLang="zh-CN" dirty="0"/>
          </a:p>
          <a:p>
            <a:pPr marL="342900" indent="-342900">
              <a:buAutoNum type="arabicPeriod" startAt="3"/>
            </a:pPr>
            <a:r>
              <a:rPr lang="en-US" altLang="zh-CN" dirty="0"/>
              <a:t>Date received: 9 May 1990</a:t>
            </a:r>
          </a:p>
          <a:p>
            <a:pPr marL="342900" indent="-342900">
              <a:buAutoNum type="arabicPeriod" startAt="3"/>
            </a:pPr>
            <a:endParaRPr lang="en-US" altLang="zh-CN" dirty="0"/>
          </a:p>
          <a:p>
            <a:pPr marL="342900" indent="-342900">
              <a:buAutoNum type="arabicPeriod" startAt="3"/>
            </a:pPr>
            <a:endParaRPr lang="en-US" altLang="zh-CN" dirty="0"/>
          </a:p>
          <a:p>
            <a:r>
              <a:rPr lang="en-US" altLang="zh-CN" b="1" dirty="0"/>
              <a:t>Number of Instances: 768</a:t>
            </a:r>
            <a:endParaRPr lang="en-US" altLang="zh-CN" dirty="0"/>
          </a:p>
          <a:p>
            <a:pPr marL="342900" indent="-342900">
              <a:buAutoNum type="arabicPeriod" startAt="3"/>
            </a:pPr>
            <a:endParaRPr lang="en-US" altLang="zh-CN" dirty="0"/>
          </a:p>
          <a:p>
            <a:pPr marL="342900" indent="-342900">
              <a:buAutoNum type="arabicPeriod" startAt="3"/>
            </a:pPr>
            <a:endParaRPr lang="en-US" altLang="zh-CN" dirty="0"/>
          </a:p>
          <a:p>
            <a:r>
              <a:rPr lang="zh-CN" altLang="en-US" sz="1800" dirty="0">
                <a:solidFill>
                  <a:srgbClr val="0052FF"/>
                </a:solidFill>
              </a:rPr>
              <a:t>说明：</a:t>
            </a:r>
            <a:endParaRPr lang="en-US" altLang="zh-CN" sz="1800" dirty="0">
              <a:solidFill>
                <a:srgbClr val="0052FF"/>
              </a:solidFill>
            </a:endParaRPr>
          </a:p>
          <a:p>
            <a:endParaRPr lang="en-US" altLang="zh-CN" sz="1800" dirty="0">
              <a:solidFill>
                <a:srgbClr val="0052FF"/>
              </a:solidFill>
            </a:endParaRPr>
          </a:p>
          <a:p>
            <a:r>
              <a:rPr lang="zh-CN" altLang="en-US" dirty="0"/>
              <a:t>本数据集将被划分成两部分，</a:t>
            </a:r>
            <a:r>
              <a:rPr lang="en-US" altLang="zh-CN" dirty="0"/>
              <a:t>80%</a:t>
            </a:r>
            <a:r>
              <a:rPr lang="zh-CN" altLang="en-US" dirty="0"/>
              <a:t>的数据用来训练，</a:t>
            </a:r>
            <a:r>
              <a:rPr lang="en-US" altLang="zh-CN" dirty="0"/>
              <a:t>20%</a:t>
            </a:r>
            <a:r>
              <a:rPr lang="zh-CN" altLang="en-US" dirty="0"/>
              <a:t>的数据用来验证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648242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652</Words>
  <Application>Microsoft Office PowerPoint</Application>
  <PresentationFormat>宽屏</PresentationFormat>
  <Paragraphs>108</Paragraphs>
  <Slides>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Noto Sans SC</vt:lpstr>
      <vt:lpstr>黑体</vt:lpstr>
      <vt:lpstr>Arial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gby@edu.nuc.email</cp:lastModifiedBy>
  <cp:revision>74</cp:revision>
  <dcterms:created xsi:type="dcterms:W3CDTF">2026-03-25T08:22:00Z</dcterms:created>
  <dcterms:modified xsi:type="dcterms:W3CDTF">2026-03-29T04:19:25Z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8921C6EC268644C88DED4A4F5FCA24EE_12</vt:lpwstr>
  </property>
</Properties>
</file>