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2"/>
  </p:sldMasterIdLst>
  <p:notesMasterIdLst>
    <p:notesMasterId r:id="rId13"/>
  </p:notesMasterIdLst>
  <p:sldIdLst>
    <p:sldId id="277" r:id="rId3"/>
    <p:sldId id="257" r:id="rId4"/>
    <p:sldId id="295" r:id="rId5"/>
    <p:sldId id="285" r:id="rId6"/>
    <p:sldId id="258" r:id="rId7"/>
    <p:sldId id="293" r:id="rId8"/>
    <p:sldId id="294" r:id="rId9"/>
    <p:sldId id="296" r:id="rId10"/>
    <p:sldId id="297" r:id="rId11"/>
    <p:sldId id="298" r:id="rId1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46" userDrawn="1">
          <p15:clr>
            <a:srgbClr val="747775"/>
          </p15:clr>
        </p15:guide>
        <p15:guide id="2" pos="2872"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52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131" d="100"/>
          <a:sy n="131" d="100"/>
        </p:scale>
        <p:origin x="108" y="100"/>
      </p:cViewPr>
      <p:guideLst>
        <p:guide orient="horz" pos="1646"/>
        <p:guide pos="287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29.03.2026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B4327-933C-CEDE-CB30-3390CB265AE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6E225C7-1AF9-B7C7-09DF-A2C2473E52F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ED922E2-7B15-142B-98DD-38266ADCC7F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C0C79C40-B672-E3DE-C412-C5E94F1C99F8}"/>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27E68E2B-C612-4123-3EAD-831CFAAFC700}"/>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0A17323-1E71-48B3-6324-6136FB44A1E8}"/>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4F5F2A3D-2E17-7F58-5D1D-F085C171E83A}"/>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3240586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CE986-F621-79BD-1B0F-19556F728A2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9E1CE37-1BC8-86FA-4514-563C32648DB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053E0BB-E826-632A-6A90-93B7830B94F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ABD2A7B-7F24-70AE-2D06-6CC7D624C91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707B696-A746-59A6-E641-448813990D3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51A78AD8-CB19-F4A9-27C8-A9D899F6FFA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E045B65E-5555-71AC-0DEB-48A12597D7A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8244620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31C6B-6D2C-FC86-EB76-1986635B2366}"/>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CED1938-5126-3004-8BF1-9BC043B7E523}"/>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9F402FD-411F-F071-E73F-92AB92E6885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9590D34-FDB1-16EB-DDB0-CB003EB4ADB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EFCC6EF-A955-3F51-7E04-6706CFBC04E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584A24E9-B3BC-EDE5-E53D-11D41B88926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E04FCF3-3367-1559-5FF6-FD1B1667AE1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3712032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0C6E1-1404-DDD0-4D60-8A64BEC12337}"/>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636BCEF9-A630-C4E3-C3D3-60DB219574E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EE3ABFE-861C-27AE-556C-EE69ED793662}"/>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9D86AD3-5472-B79A-BE01-EA5E77E124C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7F08A26A-7265-86CE-6355-550C39D2783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E417EDF7-352D-CFFF-B957-D7A3A08A999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84EC14E-8387-0BFA-0650-A76CC479A22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1327471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标题幻灯片" type="title">
  <p:cSld name="TITLE">
    <p:spTree>
      <p:nvGrpSpPr>
        <p:cNvPr id="1" name="Shape 11"/>
        <p:cNvGrpSpPr/>
        <p:nvPr/>
      </p:nvGrpSpPr>
      <p:grpSpPr>
        <a:xfrm>
          <a:off x="0" y="0"/>
          <a:ext cx="0" cy="0"/>
          <a:chOff x="0" y="0"/>
          <a:chExt cx="0" cy="0"/>
        </a:xfrm>
      </p:grpSpPr>
      <p:sp>
        <p:nvSpPr>
          <p:cNvPr id="12" name="Shape 3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 name="Shape 31"/>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4" name="Shape 3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5" name="Shape 3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6" name="Shape 3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标题和内容" type="obj">
  <p:cSld name="OBJECT">
    <p:spTree>
      <p:nvGrpSpPr>
        <p:cNvPr id="1" name="Shape 17"/>
        <p:cNvGrpSpPr/>
        <p:nvPr/>
      </p:nvGrpSpPr>
      <p:grpSpPr>
        <a:xfrm>
          <a:off x="0" y="0"/>
          <a:ext cx="0" cy="0"/>
          <a:chOff x="0" y="0"/>
          <a:chExt cx="0" cy="0"/>
        </a:xfrm>
      </p:grpSpPr>
      <p:sp>
        <p:nvSpPr>
          <p:cNvPr id="18" name="Shape 5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9" name="Shape 55"/>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 name="Shape 5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 name="Shape 5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 name="Shape 5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节标题" type="secHead">
  <p:cSld name="SECTION_HEADER">
    <p:spTree>
      <p:nvGrpSpPr>
        <p:cNvPr id="1" name="Shape 23"/>
        <p:cNvGrpSpPr/>
        <p:nvPr/>
      </p:nvGrpSpPr>
      <p:grpSpPr>
        <a:xfrm>
          <a:off x="0" y="0"/>
          <a:ext cx="0" cy="0"/>
          <a:chOff x="0" y="0"/>
          <a:chExt cx="0" cy="0"/>
        </a:xfrm>
      </p:grpSpPr>
      <p:sp>
        <p:nvSpPr>
          <p:cNvPr id="24" name="Shape 59"/>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5" name="Shape 60"/>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Shape 6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7" name="Shape 6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8" name="Shape 6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两栏内容" type="twoObj">
  <p:cSld name="TWO_OBJECTS">
    <p:spTree>
      <p:nvGrpSpPr>
        <p:cNvPr id="1" name="Shape 29"/>
        <p:cNvGrpSpPr/>
        <p:nvPr/>
      </p:nvGrpSpPr>
      <p:grpSpPr>
        <a:xfrm>
          <a:off x="0" y="0"/>
          <a:ext cx="0" cy="0"/>
          <a:chOff x="0" y="0"/>
          <a:chExt cx="0" cy="0"/>
        </a:xfrm>
      </p:grpSpPr>
      <p:sp>
        <p:nvSpPr>
          <p:cNvPr id="30" name="Shape 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1" name="Shape 10"/>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Shape 11"/>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Shape 1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4" name="Shape 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5" name="Shape 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较" type="twoTxTwoObj">
  <p:cSld name="TWO_OBJECTS_WITH_TEXT">
    <p:spTree>
      <p:nvGrpSpPr>
        <p:cNvPr id="1" name="Shape 36"/>
        <p:cNvGrpSpPr/>
        <p:nvPr/>
      </p:nvGrpSpPr>
      <p:grpSpPr>
        <a:xfrm>
          <a:off x="0" y="0"/>
          <a:ext cx="0" cy="0"/>
          <a:chOff x="0" y="0"/>
          <a:chExt cx="0" cy="0"/>
        </a:xfrm>
      </p:grpSpPr>
      <p:sp>
        <p:nvSpPr>
          <p:cNvPr id="37" name="Shape 35"/>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8" name="Shape 36"/>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Shape 37"/>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Shape 38"/>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Shape 39"/>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Shape 4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3" name="Shape 4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4" name="Shape 4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仅标题" type="titleOnly">
  <p:cSld name="TITLE_ONLY">
    <p:spTree>
      <p:nvGrpSpPr>
        <p:cNvPr id="1" name="Shape 45"/>
        <p:cNvGrpSpPr/>
        <p:nvPr/>
      </p:nvGrpSpPr>
      <p:grpSpPr>
        <a:xfrm>
          <a:off x="0" y="0"/>
          <a:ext cx="0" cy="0"/>
          <a:chOff x="0" y="0"/>
          <a:chExt cx="0" cy="0"/>
        </a:xfrm>
      </p:grpSpPr>
      <p:sp>
        <p:nvSpPr>
          <p:cNvPr id="46" name="Shape 20"/>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7" name="Shape 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8" name="Shape 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9" name="Shape 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空白" type="blank">
  <p:cSld name="BLANK">
    <p:spTree>
      <p:nvGrpSpPr>
        <p:cNvPr id="1" name="Shape 50"/>
        <p:cNvGrpSpPr/>
        <p:nvPr/>
      </p:nvGrpSpPr>
      <p:grpSpPr>
        <a:xfrm>
          <a:off x="0" y="0"/>
          <a:ext cx="0" cy="0"/>
          <a:chOff x="0" y="0"/>
          <a:chExt cx="0" cy="0"/>
        </a:xfrm>
      </p:grpSpPr>
      <p:sp>
        <p:nvSpPr>
          <p:cNvPr id="51" name="Shape 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2" name="Shape 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3" name="Shape 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内容与标题" type="objTx">
  <p:cSld name="OBJECT_WITH_CAPTION_TEXT">
    <p:spTree>
      <p:nvGrpSpPr>
        <p:cNvPr id="1" name="Shape 54"/>
        <p:cNvGrpSpPr/>
        <p:nvPr/>
      </p:nvGrpSpPr>
      <p:grpSpPr>
        <a:xfrm>
          <a:off x="0" y="0"/>
          <a:ext cx="0" cy="0"/>
          <a:chOff x="0" y="0"/>
          <a:chExt cx="0" cy="0"/>
        </a:xfrm>
      </p:grpSpPr>
      <p:sp>
        <p:nvSpPr>
          <p:cNvPr id="55" name="Shape 4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6" name="Shape 44"/>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7" name="Shape 45"/>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8" name="Shape 4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9" name="Shape 4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0" name="Shape 4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图片与标题" type="picTx">
  <p:cSld name="PICTURE_WITH_CAPTION_TEXT">
    <p:spTree>
      <p:nvGrpSpPr>
        <p:cNvPr id="1" name="Shape 61"/>
        <p:cNvGrpSpPr/>
        <p:nvPr/>
      </p:nvGrpSpPr>
      <p:grpSpPr>
        <a:xfrm>
          <a:off x="0" y="0"/>
          <a:ext cx="0" cy="0"/>
          <a:chOff x="0" y="0"/>
          <a:chExt cx="0" cy="0"/>
        </a:xfrm>
      </p:grpSpPr>
      <p:sp>
        <p:nvSpPr>
          <p:cNvPr id="62" name="Shape 24"/>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3" name="Shape 25"/>
          <p:cNvSpPr>
            <a:spLocks noGrp="1"/>
          </p:cNvSpPr>
          <p:nvPr>
            <p:ph type="pic" idx="2"/>
          </p:nvPr>
        </p:nvSpPr>
        <p:spPr>
          <a:xfrm>
            <a:off x="3887391" y="740569"/>
            <a:ext cx="4629150" cy="3655219"/>
          </a:xfrm>
          <a:prstGeom prst="rect">
            <a:avLst/>
          </a:prstGeom>
          <a:noFill/>
          <a:ln>
            <a:noFill/>
          </a:ln>
        </p:spPr>
      </p:sp>
      <p:sp>
        <p:nvSpPr>
          <p:cNvPr id="64" name="Shape 26"/>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5" name="Shape 2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6" name="Shape 2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7" name="Shape 2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标题和竖排文字" type="vertTx">
  <p:cSld name="VERTICAL_TEXT">
    <p:spTree>
      <p:nvGrpSpPr>
        <p:cNvPr id="1" name="Shape 68"/>
        <p:cNvGrpSpPr/>
        <p:nvPr/>
      </p:nvGrpSpPr>
      <p:grpSpPr>
        <a:xfrm>
          <a:off x="0" y="0"/>
          <a:ext cx="0" cy="0"/>
          <a:chOff x="0" y="0"/>
          <a:chExt cx="0" cy="0"/>
        </a:xfrm>
      </p:grpSpPr>
      <p:sp>
        <p:nvSpPr>
          <p:cNvPr id="69" name="Shape 4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0" name="Shape 50"/>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1" name="Shape 5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2" name="Shape 5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3" name="Shape 5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竖排标题与文本" type="vertTitleAndTx">
  <p:cSld name="VERTICAL_TITLE_AND_VERTICAL_TEXT">
    <p:spTree>
      <p:nvGrpSpPr>
        <p:cNvPr id="1" name="Shape 74"/>
        <p:cNvGrpSpPr/>
        <p:nvPr/>
      </p:nvGrpSpPr>
      <p:grpSpPr>
        <a:xfrm>
          <a:off x="0" y="0"/>
          <a:ext cx="0" cy="0"/>
          <a:chOff x="0" y="0"/>
          <a:chExt cx="0" cy="0"/>
        </a:xfrm>
      </p:grpSpPr>
      <p:sp>
        <p:nvSpPr>
          <p:cNvPr id="75" name="Shape 1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6" name="Shape 16"/>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7" name="Shape 1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8" name="Shape 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9" name="Shape 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7" name="Shape 2"/>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8" name="Shape 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9" name="Shape 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10" name="Shape 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hyperlink" Target="https://www.kaggle.com/datasets/mathchi/diabetes-data-set/data"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diabetes.csv"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mailto:vgs@aplcen.apl.jhu.edu"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形 29"/>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
            <a:ext cx="12192000" cy="6859051"/>
          </a:xfrm>
          <a:prstGeom prst="rect">
            <a:avLst/>
          </a:prstGeom>
        </p:spPr>
      </p:pic>
      <p:pic>
        <p:nvPicPr>
          <p:cNvPr id="32" name="图形 3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875" y="167005"/>
            <a:ext cx="11518900" cy="6197600"/>
          </a:xfrm>
          <a:prstGeom prst="rect">
            <a:avLst/>
          </a:prstGeom>
        </p:spPr>
      </p:pic>
      <p:pic>
        <p:nvPicPr>
          <p:cNvPr id="3" name="图片 2" descr="9717abb16921ec7e0dd594a564d1e80"/>
          <p:cNvPicPr>
            <a:picLocks noChangeAspect="1"/>
          </p:cNvPicPr>
          <p:nvPr/>
        </p:nvPicPr>
        <p:blipFill>
          <a:blip r:embed="rId6"/>
          <a:stretch>
            <a:fillRect/>
          </a:stretch>
        </p:blipFill>
        <p:spPr>
          <a:xfrm>
            <a:off x="5309235" y="400685"/>
            <a:ext cx="1502410" cy="1504315"/>
          </a:xfrm>
          <a:prstGeom prst="rect">
            <a:avLst/>
          </a:prstGeom>
        </p:spPr>
      </p:pic>
      <p:sp>
        <p:nvSpPr>
          <p:cNvPr id="10" name="文本框 9"/>
          <p:cNvSpPr txBox="1"/>
          <p:nvPr/>
        </p:nvSpPr>
        <p:spPr>
          <a:xfrm>
            <a:off x="1015365" y="2294255"/>
            <a:ext cx="10467340" cy="583565"/>
          </a:xfrm>
          <a:prstGeom prst="rect">
            <a:avLst/>
          </a:prstGeom>
          <a:noFill/>
        </p:spPr>
        <p:txBody>
          <a:bodyPr wrap="square" rtlCol="0">
            <a:spAutoFit/>
          </a:bodyPr>
          <a:lstStyle/>
          <a:p>
            <a:r>
              <a:rPr lang="zh-CN" altLang="en-US" sz="3200" b="1" dirty="0">
                <a:solidFill>
                  <a:schemeClr val="tx1"/>
                </a:solidFill>
                <a:latin typeface="黑体" panose="02010609060101010101" charset="-122"/>
                <a:ea typeface="黑体" panose="02010609060101010101" charset="-122"/>
                <a:cs typeface="Noto Sans SC" panose="020B0200000000000000" charset="-122"/>
                <a:sym typeface="Noto Sans SC" panose="020B0200000000000000" charset="-122"/>
              </a:rPr>
              <a:t>      基于机器学习的血糖预测模型研究与应用</a:t>
            </a:r>
            <a:endParaRPr lang="en-US" altLang="en-US" sz="3200" b="1" dirty="0">
              <a:solidFill>
                <a:schemeClr val="tx1"/>
              </a:solidFill>
              <a:latin typeface="黑体" panose="02010609060101010101" charset="-122"/>
              <a:ea typeface="黑体" panose="02010609060101010101" charset="-122"/>
              <a:cs typeface="Noto Sans SC" panose="020B0200000000000000" charset="-122"/>
              <a:sym typeface="Noto Sans SC" panose="020B0200000000000000" charset="-122"/>
            </a:endParaRPr>
          </a:p>
        </p:txBody>
      </p:sp>
      <p:sp>
        <p:nvSpPr>
          <p:cNvPr id="11" name="AutoShape 7"/>
          <p:cNvSpPr/>
          <p:nvPr/>
        </p:nvSpPr>
        <p:spPr>
          <a:xfrm>
            <a:off x="2286000" y="3429000"/>
            <a:ext cx="7620000" cy="508000"/>
          </a:xfrm>
          <a:prstGeom prst="rect">
            <a:avLst/>
          </a:prstGeom>
          <a:noFill/>
          <a:ln w="12700" cap="flat" cmpd="sng">
            <a:noFill/>
            <a:prstDash val="solid"/>
            <a:round/>
          </a:ln>
        </p:spPr>
        <p:txBody>
          <a:bodyPr vert="horz" wrap="none" lIns="0" tIns="0" rIns="0" bIns="0" rtlCol="0" anchor="t" anchorCtr="0"/>
          <a:lstStyle/>
          <a:p>
            <a:pPr indent="0" algn="ctr">
              <a:lnSpc>
                <a:spcPct val="125000"/>
              </a:lnSpc>
              <a:defRPr/>
            </a:pPr>
            <a:r>
              <a:rPr lang="en-US" sz="2000" b="0" i="0" u="none" strike="noStrike" spc="400">
                <a:solidFill>
                  <a:schemeClr val="tx1"/>
                </a:solidFill>
                <a:latin typeface="+mn-ea"/>
                <a:ea typeface="+mn-ea"/>
                <a:cs typeface="Noto Sans SC" panose="020B0200000000000000" charset="-122"/>
                <a:sym typeface="Noto Sans SC" panose="020B0200000000000000" charset="-122"/>
              </a:rPr>
              <a:t>课程汇报</a:t>
            </a:r>
          </a:p>
        </p:txBody>
      </p:sp>
      <p:cxnSp>
        <p:nvCxnSpPr>
          <p:cNvPr id="13" name="直接连接符 12"/>
          <p:cNvCxnSpPr/>
          <p:nvPr/>
        </p:nvCxnSpPr>
        <p:spPr>
          <a:xfrm>
            <a:off x="5544514" y="3115219"/>
            <a:ext cx="1073944" cy="0"/>
          </a:xfrm>
          <a:prstGeom prst="line">
            <a:avLst/>
          </a:prstGeom>
          <a:ln w="28575">
            <a:solidFill>
              <a:srgbClr val="F29635"/>
            </a:solidFill>
          </a:ln>
        </p:spPr>
        <p:style>
          <a:lnRef idx="1">
            <a:schemeClr val="accent1"/>
          </a:lnRef>
          <a:fillRef idx="0">
            <a:schemeClr val="accent1"/>
          </a:fillRef>
          <a:effectRef idx="0">
            <a:schemeClr val="accent1"/>
          </a:effectRef>
          <a:fontRef idx="minor">
            <a:schemeClr val="tx1"/>
          </a:fontRef>
        </p:style>
      </p:cxnSp>
      <p:sp>
        <p:nvSpPr>
          <p:cNvPr id="14" name="文本框 13"/>
          <p:cNvSpPr txBox="1"/>
          <p:nvPr/>
        </p:nvSpPr>
        <p:spPr>
          <a:xfrm>
            <a:off x="7466330" y="5352415"/>
            <a:ext cx="6647180" cy="583565"/>
          </a:xfrm>
          <a:prstGeom prst="rect">
            <a:avLst/>
          </a:prstGeom>
          <a:noFill/>
        </p:spPr>
        <p:txBody>
          <a:bodyPr wrap="square" rtlCol="0">
            <a:spAutoFit/>
          </a:bodyPr>
          <a:lstStyle/>
          <a:p>
            <a:r>
              <a:rPr lang="en-US" sz="1600"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rPr>
              <a:t>汇报人：S202513003 </a:t>
            </a:r>
            <a:r>
              <a:rPr lang="zh-CN" altLang="en-US" sz="1600"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rPr>
              <a:t>龚柏荣</a:t>
            </a:r>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
        <p:nvSpPr>
          <p:cNvPr id="2" name="文本框 1"/>
          <p:cNvSpPr txBox="1"/>
          <p:nvPr/>
        </p:nvSpPr>
        <p:spPr>
          <a:xfrm>
            <a:off x="3674745" y="3823335"/>
            <a:ext cx="6647180" cy="738664"/>
          </a:xfrm>
          <a:prstGeom prst="rect">
            <a:avLst/>
          </a:prstGeom>
          <a:noFill/>
        </p:spPr>
        <p:txBody>
          <a:bodyPr wrap="square" rtlCol="0">
            <a:spAutoFit/>
          </a:bodyPr>
          <a:lstStyle/>
          <a:p>
            <a:pPr algn="l">
              <a:buSzTx/>
            </a:pPr>
            <a:endParaRPr lang="en-US" altLang="zh-CN" sz="10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en-US" altLang="zh-CN"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3" name="AutoShape 3"/>
          <p:cNvSpPr/>
          <p:nvPr/>
        </p:nvSpPr>
        <p:spPr>
          <a:xfrm>
            <a:off x="-45085" y="0"/>
            <a:ext cx="12192000" cy="6858000"/>
          </a:xfrm>
          <a:prstGeom prst="roundRect">
            <a:avLst>
              <a:gd name="adj" fmla="val 0"/>
            </a:avLst>
          </a:prstGeom>
          <a:solidFill>
            <a:srgbClr val="FFFFFF">
              <a:alpha val="90000"/>
            </a:srgbClr>
          </a:solidFill>
          <a:ln w="25400" cap="flat" cmpd="sng">
            <a:noFill/>
            <a:prstDash val="solid"/>
            <a:round/>
          </a:ln>
        </p:spPr>
        <p:txBody>
          <a:bodyPr vert="horz" wrap="square" lIns="63500" tIns="63500" rIns="63500" bIns="63500" rtlCol="0" anchor="ctr"/>
          <a:lstStyle/>
          <a:p>
            <a:pPr algn="ctr">
              <a:defRPr/>
            </a:pPr>
            <a:endParaRPr/>
          </a:p>
        </p:txBody>
      </p:sp>
      <p:sp>
        <p:nvSpPr>
          <p:cNvPr id="4" name="AutoShape 4"/>
          <p:cNvSpPr/>
          <p:nvPr/>
        </p:nvSpPr>
        <p:spPr>
          <a:xfrm>
            <a:off x="762000" y="508000"/>
            <a:ext cx="89408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dirty="0" err="1">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目录</a:t>
            </a:r>
            <a:endParaRPr lang="en-US" sz="1100" dirty="0"/>
          </a:p>
        </p:txBody>
      </p:sp>
      <p:sp>
        <p:nvSpPr>
          <p:cNvPr id="5" name="AutoShape 5"/>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6" name="AutoShape 6"/>
          <p:cNvSpPr/>
          <p:nvPr/>
        </p:nvSpPr>
        <p:spPr>
          <a:xfrm>
            <a:off x="761999" y="149225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dirty="0"/>
          </a:p>
        </p:txBody>
      </p:sp>
      <p:sp>
        <p:nvSpPr>
          <p:cNvPr id="7" name="AutoShape 7"/>
          <p:cNvSpPr/>
          <p:nvPr/>
        </p:nvSpPr>
        <p:spPr>
          <a:xfrm>
            <a:off x="1016000" y="17780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8" name="AutoShape 8"/>
          <p:cNvSpPr/>
          <p:nvPr/>
        </p:nvSpPr>
        <p:spPr>
          <a:xfrm>
            <a:off x="1016000" y="17780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endParaRPr lang="en-US" sz="1100"/>
          </a:p>
        </p:txBody>
      </p:sp>
      <p:sp>
        <p:nvSpPr>
          <p:cNvPr id="9" name="AutoShape 9"/>
          <p:cNvSpPr/>
          <p:nvPr/>
        </p:nvSpPr>
        <p:spPr>
          <a:xfrm>
            <a:off x="1905000" y="1778000"/>
            <a:ext cx="7620000" cy="381000"/>
          </a:xfrm>
          <a:prstGeom prst="rect">
            <a:avLst/>
          </a:prstGeom>
          <a:noFill/>
          <a:ln w="12700" cap="flat" cmpd="sng">
            <a:noFill/>
            <a:prstDash val="solid"/>
            <a:round/>
          </a:ln>
        </p:spPr>
        <p:txBody>
          <a:bodyPr vert="horz" wrap="square" lIns="0" tIns="0" rIns="0" bIns="0" rtlCol="0" anchor="ctr" anchorCtr="0"/>
          <a:lstStyle/>
          <a:p>
            <a:pPr>
              <a:lnSpc>
                <a:spcPct val="125000"/>
              </a:lnSpc>
              <a:defRPr/>
            </a:pPr>
            <a:r>
              <a:rPr lang="zh-CN" altLang="en-US" sz="2000" b="1" dirty="0">
                <a:solidFill>
                  <a:srgbClr val="1F2329"/>
                </a:solidFill>
                <a:ea typeface="Noto Sans SC" panose="020B0200000000000000" charset="-122"/>
              </a:rPr>
              <a:t>研究目标与数据集介绍</a:t>
            </a:r>
            <a:endParaRPr lang="en-US" sz="2000" b="1" dirty="0">
              <a:solidFill>
                <a:srgbClr val="1F2329"/>
              </a:solidFill>
              <a:ea typeface="Noto Sans SC" panose="020B0200000000000000" charset="-122"/>
            </a:endParaRPr>
          </a:p>
        </p:txBody>
      </p:sp>
      <p:sp>
        <p:nvSpPr>
          <p:cNvPr id="11" name="AutoShape 11"/>
          <p:cNvSpPr/>
          <p:nvPr/>
        </p:nvSpPr>
        <p:spPr>
          <a:xfrm>
            <a:off x="762000" y="260350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dirty="0"/>
          </a:p>
        </p:txBody>
      </p:sp>
      <p:sp>
        <p:nvSpPr>
          <p:cNvPr id="12" name="AutoShape 12"/>
          <p:cNvSpPr/>
          <p:nvPr/>
        </p:nvSpPr>
        <p:spPr>
          <a:xfrm>
            <a:off x="1016000" y="28575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13" name="AutoShape 13"/>
          <p:cNvSpPr/>
          <p:nvPr/>
        </p:nvSpPr>
        <p:spPr>
          <a:xfrm>
            <a:off x="1016000" y="28575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endParaRPr lang="en-US" sz="1100"/>
          </a:p>
        </p:txBody>
      </p:sp>
      <p:sp>
        <p:nvSpPr>
          <p:cNvPr id="14" name="AutoShape 14"/>
          <p:cNvSpPr/>
          <p:nvPr/>
        </p:nvSpPr>
        <p:spPr>
          <a:xfrm>
            <a:off x="1905000" y="2857500"/>
            <a:ext cx="762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dirty="0">
                <a:solidFill>
                  <a:srgbClr val="1F2329"/>
                </a:solidFill>
                <a:ea typeface="Noto Sans SC" panose="020B0200000000000000" charset="-122"/>
                <a:sym typeface="Noto Sans SC" panose="020B0200000000000000" charset="-122"/>
              </a:rPr>
              <a:t>数据分析与传统机器学习</a:t>
            </a:r>
            <a:endParaRPr lang="en-US" sz="1100" dirty="0"/>
          </a:p>
        </p:txBody>
      </p:sp>
      <p:sp>
        <p:nvSpPr>
          <p:cNvPr id="16" name="AutoShape 16"/>
          <p:cNvSpPr/>
          <p:nvPr/>
        </p:nvSpPr>
        <p:spPr>
          <a:xfrm>
            <a:off x="762000" y="368300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a:p>
        </p:txBody>
      </p:sp>
      <p:sp>
        <p:nvSpPr>
          <p:cNvPr id="17" name="AutoShape 17"/>
          <p:cNvSpPr/>
          <p:nvPr/>
        </p:nvSpPr>
        <p:spPr>
          <a:xfrm>
            <a:off x="1016000" y="39370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18" name="AutoShape 18"/>
          <p:cNvSpPr/>
          <p:nvPr/>
        </p:nvSpPr>
        <p:spPr>
          <a:xfrm>
            <a:off x="1016000" y="39370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endParaRPr lang="en-US" sz="1100"/>
          </a:p>
        </p:txBody>
      </p:sp>
      <p:sp>
        <p:nvSpPr>
          <p:cNvPr id="19" name="AutoShape 19"/>
          <p:cNvSpPr/>
          <p:nvPr/>
        </p:nvSpPr>
        <p:spPr>
          <a:xfrm>
            <a:off x="1905000" y="3937000"/>
            <a:ext cx="762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dirty="0">
                <a:solidFill>
                  <a:srgbClr val="1F2329"/>
                </a:solidFill>
                <a:ea typeface="Noto Sans SC" panose="020B0200000000000000" charset="-122"/>
                <a:sym typeface="Noto Sans SC" panose="020B0200000000000000" charset="-122"/>
              </a:rPr>
              <a:t>数据分析与深度学习</a:t>
            </a:r>
            <a:endParaRPr lang="en-US" sz="1100" dirty="0"/>
          </a:p>
        </p:txBody>
      </p:sp>
      <p:sp>
        <p:nvSpPr>
          <p:cNvPr id="21" name="AutoShape 21"/>
          <p:cNvSpPr/>
          <p:nvPr/>
        </p:nvSpPr>
        <p:spPr>
          <a:xfrm>
            <a:off x="762000" y="476250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a:p>
        </p:txBody>
      </p:sp>
      <p:sp>
        <p:nvSpPr>
          <p:cNvPr id="22" name="AutoShape 22"/>
          <p:cNvSpPr/>
          <p:nvPr/>
        </p:nvSpPr>
        <p:spPr>
          <a:xfrm>
            <a:off x="1016000" y="50165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23" name="AutoShape 23"/>
          <p:cNvSpPr/>
          <p:nvPr/>
        </p:nvSpPr>
        <p:spPr>
          <a:xfrm>
            <a:off x="1016000" y="50165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endParaRPr lang="en-US" sz="1100"/>
          </a:p>
        </p:txBody>
      </p:sp>
      <p:sp>
        <p:nvSpPr>
          <p:cNvPr id="24" name="AutoShape 24"/>
          <p:cNvSpPr/>
          <p:nvPr/>
        </p:nvSpPr>
        <p:spPr>
          <a:xfrm>
            <a:off x="1905000" y="5016500"/>
            <a:ext cx="762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dirty="0">
                <a:solidFill>
                  <a:srgbClr val="1F2329"/>
                </a:solidFill>
                <a:ea typeface="Noto Sans SC" panose="020B0200000000000000" charset="-122"/>
                <a:sym typeface="Noto Sans SC" panose="020B0200000000000000" charset="-122"/>
              </a:rPr>
              <a:t>总结与资源分享</a:t>
            </a:r>
            <a:endParaRPr lang="en-US" sz="1100" dirty="0"/>
          </a:p>
        </p:txBody>
      </p:sp>
      <p:sp>
        <p:nvSpPr>
          <p:cNvPr id="26" name="AutoShape 26"/>
          <p:cNvSpPr/>
          <p:nvPr/>
        </p:nvSpPr>
        <p:spPr>
          <a:xfrm>
            <a:off x="66675" y="7175500"/>
            <a:ext cx="12192000" cy="1016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D1711D-7044-CC12-BA74-BD51D09FF65B}"/>
            </a:ext>
          </a:extLst>
        </p:cNvPr>
        <p:cNvGrpSpPr/>
        <p:nvPr/>
      </p:nvGrpSpPr>
      <p:grpSpPr>
        <a:xfrm>
          <a:off x="0" y="0"/>
          <a:ext cx="0" cy="0"/>
          <a:chOff x="0" y="0"/>
          <a:chExt cx="0" cy="0"/>
        </a:xfrm>
      </p:grpSpPr>
      <p:pic>
        <p:nvPicPr>
          <p:cNvPr id="30" name="图形 29">
            <a:extLst>
              <a:ext uri="{FF2B5EF4-FFF2-40B4-BE49-F238E27FC236}">
                <a16:creationId xmlns:a16="http://schemas.microsoft.com/office/drawing/2014/main" id="{A2C7F093-AD9A-8DAD-8CCD-83FAAB9FD09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
            <a:ext cx="12192000" cy="6859051"/>
          </a:xfrm>
          <a:prstGeom prst="rect">
            <a:avLst/>
          </a:prstGeom>
        </p:spPr>
      </p:pic>
      <p:pic>
        <p:nvPicPr>
          <p:cNvPr id="32" name="图形 31">
            <a:extLst>
              <a:ext uri="{FF2B5EF4-FFF2-40B4-BE49-F238E27FC236}">
                <a16:creationId xmlns:a16="http://schemas.microsoft.com/office/drawing/2014/main" id="{02839AD7-5449-9CFE-A92D-541B7F670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875" y="167005"/>
            <a:ext cx="11518900" cy="6197600"/>
          </a:xfrm>
          <a:prstGeom prst="rect">
            <a:avLst/>
          </a:prstGeom>
        </p:spPr>
      </p:pic>
      <p:pic>
        <p:nvPicPr>
          <p:cNvPr id="3" name="图片 2" descr="9717abb16921ec7e0dd594a564d1e80">
            <a:extLst>
              <a:ext uri="{FF2B5EF4-FFF2-40B4-BE49-F238E27FC236}">
                <a16:creationId xmlns:a16="http://schemas.microsoft.com/office/drawing/2014/main" id="{0B57879A-CD31-CDF8-DA6D-ED6CD4C431DB}"/>
              </a:ext>
            </a:extLst>
          </p:cNvPr>
          <p:cNvPicPr>
            <a:picLocks noChangeAspect="1"/>
          </p:cNvPicPr>
          <p:nvPr/>
        </p:nvPicPr>
        <p:blipFill>
          <a:blip r:embed="rId6"/>
          <a:stretch>
            <a:fillRect/>
          </a:stretch>
        </p:blipFill>
        <p:spPr>
          <a:xfrm>
            <a:off x="5309235" y="400685"/>
            <a:ext cx="1502410" cy="1504315"/>
          </a:xfrm>
          <a:prstGeom prst="rect">
            <a:avLst/>
          </a:prstGeom>
        </p:spPr>
      </p:pic>
      <p:sp>
        <p:nvSpPr>
          <p:cNvPr id="10" name="文本框 9">
            <a:extLst>
              <a:ext uri="{FF2B5EF4-FFF2-40B4-BE49-F238E27FC236}">
                <a16:creationId xmlns:a16="http://schemas.microsoft.com/office/drawing/2014/main" id="{BBCFB23D-D117-E347-D2E7-782BC1E8BE36}"/>
              </a:ext>
            </a:extLst>
          </p:cNvPr>
          <p:cNvSpPr txBox="1"/>
          <p:nvPr/>
        </p:nvSpPr>
        <p:spPr>
          <a:xfrm>
            <a:off x="276225" y="2407104"/>
            <a:ext cx="10467340" cy="584775"/>
          </a:xfrm>
          <a:prstGeom prst="rect">
            <a:avLst/>
          </a:prstGeom>
          <a:noFill/>
        </p:spPr>
        <p:txBody>
          <a:bodyPr wrap="square" rtlCol="0">
            <a:spAutoFit/>
          </a:bodyPr>
          <a:lstStyle/>
          <a:p>
            <a:pPr algn="ctr"/>
            <a:r>
              <a:rPr lang="zh-CN" altLang="en-US" sz="3200" b="1" dirty="0">
                <a:solidFill>
                  <a:schemeClr val="tx1"/>
                </a:solidFill>
                <a:latin typeface="黑体" panose="02010609060101010101" charset="-122"/>
                <a:ea typeface="黑体" panose="02010609060101010101" charset="-122"/>
                <a:cs typeface="Noto Sans SC" panose="020B0200000000000000" charset="-122"/>
                <a:sym typeface="Noto Sans SC" panose="020B0200000000000000" charset="-122"/>
              </a:rPr>
              <a:t>      </a:t>
            </a:r>
            <a:r>
              <a:rPr lang="zh-CN" altLang="en-US" sz="3200" b="1" dirty="0">
                <a:solidFill>
                  <a:srgbClr val="1F2329"/>
                </a:solidFill>
                <a:ea typeface="Noto Sans SC" panose="020B0200000000000000" charset="-122"/>
              </a:rPr>
              <a:t>研究目标与数据集介绍</a:t>
            </a:r>
            <a:endParaRPr lang="en-US" altLang="zh-CN" sz="3200" b="1" dirty="0">
              <a:solidFill>
                <a:srgbClr val="1F2329"/>
              </a:solidFill>
              <a:ea typeface="Noto Sans SC" panose="020B0200000000000000" charset="-122"/>
            </a:endParaRPr>
          </a:p>
        </p:txBody>
      </p:sp>
      <p:cxnSp>
        <p:nvCxnSpPr>
          <p:cNvPr id="13" name="直接连接符 12">
            <a:extLst>
              <a:ext uri="{FF2B5EF4-FFF2-40B4-BE49-F238E27FC236}">
                <a16:creationId xmlns:a16="http://schemas.microsoft.com/office/drawing/2014/main" id="{362C7DC7-3378-3E12-EF7C-082AD09DD4E0}"/>
              </a:ext>
            </a:extLst>
          </p:cNvPr>
          <p:cNvCxnSpPr/>
          <p:nvPr/>
        </p:nvCxnSpPr>
        <p:spPr>
          <a:xfrm>
            <a:off x="5544514" y="3115219"/>
            <a:ext cx="1073944" cy="0"/>
          </a:xfrm>
          <a:prstGeom prst="line">
            <a:avLst/>
          </a:prstGeom>
          <a:ln w="28575">
            <a:solidFill>
              <a:srgbClr val="F29635"/>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054511F-8191-41C7-1134-FBD02D0FA9A9}"/>
              </a:ext>
            </a:extLst>
          </p:cNvPr>
          <p:cNvSpPr txBox="1"/>
          <p:nvPr/>
        </p:nvSpPr>
        <p:spPr>
          <a:xfrm>
            <a:off x="3674745" y="3823335"/>
            <a:ext cx="6647180" cy="738664"/>
          </a:xfrm>
          <a:prstGeom prst="rect">
            <a:avLst/>
          </a:prstGeom>
          <a:noFill/>
        </p:spPr>
        <p:txBody>
          <a:bodyPr wrap="square" rtlCol="0">
            <a:spAutoFit/>
          </a:bodyPr>
          <a:lstStyle/>
          <a:p>
            <a:pPr algn="l">
              <a:buSzTx/>
            </a:pPr>
            <a:endParaRPr lang="en-US" altLang="zh-CN" sz="10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en-US" altLang="zh-CN"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Tree>
    <p:extLst>
      <p:ext uri="{BB962C8B-B14F-4D97-AF65-F5344CB8AC3E}">
        <p14:creationId xmlns:p14="http://schemas.microsoft.com/office/powerpoint/2010/main" val="2189111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a:extLst>
              <a:ext uri="{FF2B5EF4-FFF2-40B4-BE49-F238E27FC236}">
                <a16:creationId xmlns:a16="http://schemas.microsoft.com/office/drawing/2014/main" id="{C9D9EA5D-C87E-79F2-1E35-B2B06C0A820C}"/>
              </a:ext>
            </a:extLst>
          </p:cNvPr>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论文思路框架</a:t>
            </a:r>
            <a:endParaRPr lang="en-US" sz="1100" dirty="0"/>
          </a:p>
        </p:txBody>
      </p:sp>
      <p:sp>
        <p:nvSpPr>
          <p:cNvPr id="3" name="AutoShape 3">
            <a:extLst>
              <a:ext uri="{FF2B5EF4-FFF2-40B4-BE49-F238E27FC236}">
                <a16:creationId xmlns:a16="http://schemas.microsoft.com/office/drawing/2014/main" id="{D166D94B-F032-EB4B-7901-8046CF895595}"/>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4" name="文本框 3">
            <a:extLst>
              <a:ext uri="{FF2B5EF4-FFF2-40B4-BE49-F238E27FC236}">
                <a16:creationId xmlns:a16="http://schemas.microsoft.com/office/drawing/2014/main" id="{8E4990A0-E8D0-37A9-8C67-571A60637E76}"/>
              </a:ext>
            </a:extLst>
          </p:cNvPr>
          <p:cNvSpPr txBox="1"/>
          <p:nvPr/>
        </p:nvSpPr>
        <p:spPr>
          <a:xfrm>
            <a:off x="762000" y="1391055"/>
            <a:ext cx="9583366" cy="2246769"/>
          </a:xfrm>
          <a:prstGeom prst="rect">
            <a:avLst/>
          </a:prstGeom>
          <a:noFill/>
        </p:spPr>
        <p:txBody>
          <a:bodyPr wrap="square" rtlCol="0">
            <a:spAutoFit/>
          </a:bodyPr>
          <a:lstStyle/>
          <a:p>
            <a:r>
              <a:rPr lang="zh-CN" altLang="en-US" dirty="0"/>
              <a:t>作者把血糖预测看作一个分类混合问题：</a:t>
            </a:r>
            <a:endParaRPr lang="en-US" altLang="zh-CN" dirty="0"/>
          </a:p>
          <a:p>
            <a:endParaRPr lang="en-US" altLang="zh-CN" dirty="0"/>
          </a:p>
          <a:p>
            <a:r>
              <a:rPr lang="zh-CN" altLang="en-US" dirty="0"/>
              <a:t>首先进行数据清洗，分析了特征值与分类之间的关系，使用深度学习的注意力机制与</a:t>
            </a:r>
            <a:r>
              <a:rPr lang="en-US" altLang="zh-CN" dirty="0"/>
              <a:t>CNN</a:t>
            </a:r>
            <a:r>
              <a:rPr lang="zh-CN" altLang="en-US" dirty="0"/>
              <a:t>训练模型</a:t>
            </a:r>
            <a:endParaRPr lang="en-US" altLang="zh-CN" dirty="0"/>
          </a:p>
          <a:p>
            <a:endParaRPr lang="en-US" altLang="zh-CN" dirty="0"/>
          </a:p>
          <a:p>
            <a:r>
              <a:rPr lang="zh-CN" altLang="en-US" dirty="0"/>
              <a:t>在此基础上，作者提出了基于粒子群优化的融合模型设计，和使用注意力机制与</a:t>
            </a:r>
            <a:r>
              <a:rPr lang="en-US" altLang="zh-CN" dirty="0"/>
              <a:t>CNN</a:t>
            </a:r>
            <a:r>
              <a:rPr lang="zh-CN" altLang="en-US" dirty="0"/>
              <a:t>做了对比，优化了识别效率</a:t>
            </a:r>
            <a:endParaRPr lang="en-US" altLang="zh-CN" dirty="0"/>
          </a:p>
          <a:p>
            <a:endParaRPr lang="en-US" altLang="zh-CN" dirty="0"/>
          </a:p>
          <a:p>
            <a:r>
              <a:rPr lang="zh-CN" altLang="en-US" dirty="0"/>
              <a:t>之后再用模型蒸馏等压缩手段在保证临床性能（低血糖召回、</a:t>
            </a:r>
            <a:r>
              <a:rPr lang="en-US" altLang="zh-CN" dirty="0"/>
              <a:t>Clarke grid A/B </a:t>
            </a:r>
            <a:r>
              <a:rPr lang="zh-CN" altLang="en-US" dirty="0"/>
              <a:t>）前提下满足延迟与存储约束。</a:t>
            </a:r>
            <a:endParaRPr lang="en-US" altLang="zh-CN" dirty="0"/>
          </a:p>
          <a:p>
            <a:endParaRPr lang="en-US" altLang="zh-CN" dirty="0"/>
          </a:p>
          <a:p>
            <a:r>
              <a:rPr lang="zh-CN" altLang="en-US" dirty="0"/>
              <a:t>最后将这个基于机器学习的血糖检测系统部署到</a:t>
            </a:r>
            <a:r>
              <a:rPr lang="en-US" altLang="zh-CN" dirty="0"/>
              <a:t>WEB</a:t>
            </a:r>
            <a:r>
              <a:rPr lang="zh-CN" altLang="en-US" dirty="0"/>
              <a:t>端。</a:t>
            </a:r>
          </a:p>
          <a:p>
            <a:endParaRPr lang="zh-CN" altLang="en-US" dirty="0"/>
          </a:p>
        </p:txBody>
      </p:sp>
      <p:sp>
        <p:nvSpPr>
          <p:cNvPr id="5" name="AutoShape 4">
            <a:extLst>
              <a:ext uri="{FF2B5EF4-FFF2-40B4-BE49-F238E27FC236}">
                <a16:creationId xmlns:a16="http://schemas.microsoft.com/office/drawing/2014/main" id="{B3D8910A-FF28-BDBE-32C6-265D12A5C744}"/>
              </a:ext>
            </a:extLst>
          </p:cNvPr>
          <p:cNvSpPr/>
          <p:nvPr/>
        </p:nvSpPr>
        <p:spPr>
          <a:xfrm>
            <a:off x="1190829" y="3637824"/>
            <a:ext cx="9640110" cy="2295728"/>
          </a:xfrm>
          <a:prstGeom prst="roundRect">
            <a:avLst>
              <a:gd name="adj" fmla="val 10526"/>
            </a:avLst>
          </a:prstGeom>
          <a:solidFill>
            <a:srgbClr val="FFFFFF">
              <a:alpha val="100000"/>
            </a:srgbClr>
          </a:solidFill>
          <a:ln w="25400" cap="flat" cmpd="sng">
            <a:noFill/>
            <a:prstDash val="solid"/>
            <a:round/>
          </a:ln>
          <a:effectLst>
            <a:outerShdw blurRad="127000" dist="50800" dir="5400000" algn="tl" rotWithShape="0">
              <a:srgbClr val="000000">
                <a:alpha val="5000"/>
              </a:srgbClr>
            </a:outerShdw>
          </a:effectLst>
        </p:spPr>
        <p:txBody>
          <a:bodyPr vert="horz" wrap="square" lIns="63500" tIns="63500" rIns="63500" bIns="63500" rtlCol="0" anchor="ctr"/>
          <a:lstStyle/>
          <a:p>
            <a:pPr algn="ctr">
              <a:defRPr/>
            </a:pPr>
            <a:endParaRPr sz="1800" dirty="0"/>
          </a:p>
        </p:txBody>
      </p:sp>
      <p:sp>
        <p:nvSpPr>
          <p:cNvPr id="6" name="文本框 5">
            <a:extLst>
              <a:ext uri="{FF2B5EF4-FFF2-40B4-BE49-F238E27FC236}">
                <a16:creationId xmlns:a16="http://schemas.microsoft.com/office/drawing/2014/main" id="{67F90CE7-6F96-80D0-EF24-67204803A786}"/>
              </a:ext>
            </a:extLst>
          </p:cNvPr>
          <p:cNvSpPr txBox="1"/>
          <p:nvPr/>
        </p:nvSpPr>
        <p:spPr>
          <a:xfrm>
            <a:off x="1887168" y="4243911"/>
            <a:ext cx="9372600" cy="1169551"/>
          </a:xfrm>
          <a:prstGeom prst="rect">
            <a:avLst/>
          </a:prstGeom>
          <a:noFill/>
        </p:spPr>
        <p:txBody>
          <a:bodyPr wrap="square" rtlCol="0">
            <a:spAutoFit/>
          </a:bodyPr>
          <a:lstStyle/>
          <a:p>
            <a:r>
              <a:rPr lang="zh-CN" altLang="en-US" dirty="0"/>
              <a:t>任务类型：短期回归（预测未来 </a:t>
            </a:r>
            <a:r>
              <a:rPr lang="en-US" altLang="zh-CN" dirty="0"/>
              <a:t>60 min </a:t>
            </a:r>
            <a:r>
              <a:rPr lang="zh-CN" altLang="en-US" dirty="0"/>
              <a:t>的血糖值） → 抽象成分类任务（是否会发生高血糖）。</a:t>
            </a:r>
            <a:endParaRPr lang="en-US" altLang="zh-CN" dirty="0"/>
          </a:p>
          <a:p>
            <a:endParaRPr lang="en-US" altLang="zh-CN" dirty="0"/>
          </a:p>
          <a:p>
            <a:endParaRPr lang="en-US" altLang="zh-CN" dirty="0"/>
          </a:p>
          <a:p>
            <a:r>
              <a:rPr lang="zh-CN" altLang="en-US" dirty="0"/>
              <a:t>血糖分类任务为：连续时间的二分类</a:t>
            </a:r>
            <a:endParaRPr lang="en-US" altLang="zh-CN" dirty="0"/>
          </a:p>
          <a:p>
            <a:endParaRPr lang="en-US" altLang="zh-CN" dirty="0"/>
          </a:p>
        </p:txBody>
      </p:sp>
      <p:sp>
        <p:nvSpPr>
          <p:cNvPr id="7" name="AutoShape 19">
            <a:extLst>
              <a:ext uri="{FF2B5EF4-FFF2-40B4-BE49-F238E27FC236}">
                <a16:creationId xmlns:a16="http://schemas.microsoft.com/office/drawing/2014/main" id="{A99D94EF-874F-FFB6-743C-54A3A5B2F5F1}"/>
              </a:ext>
            </a:extLst>
          </p:cNvPr>
          <p:cNvSpPr/>
          <p:nvPr/>
        </p:nvSpPr>
        <p:spPr>
          <a:xfrm>
            <a:off x="762000" y="6182468"/>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Tree>
    <p:extLst>
      <p:ext uri="{BB962C8B-B14F-4D97-AF65-F5344CB8AC3E}">
        <p14:creationId xmlns:p14="http://schemas.microsoft.com/office/powerpoint/2010/main" val="505856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8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论文研究问题简化</a:t>
            </a:r>
            <a:endParaRPr lang="en-US" sz="1100" dirty="0"/>
          </a:p>
        </p:txBody>
      </p:sp>
      <p:sp>
        <p:nvSpPr>
          <p:cNvPr id="3" name="AutoShape 3"/>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8" name="AutoShape 8"/>
          <p:cNvSpPr/>
          <p:nvPr/>
        </p:nvSpPr>
        <p:spPr>
          <a:xfrm>
            <a:off x="762000" y="1572098"/>
            <a:ext cx="5207540" cy="4123446"/>
          </a:xfrm>
          <a:prstGeom prst="roundRect">
            <a:avLst>
              <a:gd name="adj" fmla="val 10526"/>
            </a:avLst>
          </a:prstGeom>
          <a:solidFill>
            <a:srgbClr val="FFFFFF">
              <a:alpha val="100000"/>
            </a:srgbClr>
          </a:solidFill>
          <a:ln w="25400" cap="flat" cmpd="sng">
            <a:noFill/>
            <a:prstDash val="solid"/>
            <a:round/>
          </a:ln>
          <a:effectLst>
            <a:outerShdw blurRad="127000" dist="50800" dir="5400000" algn="tl" rotWithShape="0">
              <a:srgbClr val="000000">
                <a:alpha val="5000"/>
              </a:srgbClr>
            </a:outerShdw>
          </a:effectLst>
        </p:spPr>
        <p:txBody>
          <a:bodyPr vert="horz" wrap="square" lIns="63500" tIns="63500" rIns="63500" bIns="63500" rtlCol="0" anchor="ctr"/>
          <a:lstStyle/>
          <a:p>
            <a:pPr algn="ctr">
              <a:defRPr/>
            </a:pPr>
            <a:endParaRPr lang="zh-CN" altLang="en-US" dirty="0"/>
          </a:p>
        </p:txBody>
      </p:sp>
      <p:sp>
        <p:nvSpPr>
          <p:cNvPr id="11" name="AutoShape 11"/>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19" name="AutoShape 19"/>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21" name="文本框 20">
            <a:extLst>
              <a:ext uri="{FF2B5EF4-FFF2-40B4-BE49-F238E27FC236}">
                <a16:creationId xmlns:a16="http://schemas.microsoft.com/office/drawing/2014/main" id="{61832E48-7738-0E28-9537-03CA12FEACDB}"/>
              </a:ext>
            </a:extLst>
          </p:cNvPr>
          <p:cNvSpPr txBox="1"/>
          <p:nvPr/>
        </p:nvSpPr>
        <p:spPr>
          <a:xfrm>
            <a:off x="767403" y="1833664"/>
            <a:ext cx="5328597" cy="3754874"/>
          </a:xfrm>
          <a:prstGeom prst="rect">
            <a:avLst/>
          </a:prstGeom>
          <a:noFill/>
        </p:spPr>
        <p:txBody>
          <a:bodyPr wrap="square" rtlCol="0">
            <a:spAutoFit/>
          </a:bodyPr>
          <a:lstStyle/>
          <a:p>
            <a:pPr marL="342900" indent="-342900">
              <a:buFont typeface="Arial" panose="020B0604020202020204"/>
              <a:buAutoNum type="arabicPeriod"/>
            </a:pPr>
            <a:r>
              <a:rPr lang="zh-CN" altLang="en-US" dirty="0"/>
              <a:t>原论文输入数据包含时间序列，含时间戳均为 </a:t>
            </a:r>
            <a:r>
              <a:rPr lang="en-US" altLang="zh-CN" dirty="0"/>
              <a:t>UTC </a:t>
            </a:r>
            <a:r>
              <a:rPr lang="zh-CN" altLang="en-US" dirty="0"/>
              <a:t>且同步</a:t>
            </a:r>
            <a:endParaRPr lang="en-US" altLang="zh-CN" dirty="0"/>
          </a:p>
          <a:p>
            <a:pPr lvl="1"/>
            <a:endParaRPr lang="en-US" altLang="zh-CN" dirty="0"/>
          </a:p>
          <a:p>
            <a:pPr lvl="1"/>
            <a:r>
              <a:rPr lang="zh-CN" altLang="en-US" dirty="0"/>
              <a:t>数据量特别大且没有数据集。原论文中输入的数据大致有</a:t>
            </a:r>
            <a:endParaRPr lang="en-US" altLang="zh-CN" dirty="0"/>
          </a:p>
          <a:p>
            <a:pPr marL="285750" lvl="1" indent="-285750">
              <a:buFontTx/>
              <a:buChar char="-"/>
            </a:pPr>
            <a:endParaRPr lang="en-US" altLang="zh-CN" dirty="0"/>
          </a:p>
          <a:p>
            <a:pPr marL="285750" lvl="1" indent="-285750">
              <a:buFontTx/>
              <a:buChar char="-"/>
            </a:pPr>
            <a:r>
              <a:rPr lang="en-US" altLang="zh-CN" dirty="0"/>
              <a:t>CGM</a:t>
            </a:r>
            <a:r>
              <a:rPr lang="zh-CN" altLang="en-US" dirty="0"/>
              <a:t>（连续血糖，每</a:t>
            </a:r>
            <a:r>
              <a:rPr lang="en-US" altLang="zh-CN" dirty="0"/>
              <a:t>5 </a:t>
            </a:r>
            <a:r>
              <a:rPr lang="zh-CN" altLang="en-US" dirty="0"/>
              <a:t>分钟</a:t>
            </a:r>
            <a:r>
              <a:rPr lang="en-US" altLang="zh-CN" dirty="0"/>
              <a:t>/</a:t>
            </a:r>
            <a:r>
              <a:rPr lang="zh-CN" altLang="en-US" dirty="0"/>
              <a:t>采样）</a:t>
            </a:r>
            <a:endParaRPr lang="en-US" altLang="zh-CN" dirty="0"/>
          </a:p>
          <a:p>
            <a:pPr marL="285750" lvl="1" indent="-285750">
              <a:buFontTx/>
              <a:buChar char="-"/>
            </a:pPr>
            <a:endParaRPr lang="zh-CN" altLang="en-US" dirty="0"/>
          </a:p>
          <a:p>
            <a:pPr marL="285750" lvl="1" indent="-285750">
              <a:buFontTx/>
              <a:buChar char="-"/>
            </a:pPr>
            <a:r>
              <a:rPr lang="zh-CN" altLang="en-US" dirty="0"/>
              <a:t>胰岛素注射</a:t>
            </a:r>
            <a:r>
              <a:rPr lang="en-US" altLang="zh-CN" dirty="0"/>
              <a:t>/</a:t>
            </a:r>
            <a:r>
              <a:rPr lang="zh-CN" altLang="en-US" dirty="0"/>
              <a:t>泵事件（剂量、类型：餐时</a:t>
            </a:r>
            <a:r>
              <a:rPr lang="en-US" altLang="zh-CN" dirty="0"/>
              <a:t>/</a:t>
            </a:r>
            <a:r>
              <a:rPr lang="zh-CN" altLang="en-US" dirty="0"/>
              <a:t>基础、速效</a:t>
            </a:r>
            <a:r>
              <a:rPr lang="en-US" altLang="zh-CN" dirty="0"/>
              <a:t>/</a:t>
            </a:r>
            <a:r>
              <a:rPr lang="zh-CN" altLang="en-US" dirty="0"/>
              <a:t>长效）</a:t>
            </a:r>
            <a:endParaRPr lang="en-US" altLang="zh-CN" dirty="0"/>
          </a:p>
          <a:p>
            <a:pPr marL="285750" lvl="1" indent="-285750">
              <a:buFontTx/>
              <a:buChar char="-"/>
            </a:pPr>
            <a:endParaRPr lang="zh-CN" altLang="en-US" dirty="0"/>
          </a:p>
          <a:p>
            <a:pPr marL="285750" lvl="1" indent="-285750">
              <a:buFontTx/>
              <a:buChar char="-"/>
            </a:pPr>
            <a:r>
              <a:rPr lang="zh-CN" altLang="en-US" dirty="0"/>
              <a:t>摄入碳水（</a:t>
            </a:r>
            <a:r>
              <a:rPr lang="en-US" altLang="zh-CN" dirty="0"/>
              <a:t>carbs</a:t>
            </a:r>
            <a:r>
              <a:rPr lang="zh-CN" altLang="en-US" dirty="0"/>
              <a:t>）与餐类型（餐</a:t>
            </a:r>
            <a:r>
              <a:rPr lang="en-US" altLang="zh-CN" dirty="0"/>
              <a:t>/</a:t>
            </a:r>
            <a:r>
              <a:rPr lang="zh-CN" altLang="en-US" dirty="0"/>
              <a:t>零食</a:t>
            </a:r>
            <a:r>
              <a:rPr lang="en-US" altLang="zh-CN" dirty="0"/>
              <a:t>/</a:t>
            </a:r>
            <a:r>
              <a:rPr lang="zh-CN" altLang="en-US" dirty="0"/>
              <a:t>饮料）</a:t>
            </a:r>
            <a:endParaRPr lang="en-US" altLang="zh-CN" dirty="0"/>
          </a:p>
          <a:p>
            <a:pPr lvl="1"/>
            <a:endParaRPr lang="en-US" altLang="zh-CN" dirty="0"/>
          </a:p>
          <a:p>
            <a:pPr marL="285750" lvl="1" indent="-285750">
              <a:buFontTx/>
              <a:buChar char="-"/>
            </a:pPr>
            <a:r>
              <a:rPr lang="zh-CN" altLang="en-US" dirty="0"/>
              <a:t>人体活动</a:t>
            </a:r>
            <a:r>
              <a:rPr lang="en-US" altLang="zh-CN" dirty="0"/>
              <a:t>/</a:t>
            </a:r>
            <a:r>
              <a:rPr lang="zh-CN" altLang="en-US" dirty="0"/>
              <a:t>运动、心率</a:t>
            </a:r>
            <a:endParaRPr lang="en-US" altLang="zh-CN" dirty="0"/>
          </a:p>
          <a:p>
            <a:pPr marL="285750" lvl="1" indent="-285750">
              <a:buFontTx/>
              <a:buChar char="-"/>
            </a:pPr>
            <a:endParaRPr lang="en-US" altLang="zh-CN" dirty="0"/>
          </a:p>
          <a:p>
            <a:pPr marL="285750" lvl="1" indent="-285750">
              <a:buFontTx/>
              <a:buChar char="-"/>
            </a:pPr>
            <a:r>
              <a:rPr lang="zh-CN" altLang="en-US" dirty="0"/>
              <a:t>睡眠段</a:t>
            </a:r>
            <a:r>
              <a:rPr lang="en-US" altLang="zh-CN" dirty="0"/>
              <a:t>/</a:t>
            </a:r>
            <a:r>
              <a:rPr lang="zh-CN" altLang="en-US" dirty="0"/>
              <a:t>醒段（或用加速度推断）</a:t>
            </a:r>
            <a:endParaRPr lang="en-US" altLang="zh-CN" dirty="0"/>
          </a:p>
          <a:p>
            <a:pPr marL="285750" lvl="1" indent="-285750">
              <a:buFontTx/>
              <a:buChar char="-"/>
            </a:pPr>
            <a:endParaRPr lang="en-US" altLang="zh-CN" dirty="0"/>
          </a:p>
          <a:p>
            <a:pPr marL="285750" lvl="1" indent="-285750">
              <a:buFontTx/>
              <a:buChar char="-"/>
            </a:pPr>
            <a:r>
              <a:rPr lang="zh-CN" altLang="en-US" dirty="0"/>
              <a:t>人口统计</a:t>
            </a:r>
            <a:r>
              <a:rPr lang="en-US" altLang="zh-CN" dirty="0"/>
              <a:t>/</a:t>
            </a:r>
            <a:r>
              <a:rPr lang="zh-CN" altLang="en-US" dirty="0"/>
              <a:t>体征（年龄、体重、胰岛素敏感性等）</a:t>
            </a:r>
          </a:p>
          <a:p>
            <a:pPr lvl="2"/>
            <a:endParaRPr lang="en-US" altLang="zh-CN" dirty="0"/>
          </a:p>
          <a:p>
            <a:pPr marL="342900" indent="-342900">
              <a:buFont typeface="Arial" panose="020B0604020202020204"/>
              <a:buAutoNum type="arabicPeriod"/>
            </a:pPr>
            <a:endParaRPr lang="en-US" altLang="zh-CN" dirty="0"/>
          </a:p>
        </p:txBody>
      </p:sp>
      <p:sp>
        <p:nvSpPr>
          <p:cNvPr id="5" name="AutoShape 8">
            <a:extLst>
              <a:ext uri="{FF2B5EF4-FFF2-40B4-BE49-F238E27FC236}">
                <a16:creationId xmlns:a16="http://schemas.microsoft.com/office/drawing/2014/main" id="{D16D4F28-44B2-F577-06F3-D2FD5B109630}"/>
              </a:ext>
            </a:extLst>
          </p:cNvPr>
          <p:cNvSpPr/>
          <p:nvPr/>
        </p:nvSpPr>
        <p:spPr>
          <a:xfrm>
            <a:off x="6217057" y="1572097"/>
            <a:ext cx="5207540" cy="4123447"/>
          </a:xfrm>
          <a:prstGeom prst="roundRect">
            <a:avLst>
              <a:gd name="adj" fmla="val 10526"/>
            </a:avLst>
          </a:prstGeom>
          <a:solidFill>
            <a:srgbClr val="FFFFFF">
              <a:alpha val="100000"/>
            </a:srgbClr>
          </a:solidFill>
          <a:ln w="25400" cap="flat" cmpd="sng">
            <a:noFill/>
            <a:prstDash val="solid"/>
            <a:round/>
          </a:ln>
          <a:effectLst>
            <a:outerShdw blurRad="127000" dist="50800" dir="5400000" algn="tl" rotWithShape="0">
              <a:srgbClr val="000000">
                <a:alpha val="5000"/>
              </a:srgbClr>
            </a:outerShdw>
          </a:effectLst>
        </p:spPr>
        <p:txBody>
          <a:bodyPr vert="horz" wrap="square" lIns="63500" tIns="63500" rIns="63500" bIns="63500" rtlCol="0" anchor="ctr"/>
          <a:lstStyle/>
          <a:p>
            <a:pPr algn="ctr">
              <a:defRPr/>
            </a:pPr>
            <a:endParaRPr lang="zh-CN" altLang="en-US" dirty="0"/>
          </a:p>
        </p:txBody>
      </p:sp>
      <p:sp>
        <p:nvSpPr>
          <p:cNvPr id="9" name="文本框 8">
            <a:extLst>
              <a:ext uri="{FF2B5EF4-FFF2-40B4-BE49-F238E27FC236}">
                <a16:creationId xmlns:a16="http://schemas.microsoft.com/office/drawing/2014/main" id="{4FB50663-FC17-2B4E-B5E6-4454868FA666}"/>
              </a:ext>
            </a:extLst>
          </p:cNvPr>
          <p:cNvSpPr txBox="1"/>
          <p:nvPr/>
        </p:nvSpPr>
        <p:spPr>
          <a:xfrm>
            <a:off x="6478621" y="1833664"/>
            <a:ext cx="4610911" cy="3754874"/>
          </a:xfrm>
          <a:prstGeom prst="rect">
            <a:avLst/>
          </a:prstGeom>
          <a:noFill/>
        </p:spPr>
        <p:txBody>
          <a:bodyPr wrap="square" rtlCol="0">
            <a:spAutoFit/>
          </a:bodyPr>
          <a:lstStyle/>
          <a:p>
            <a:pPr marL="342900" indent="-342900">
              <a:buAutoNum type="arabicPeriod"/>
            </a:pPr>
            <a:r>
              <a:rPr lang="zh-CN" altLang="en-US" dirty="0"/>
              <a:t>为了减少数据量，这里我们不研究连续时间的输入</a:t>
            </a:r>
            <a:endParaRPr lang="en-US" altLang="zh-CN" dirty="0"/>
          </a:p>
          <a:p>
            <a:pPr marL="342900" indent="-342900">
              <a:buAutoNum type="arabicPeriod"/>
            </a:pPr>
            <a:endParaRPr lang="en-US" altLang="zh-CN" dirty="0"/>
          </a:p>
          <a:p>
            <a:r>
              <a:rPr lang="zh-CN" altLang="en-US" dirty="0"/>
              <a:t>数据删除时间这个维度，只研究固定时间的输入数据</a:t>
            </a:r>
            <a:endParaRPr lang="en-US" altLang="zh-CN" dirty="0"/>
          </a:p>
          <a:p>
            <a:endParaRPr lang="en-US" altLang="zh-CN" dirty="0"/>
          </a:p>
          <a:p>
            <a:endParaRPr lang="en-US" altLang="zh-CN" dirty="0"/>
          </a:p>
          <a:p>
            <a:pPr marL="342900" indent="-342900">
              <a:buAutoNum type="arabicPeriod" startAt="2"/>
            </a:pPr>
            <a:r>
              <a:rPr lang="zh-CN" altLang="en-US" dirty="0"/>
              <a:t>为了尽可能使得问题变得可复现，这里的预测结果</a:t>
            </a:r>
            <a:endParaRPr lang="en-US" altLang="zh-CN" dirty="0"/>
          </a:p>
          <a:p>
            <a:pPr marL="342900" indent="-342900">
              <a:buAutoNum type="arabicPeriod" startAt="2"/>
            </a:pPr>
            <a:endParaRPr lang="en-US" altLang="zh-CN" dirty="0"/>
          </a:p>
          <a:p>
            <a:r>
              <a:rPr lang="zh-CN" altLang="en-US" dirty="0"/>
              <a:t>时间维度也删除，也就是说我们只研究固定时刻输入数</a:t>
            </a:r>
            <a:endParaRPr lang="en-US" altLang="zh-CN" dirty="0"/>
          </a:p>
          <a:p>
            <a:endParaRPr lang="en-US" altLang="zh-CN" dirty="0"/>
          </a:p>
          <a:p>
            <a:r>
              <a:rPr lang="zh-CN" altLang="en-US" dirty="0"/>
              <a:t>据与输出结果</a:t>
            </a:r>
            <a:r>
              <a:rPr lang="en-US" altLang="zh-CN" dirty="0"/>
              <a:t>outcome</a:t>
            </a:r>
            <a:r>
              <a:rPr lang="zh-CN" altLang="en-US" dirty="0"/>
              <a:t>之间的关系</a:t>
            </a:r>
            <a:endParaRPr lang="en-US" altLang="zh-CN" dirty="0"/>
          </a:p>
          <a:p>
            <a:endParaRPr lang="en-US" altLang="zh-CN" dirty="0"/>
          </a:p>
          <a:p>
            <a:endParaRPr lang="en-US" altLang="zh-CN" dirty="0"/>
          </a:p>
          <a:p>
            <a:pPr marL="342900" indent="-342900">
              <a:buAutoNum type="arabicPeriod" startAt="3"/>
            </a:pPr>
            <a:r>
              <a:rPr lang="zh-CN" altLang="en-US" dirty="0"/>
              <a:t>总结：我们将原来论文研究的通过输入数据预测未</a:t>
            </a:r>
            <a:endParaRPr lang="en-US" altLang="zh-CN" dirty="0"/>
          </a:p>
          <a:p>
            <a:endParaRPr lang="en-US" altLang="zh-CN" dirty="0"/>
          </a:p>
          <a:p>
            <a:r>
              <a:rPr lang="zh-CN" altLang="en-US" dirty="0"/>
              <a:t>来</a:t>
            </a:r>
            <a:r>
              <a:rPr lang="en-US" altLang="zh-CN" dirty="0"/>
              <a:t>60</a:t>
            </a:r>
            <a:r>
              <a:rPr lang="zh-CN" altLang="en-US" dirty="0"/>
              <a:t>分钟是否会高血糖的连续时间的二分类简化为：</a:t>
            </a:r>
            <a:endParaRPr lang="en-US" altLang="zh-CN" dirty="0"/>
          </a:p>
          <a:p>
            <a:endParaRPr lang="en-US" altLang="zh-CN" dirty="0"/>
          </a:p>
          <a:p>
            <a:r>
              <a:rPr lang="zh-CN" altLang="en-US" dirty="0"/>
              <a:t>输入身体健康指标来推测这个人是否有糖尿病</a:t>
            </a:r>
            <a:r>
              <a:rPr lang="en-US" altLang="zh-CN" dirty="0"/>
              <a:t>(</a:t>
            </a:r>
            <a:r>
              <a:rPr lang="zh-CN" altLang="en-US" dirty="0"/>
              <a:t>可能性</a:t>
            </a:r>
            <a:r>
              <a:rPr lang="en-US" altLang="zh-CN" dirty="0"/>
              <a:t>)</a:t>
            </a:r>
            <a:endParaRPr lang="zh-CN"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330BF-5BF1-D858-0889-AEBCBB1564AE}"/>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0D9EF2F7-B937-1396-377B-F6EBA299BED3}"/>
              </a:ext>
            </a:extLst>
          </p:cNvPr>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数据集介绍</a:t>
            </a:r>
            <a:endParaRPr lang="en-US" sz="1100" dirty="0"/>
          </a:p>
        </p:txBody>
      </p:sp>
      <p:sp>
        <p:nvSpPr>
          <p:cNvPr id="3" name="AutoShape 3">
            <a:extLst>
              <a:ext uri="{FF2B5EF4-FFF2-40B4-BE49-F238E27FC236}">
                <a16:creationId xmlns:a16="http://schemas.microsoft.com/office/drawing/2014/main" id="{A8FCBFA6-B5E7-6EEE-A6C2-0C309D51EBE9}"/>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DF28CB72-A3AB-76BC-2644-D9158A93CD9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19" name="AutoShape 19">
            <a:extLst>
              <a:ext uri="{FF2B5EF4-FFF2-40B4-BE49-F238E27FC236}">
                <a16:creationId xmlns:a16="http://schemas.microsoft.com/office/drawing/2014/main" id="{3CA0B97C-CBCF-900B-4265-C1508271044B}"/>
              </a:ext>
            </a:extLst>
          </p:cNvPr>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7" name="文本框 6">
            <a:extLst>
              <a:ext uri="{FF2B5EF4-FFF2-40B4-BE49-F238E27FC236}">
                <a16:creationId xmlns:a16="http://schemas.microsoft.com/office/drawing/2014/main" id="{A2893739-6F7E-073E-43E7-F76FB1C66962}"/>
              </a:ext>
            </a:extLst>
          </p:cNvPr>
          <p:cNvSpPr txBox="1"/>
          <p:nvPr/>
        </p:nvSpPr>
        <p:spPr>
          <a:xfrm>
            <a:off x="3035030" y="822523"/>
            <a:ext cx="2228495" cy="307777"/>
          </a:xfrm>
          <a:prstGeom prst="rect">
            <a:avLst/>
          </a:prstGeom>
          <a:noFill/>
        </p:spPr>
        <p:txBody>
          <a:bodyPr wrap="none" rtlCol="0">
            <a:spAutoFit/>
          </a:bodyPr>
          <a:lstStyle/>
          <a:p>
            <a:r>
              <a:rPr lang="en-US" altLang="zh-CN" dirty="0">
                <a:hlinkClick r:id="rId3"/>
              </a:rPr>
              <a:t>Kaggle </a:t>
            </a:r>
            <a:r>
              <a:rPr lang="zh-CN" altLang="en-US" dirty="0">
                <a:hlinkClick r:id="rId3"/>
              </a:rPr>
              <a:t>糖尿病公开数据集</a:t>
            </a:r>
            <a:endParaRPr lang="zh-CN" altLang="en-US" dirty="0"/>
          </a:p>
        </p:txBody>
      </p:sp>
      <p:sp>
        <p:nvSpPr>
          <p:cNvPr id="14" name="文本框 13">
            <a:extLst>
              <a:ext uri="{FF2B5EF4-FFF2-40B4-BE49-F238E27FC236}">
                <a16:creationId xmlns:a16="http://schemas.microsoft.com/office/drawing/2014/main" id="{DC2B349F-4820-C56F-F147-6040ED90E2C8}"/>
              </a:ext>
            </a:extLst>
          </p:cNvPr>
          <p:cNvSpPr txBox="1"/>
          <p:nvPr/>
        </p:nvSpPr>
        <p:spPr>
          <a:xfrm>
            <a:off x="762000" y="1434830"/>
            <a:ext cx="10541540" cy="800219"/>
          </a:xfrm>
          <a:prstGeom prst="rect">
            <a:avLst/>
          </a:prstGeom>
          <a:noFill/>
        </p:spPr>
        <p:txBody>
          <a:bodyPr wrap="square" rtlCol="0">
            <a:spAutoFit/>
          </a:bodyPr>
          <a:lstStyle/>
          <a:p>
            <a:r>
              <a:rPr lang="zh-CN" altLang="en-US" sz="1800" dirty="0">
                <a:solidFill>
                  <a:srgbClr val="0052FF"/>
                </a:solidFill>
              </a:rPr>
              <a:t>背景：</a:t>
            </a:r>
            <a:endParaRPr lang="en-US" altLang="zh-CN" sz="1800" dirty="0">
              <a:solidFill>
                <a:srgbClr val="0052FF"/>
              </a:solidFill>
            </a:endParaRPr>
          </a:p>
          <a:p>
            <a:endParaRPr lang="en-US" altLang="zh-CN" dirty="0"/>
          </a:p>
          <a:p>
            <a:r>
              <a:rPr lang="zh-CN" altLang="en-US" dirty="0"/>
              <a:t>该数据集最初来自美国国家糖尿病、消化和肾脏疾病研究所。其目标是根据诊断测量结果预测患者是否患有糖尿病。</a:t>
            </a:r>
          </a:p>
        </p:txBody>
      </p:sp>
      <p:sp>
        <p:nvSpPr>
          <p:cNvPr id="15" name="文本框 14">
            <a:extLst>
              <a:ext uri="{FF2B5EF4-FFF2-40B4-BE49-F238E27FC236}">
                <a16:creationId xmlns:a16="http://schemas.microsoft.com/office/drawing/2014/main" id="{63736C6B-EE37-6916-E43F-0351D1F4F758}"/>
              </a:ext>
            </a:extLst>
          </p:cNvPr>
          <p:cNvSpPr txBox="1"/>
          <p:nvPr/>
        </p:nvSpPr>
        <p:spPr>
          <a:xfrm>
            <a:off x="714223" y="2582573"/>
            <a:ext cx="10876284" cy="3170099"/>
          </a:xfrm>
          <a:prstGeom prst="rect">
            <a:avLst/>
          </a:prstGeom>
          <a:noFill/>
        </p:spPr>
        <p:txBody>
          <a:bodyPr wrap="square" rtlCol="0">
            <a:spAutoFit/>
          </a:bodyPr>
          <a:lstStyle/>
          <a:p>
            <a:r>
              <a:rPr lang="zh-CN" altLang="en-US" sz="1800" dirty="0">
                <a:solidFill>
                  <a:srgbClr val="0052FF"/>
                </a:solidFill>
              </a:rPr>
              <a:t>内容：</a:t>
            </a:r>
            <a:endParaRPr lang="en-US" altLang="zh-CN" sz="1800" dirty="0">
              <a:solidFill>
                <a:srgbClr val="0052FF"/>
              </a:solidFill>
            </a:endParaRPr>
          </a:p>
          <a:p>
            <a:endParaRPr lang="en-US" altLang="zh-CN" dirty="0">
              <a:solidFill>
                <a:schemeClr val="accent1"/>
              </a:solidFill>
            </a:endParaRPr>
          </a:p>
          <a:p>
            <a:r>
              <a:rPr lang="zh-CN" altLang="en-US" dirty="0"/>
              <a:t>从大型数据库中选取这些病例时，我们设置了若干限制条件。具体而言，所有患者均为至少 </a:t>
            </a:r>
            <a:r>
              <a:rPr lang="en-US" altLang="zh-CN" dirty="0"/>
              <a:t>21 </a:t>
            </a:r>
            <a:r>
              <a:rPr lang="zh-CN" altLang="en-US" dirty="0"/>
              <a:t>岁且具有皮马印第安人血统的女性。</a:t>
            </a:r>
            <a:endParaRPr lang="en-US" altLang="zh-CN" dirty="0"/>
          </a:p>
          <a:p>
            <a:endParaRPr lang="en-US" altLang="zh-CN" dirty="0"/>
          </a:p>
          <a:p>
            <a:pPr marL="285750" indent="-285750">
              <a:buFontTx/>
              <a:buChar char="-"/>
            </a:pPr>
            <a:r>
              <a:rPr lang="zh-CN" altLang="en-US" dirty="0"/>
              <a:t>妊娠次数：妊娠次数</a:t>
            </a:r>
            <a:endParaRPr lang="en-US" altLang="zh-CN" dirty="0"/>
          </a:p>
          <a:p>
            <a:pPr marL="285750" indent="-285750">
              <a:buFontTx/>
              <a:buChar char="-"/>
            </a:pPr>
            <a:endParaRPr lang="en-US" altLang="zh-CN" dirty="0"/>
          </a:p>
          <a:p>
            <a:pPr marL="285750" indent="-285750">
              <a:buFontTx/>
              <a:buChar char="-"/>
            </a:pPr>
            <a:r>
              <a:rPr lang="zh-CN" altLang="en-US" dirty="0"/>
              <a:t>血糖：口服葡萄糖耐量试验 </a:t>
            </a:r>
            <a:r>
              <a:rPr lang="en-US" altLang="zh-CN" dirty="0"/>
              <a:t>2 </a:t>
            </a:r>
            <a:r>
              <a:rPr lang="zh-CN" altLang="en-US" dirty="0"/>
              <a:t>小时后的血浆葡萄糖浓度</a:t>
            </a:r>
            <a:endParaRPr lang="en-US" altLang="zh-CN" dirty="0"/>
          </a:p>
          <a:p>
            <a:pPr marL="285750" indent="-285750">
              <a:buFontTx/>
              <a:buChar char="-"/>
            </a:pPr>
            <a:endParaRPr lang="en-US" altLang="zh-CN" dirty="0"/>
          </a:p>
          <a:p>
            <a:pPr marL="285750" indent="-285750">
              <a:buFontTx/>
              <a:buChar char="-"/>
            </a:pPr>
            <a:r>
              <a:rPr lang="zh-CN" altLang="en-US" dirty="0"/>
              <a:t>血压：舒张压（毫米汞柱）</a:t>
            </a:r>
            <a:endParaRPr lang="en-US" altLang="zh-CN" dirty="0"/>
          </a:p>
          <a:p>
            <a:pPr marL="285750" indent="-285750">
              <a:buFontTx/>
              <a:buChar char="-"/>
            </a:pPr>
            <a:endParaRPr lang="en-US" altLang="zh-CN" dirty="0"/>
          </a:p>
          <a:p>
            <a:pPr marL="285750" indent="-285750">
              <a:buFontTx/>
              <a:buChar char="-"/>
            </a:pPr>
            <a:r>
              <a:rPr lang="zh-CN" altLang="en-US" dirty="0"/>
              <a:t>皮肤厚度：肱三头肌皮褶厚度（毫米）</a:t>
            </a:r>
            <a:endParaRPr lang="en-US" altLang="zh-CN" dirty="0"/>
          </a:p>
          <a:p>
            <a:pPr marL="285750" indent="-285750">
              <a:buFontTx/>
              <a:buChar char="-"/>
            </a:pPr>
            <a:endParaRPr lang="en-US" altLang="zh-CN" dirty="0"/>
          </a:p>
          <a:p>
            <a:pPr marL="285750" indent="-285750">
              <a:buFontTx/>
              <a:buChar char="-"/>
            </a:pPr>
            <a:r>
              <a:rPr lang="zh-CN" altLang="en-US" dirty="0"/>
              <a:t>胰岛素：</a:t>
            </a:r>
            <a:r>
              <a:rPr lang="en-US" altLang="zh-CN" dirty="0"/>
              <a:t>2 </a:t>
            </a:r>
            <a:r>
              <a:rPr lang="zh-CN" altLang="en-US" dirty="0"/>
              <a:t>小时血清胰岛素（微单位</a:t>
            </a:r>
            <a:r>
              <a:rPr lang="en-US" altLang="zh-CN" dirty="0"/>
              <a:t>/</a:t>
            </a:r>
            <a:r>
              <a:rPr lang="zh-CN" altLang="en-US" dirty="0"/>
              <a:t>毫升）</a:t>
            </a:r>
            <a:endParaRPr lang="en-US" altLang="zh-CN" dirty="0"/>
          </a:p>
          <a:p>
            <a:pPr marL="285750" indent="-285750">
              <a:buFontTx/>
              <a:buChar char="-"/>
            </a:pPr>
            <a:endParaRPr lang="en-US" altLang="zh-CN" dirty="0"/>
          </a:p>
        </p:txBody>
      </p:sp>
      <p:sp>
        <p:nvSpPr>
          <p:cNvPr id="16" name="文本框 15">
            <a:extLst>
              <a:ext uri="{FF2B5EF4-FFF2-40B4-BE49-F238E27FC236}">
                <a16:creationId xmlns:a16="http://schemas.microsoft.com/office/drawing/2014/main" id="{D8C3FEA0-96E0-A5F9-0D13-66BA04F8A05F}"/>
              </a:ext>
            </a:extLst>
          </p:cNvPr>
          <p:cNvSpPr txBox="1"/>
          <p:nvPr/>
        </p:nvSpPr>
        <p:spPr>
          <a:xfrm>
            <a:off x="6152365" y="3429000"/>
            <a:ext cx="4747098" cy="1815882"/>
          </a:xfrm>
          <a:prstGeom prst="rect">
            <a:avLst/>
          </a:prstGeom>
          <a:noFill/>
        </p:spPr>
        <p:txBody>
          <a:bodyPr wrap="square" rtlCol="0">
            <a:spAutoFit/>
          </a:bodyPr>
          <a:lstStyle/>
          <a:p>
            <a:pPr marL="285750" indent="-285750">
              <a:buFontTx/>
              <a:buChar char="-"/>
            </a:pPr>
            <a:r>
              <a:rPr lang="en-US" altLang="zh-CN" dirty="0"/>
              <a:t>BMI</a:t>
            </a:r>
            <a:r>
              <a:rPr lang="zh-CN" altLang="en-US" dirty="0"/>
              <a:t>：体重指数</a:t>
            </a:r>
            <a:endParaRPr lang="en-US" altLang="zh-CN" dirty="0"/>
          </a:p>
          <a:p>
            <a:pPr marL="285750" indent="-285750">
              <a:buFontTx/>
              <a:buChar char="-"/>
            </a:pPr>
            <a:endParaRPr lang="en-US" altLang="zh-CN" dirty="0"/>
          </a:p>
          <a:p>
            <a:pPr marL="285750" indent="-285750">
              <a:buFontTx/>
              <a:buChar char="-"/>
            </a:pPr>
            <a:r>
              <a:rPr lang="zh-CN" altLang="en-US" dirty="0"/>
              <a:t>糖尿病家系：糖尿病谱系函数</a:t>
            </a:r>
            <a:endParaRPr lang="en-US" altLang="zh-CN" dirty="0"/>
          </a:p>
          <a:p>
            <a:pPr marL="285750" indent="-285750">
              <a:buFontTx/>
              <a:buChar char="-"/>
            </a:pPr>
            <a:endParaRPr lang="en-US" altLang="zh-CN" dirty="0"/>
          </a:p>
          <a:p>
            <a:pPr marL="285750" indent="-285750">
              <a:buFontTx/>
              <a:buChar char="-"/>
            </a:pPr>
            <a:r>
              <a:rPr lang="zh-CN" altLang="en-US" dirty="0"/>
              <a:t>年龄：年龄（岁）</a:t>
            </a:r>
            <a:endParaRPr lang="en-US" altLang="zh-CN" dirty="0"/>
          </a:p>
          <a:p>
            <a:pPr marL="285750" indent="-285750">
              <a:buFontTx/>
              <a:buChar char="-"/>
            </a:pPr>
            <a:endParaRPr lang="en-US" altLang="zh-CN" dirty="0"/>
          </a:p>
          <a:p>
            <a:pPr marL="285750" indent="-285750">
              <a:buFontTx/>
              <a:buChar char="-"/>
            </a:pPr>
            <a:r>
              <a:rPr lang="zh-CN" altLang="en-US" dirty="0"/>
              <a:t>结果：分类变量（</a:t>
            </a:r>
            <a:r>
              <a:rPr lang="en-US" altLang="zh-CN" dirty="0"/>
              <a:t>0 </a:t>
            </a:r>
            <a:r>
              <a:rPr lang="zh-CN" altLang="en-US" dirty="0"/>
              <a:t>或 </a:t>
            </a:r>
            <a:r>
              <a:rPr lang="en-US" altLang="zh-CN" dirty="0"/>
              <a:t>1</a:t>
            </a:r>
            <a:r>
              <a:rPr lang="zh-CN" altLang="en-US" dirty="0"/>
              <a:t>）</a:t>
            </a:r>
          </a:p>
          <a:p>
            <a:endParaRPr lang="zh-CN" altLang="en-US" dirty="0"/>
          </a:p>
        </p:txBody>
      </p:sp>
      <p:sp>
        <p:nvSpPr>
          <p:cNvPr id="17" name="文本框 16">
            <a:extLst>
              <a:ext uri="{FF2B5EF4-FFF2-40B4-BE49-F238E27FC236}">
                <a16:creationId xmlns:a16="http://schemas.microsoft.com/office/drawing/2014/main" id="{30DBC2F0-79B5-92C3-036A-7F27FA46BF26}"/>
              </a:ext>
            </a:extLst>
          </p:cNvPr>
          <p:cNvSpPr txBox="1"/>
          <p:nvPr/>
        </p:nvSpPr>
        <p:spPr>
          <a:xfrm>
            <a:off x="5413442" y="818195"/>
            <a:ext cx="1811714" cy="307777"/>
          </a:xfrm>
          <a:prstGeom prst="rect">
            <a:avLst/>
          </a:prstGeom>
          <a:noFill/>
        </p:spPr>
        <p:txBody>
          <a:bodyPr wrap="none" rtlCol="0">
            <a:spAutoFit/>
          </a:bodyPr>
          <a:lstStyle/>
          <a:p>
            <a:r>
              <a:rPr lang="zh-CN" altLang="en-US" dirty="0">
                <a:hlinkClick r:id="rId4" action="ppaction://hlinkfile"/>
              </a:rPr>
              <a:t>数据集表格</a:t>
            </a:r>
            <a:r>
              <a:rPr lang="en-US" altLang="zh-CN" dirty="0">
                <a:hlinkClick r:id="rId4" action="ppaction://hlinkfile"/>
              </a:rPr>
              <a:t>CSV</a:t>
            </a:r>
            <a:r>
              <a:rPr lang="zh-CN" altLang="en-US" dirty="0">
                <a:hlinkClick r:id="rId4" action="ppaction://hlinkfile"/>
              </a:rPr>
              <a:t>文件</a:t>
            </a:r>
            <a:endParaRPr lang="zh-CN" altLang="en-US" dirty="0"/>
          </a:p>
        </p:txBody>
      </p:sp>
    </p:spTree>
    <p:extLst>
      <p:ext uri="{BB962C8B-B14F-4D97-AF65-F5344CB8AC3E}">
        <p14:creationId xmlns:p14="http://schemas.microsoft.com/office/powerpoint/2010/main" val="2806133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75C-7F3C-8CFE-1270-017C34BCFDE9}"/>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EE902E3B-EABA-F961-33F7-0A52454C00B6}"/>
              </a:ext>
            </a:extLst>
          </p:cNvPr>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数据集介绍</a:t>
            </a:r>
            <a:endParaRPr lang="en-US" sz="1100" dirty="0"/>
          </a:p>
        </p:txBody>
      </p:sp>
      <p:sp>
        <p:nvSpPr>
          <p:cNvPr id="3" name="AutoShape 3">
            <a:extLst>
              <a:ext uri="{FF2B5EF4-FFF2-40B4-BE49-F238E27FC236}">
                <a16:creationId xmlns:a16="http://schemas.microsoft.com/office/drawing/2014/main" id="{34C7C4FE-B4CA-D666-4AAA-4B12CC5E5E1B}"/>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29102929-C2C5-FE57-1CBD-2CEF6D5436C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19" name="AutoShape 19">
            <a:extLst>
              <a:ext uri="{FF2B5EF4-FFF2-40B4-BE49-F238E27FC236}">
                <a16:creationId xmlns:a16="http://schemas.microsoft.com/office/drawing/2014/main" id="{5D4E49C4-A65A-7954-AB46-53E4BA53D70A}"/>
              </a:ext>
            </a:extLst>
          </p:cNvPr>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14" name="文本框 13">
            <a:extLst>
              <a:ext uri="{FF2B5EF4-FFF2-40B4-BE49-F238E27FC236}">
                <a16:creationId xmlns:a16="http://schemas.microsoft.com/office/drawing/2014/main" id="{1BF3F90B-AE7D-2DC1-4AB3-2A79509317ED}"/>
              </a:ext>
            </a:extLst>
          </p:cNvPr>
          <p:cNvSpPr txBox="1"/>
          <p:nvPr/>
        </p:nvSpPr>
        <p:spPr>
          <a:xfrm>
            <a:off x="762000" y="1434830"/>
            <a:ext cx="10541540" cy="3724096"/>
          </a:xfrm>
          <a:prstGeom prst="rect">
            <a:avLst/>
          </a:prstGeom>
          <a:noFill/>
        </p:spPr>
        <p:txBody>
          <a:bodyPr wrap="square" rtlCol="0">
            <a:spAutoFit/>
          </a:bodyPr>
          <a:lstStyle/>
          <a:p>
            <a:r>
              <a:rPr lang="zh-CN" altLang="en-US" sz="1800" dirty="0">
                <a:solidFill>
                  <a:srgbClr val="0052FF"/>
                </a:solidFill>
              </a:rPr>
              <a:t>来源：</a:t>
            </a:r>
            <a:endParaRPr lang="en-US" altLang="zh-CN" sz="1800" dirty="0">
              <a:solidFill>
                <a:srgbClr val="0052FF"/>
              </a:solidFill>
            </a:endParaRPr>
          </a:p>
          <a:p>
            <a:endParaRPr lang="en-US" altLang="zh-CN" dirty="0"/>
          </a:p>
          <a:p>
            <a:r>
              <a:rPr lang="en-US" altLang="zh-CN" dirty="0"/>
              <a:t>1.     Original owners: National Institute of Diabetes and Digestive </a:t>
            </a:r>
            <a:r>
              <a:rPr lang="en-US" altLang="zh-CN" dirty="0" err="1"/>
              <a:t>andKidney</a:t>
            </a:r>
            <a:r>
              <a:rPr lang="en-US" altLang="zh-CN" dirty="0"/>
              <a:t> Diseases</a:t>
            </a:r>
          </a:p>
          <a:p>
            <a:br>
              <a:rPr lang="en-US" altLang="zh-CN" dirty="0"/>
            </a:br>
            <a:r>
              <a:rPr lang="en-US" altLang="zh-CN" dirty="0"/>
              <a:t>2.     Donor of database: Vincent </a:t>
            </a:r>
            <a:r>
              <a:rPr lang="en-US" altLang="zh-CN" dirty="0" err="1"/>
              <a:t>Sigillito</a:t>
            </a:r>
            <a:r>
              <a:rPr lang="en-US" altLang="zh-CN" dirty="0"/>
              <a:t> (</a:t>
            </a:r>
            <a:r>
              <a:rPr lang="en-US" altLang="zh-CN" dirty="0">
                <a:hlinkClick r:id="rId3"/>
              </a:rPr>
              <a:t>vgs@aplcen.apl.jhu.edu</a:t>
            </a:r>
            <a:r>
              <a:rPr lang="en-US" altLang="zh-CN" dirty="0"/>
              <a:t>)</a:t>
            </a:r>
            <a:r>
              <a:rPr lang="zh-CN" altLang="en-US" dirty="0"/>
              <a:t>；</a:t>
            </a:r>
            <a:r>
              <a:rPr lang="en-US" altLang="zh-CN" dirty="0"/>
              <a:t>Research Center, RMI Group Leader</a:t>
            </a:r>
            <a:r>
              <a:rPr lang="zh-CN" altLang="en-US" dirty="0"/>
              <a:t>；</a:t>
            </a:r>
            <a:r>
              <a:rPr lang="en-US" altLang="zh-CN" dirty="0"/>
              <a:t>Applied Physics Laboratory</a:t>
            </a:r>
            <a:r>
              <a:rPr lang="zh-CN" altLang="en-US" dirty="0"/>
              <a:t>；</a:t>
            </a:r>
            <a:r>
              <a:rPr lang="en-US" altLang="zh-CN" dirty="0"/>
              <a:t>The Johns Hopkins University</a:t>
            </a:r>
            <a:r>
              <a:rPr lang="zh-CN" altLang="en-US" dirty="0"/>
              <a:t>；</a:t>
            </a:r>
            <a:r>
              <a:rPr lang="en-US" altLang="zh-CN" dirty="0"/>
              <a:t>Johns Hopkins Road</a:t>
            </a:r>
            <a:r>
              <a:rPr lang="zh-CN" altLang="en-US" dirty="0"/>
              <a:t>；</a:t>
            </a:r>
            <a:r>
              <a:rPr lang="en-US" altLang="zh-CN" dirty="0"/>
              <a:t>Laurel, MD 20707(301) 953-6231</a:t>
            </a:r>
            <a:br>
              <a:rPr lang="en-US" altLang="zh-CN" dirty="0"/>
            </a:br>
            <a:endParaRPr lang="en-US" altLang="zh-CN" dirty="0"/>
          </a:p>
          <a:p>
            <a:pPr marL="342900" indent="-342900">
              <a:buAutoNum type="arabicPeriod" startAt="3"/>
            </a:pPr>
            <a:r>
              <a:rPr lang="en-US" altLang="zh-CN" dirty="0"/>
              <a:t>Date received: 9 May 1990</a:t>
            </a:r>
          </a:p>
          <a:p>
            <a:pPr marL="342900" indent="-342900">
              <a:buAutoNum type="arabicPeriod" startAt="3"/>
            </a:pPr>
            <a:endParaRPr lang="en-US" altLang="zh-CN" dirty="0"/>
          </a:p>
          <a:p>
            <a:pPr marL="342900" indent="-342900">
              <a:buAutoNum type="arabicPeriod" startAt="3"/>
            </a:pPr>
            <a:endParaRPr lang="en-US" altLang="zh-CN" dirty="0"/>
          </a:p>
          <a:p>
            <a:r>
              <a:rPr lang="en-US" altLang="zh-CN" b="1" dirty="0"/>
              <a:t>Number of Instances: 768</a:t>
            </a:r>
            <a:endParaRPr lang="en-US" altLang="zh-CN" dirty="0"/>
          </a:p>
          <a:p>
            <a:pPr marL="342900" indent="-342900">
              <a:buAutoNum type="arabicPeriod" startAt="3"/>
            </a:pPr>
            <a:endParaRPr lang="en-US" altLang="zh-CN" dirty="0"/>
          </a:p>
          <a:p>
            <a:pPr marL="342900" indent="-342900">
              <a:buAutoNum type="arabicPeriod" startAt="3"/>
            </a:pPr>
            <a:endParaRPr lang="en-US" altLang="zh-CN" dirty="0"/>
          </a:p>
          <a:p>
            <a:r>
              <a:rPr lang="zh-CN" altLang="en-US" sz="1800" dirty="0">
                <a:solidFill>
                  <a:srgbClr val="0052FF"/>
                </a:solidFill>
              </a:rPr>
              <a:t>说明：</a:t>
            </a:r>
            <a:endParaRPr lang="en-US" altLang="zh-CN" sz="1800" dirty="0">
              <a:solidFill>
                <a:srgbClr val="0052FF"/>
              </a:solidFill>
            </a:endParaRPr>
          </a:p>
          <a:p>
            <a:endParaRPr lang="en-US" altLang="zh-CN" sz="1800" dirty="0">
              <a:solidFill>
                <a:srgbClr val="0052FF"/>
              </a:solidFill>
            </a:endParaRPr>
          </a:p>
          <a:p>
            <a:r>
              <a:rPr lang="zh-CN" altLang="en-US" dirty="0"/>
              <a:t>本数据集将被划分成两部分，</a:t>
            </a:r>
            <a:r>
              <a:rPr lang="en-US" altLang="zh-CN" dirty="0"/>
              <a:t>80%</a:t>
            </a:r>
            <a:r>
              <a:rPr lang="zh-CN" altLang="en-US" dirty="0"/>
              <a:t>的数据用来训练，</a:t>
            </a:r>
            <a:r>
              <a:rPr lang="en-US" altLang="zh-CN" dirty="0"/>
              <a:t>20%</a:t>
            </a:r>
            <a:r>
              <a:rPr lang="zh-CN" altLang="en-US" dirty="0"/>
              <a:t>的数据用来验证</a:t>
            </a:r>
            <a:endParaRPr lang="en-US" altLang="zh-CN" dirty="0"/>
          </a:p>
        </p:txBody>
      </p:sp>
    </p:spTree>
    <p:extLst>
      <p:ext uri="{BB962C8B-B14F-4D97-AF65-F5344CB8AC3E}">
        <p14:creationId xmlns:p14="http://schemas.microsoft.com/office/powerpoint/2010/main" val="3648242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5C0B3-2B1E-EA0F-650C-59ACDDE3EACF}"/>
            </a:ext>
          </a:extLst>
        </p:cNvPr>
        <p:cNvGrpSpPr/>
        <p:nvPr/>
      </p:nvGrpSpPr>
      <p:grpSpPr>
        <a:xfrm>
          <a:off x="0" y="0"/>
          <a:ext cx="0" cy="0"/>
          <a:chOff x="0" y="0"/>
          <a:chExt cx="0" cy="0"/>
        </a:xfrm>
      </p:grpSpPr>
      <p:pic>
        <p:nvPicPr>
          <p:cNvPr id="30" name="图形 29">
            <a:extLst>
              <a:ext uri="{FF2B5EF4-FFF2-40B4-BE49-F238E27FC236}">
                <a16:creationId xmlns:a16="http://schemas.microsoft.com/office/drawing/2014/main" id="{91F9E2FF-752E-DFF5-F360-B59554E593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
            <a:ext cx="12192000" cy="6859051"/>
          </a:xfrm>
          <a:prstGeom prst="rect">
            <a:avLst/>
          </a:prstGeom>
        </p:spPr>
      </p:pic>
      <p:pic>
        <p:nvPicPr>
          <p:cNvPr id="32" name="图形 31">
            <a:extLst>
              <a:ext uri="{FF2B5EF4-FFF2-40B4-BE49-F238E27FC236}">
                <a16:creationId xmlns:a16="http://schemas.microsoft.com/office/drawing/2014/main" id="{57E24BB1-292C-92A0-3A70-CD357B1DBC5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875" y="167005"/>
            <a:ext cx="11518900" cy="6197600"/>
          </a:xfrm>
          <a:prstGeom prst="rect">
            <a:avLst/>
          </a:prstGeom>
        </p:spPr>
      </p:pic>
      <p:pic>
        <p:nvPicPr>
          <p:cNvPr id="3" name="图片 2" descr="9717abb16921ec7e0dd594a564d1e80">
            <a:extLst>
              <a:ext uri="{FF2B5EF4-FFF2-40B4-BE49-F238E27FC236}">
                <a16:creationId xmlns:a16="http://schemas.microsoft.com/office/drawing/2014/main" id="{D3049EDD-3F2E-C204-341B-C4BC820955AC}"/>
              </a:ext>
            </a:extLst>
          </p:cNvPr>
          <p:cNvPicPr>
            <a:picLocks noChangeAspect="1"/>
          </p:cNvPicPr>
          <p:nvPr/>
        </p:nvPicPr>
        <p:blipFill>
          <a:blip r:embed="rId6"/>
          <a:stretch>
            <a:fillRect/>
          </a:stretch>
        </p:blipFill>
        <p:spPr>
          <a:xfrm>
            <a:off x="5309235" y="400685"/>
            <a:ext cx="1502410" cy="1504315"/>
          </a:xfrm>
          <a:prstGeom prst="rect">
            <a:avLst/>
          </a:prstGeom>
        </p:spPr>
      </p:pic>
      <p:sp>
        <p:nvSpPr>
          <p:cNvPr id="10" name="文本框 9">
            <a:extLst>
              <a:ext uri="{FF2B5EF4-FFF2-40B4-BE49-F238E27FC236}">
                <a16:creationId xmlns:a16="http://schemas.microsoft.com/office/drawing/2014/main" id="{2A5C496E-700E-9341-4B37-F79C21D78B3A}"/>
              </a:ext>
            </a:extLst>
          </p:cNvPr>
          <p:cNvSpPr txBox="1"/>
          <p:nvPr/>
        </p:nvSpPr>
        <p:spPr>
          <a:xfrm>
            <a:off x="396873" y="2407596"/>
            <a:ext cx="11518901" cy="1076726"/>
          </a:xfrm>
          <a:prstGeom prst="rect">
            <a:avLst/>
          </a:prstGeom>
          <a:noFill/>
        </p:spPr>
        <p:txBody>
          <a:bodyPr wrap="square" rtlCol="0">
            <a:spAutoFit/>
          </a:bodyPr>
          <a:lstStyle/>
          <a:p>
            <a:pPr algn="ctr"/>
            <a:r>
              <a:rPr lang="zh-CN" altLang="en-US" sz="3200" b="1" dirty="0">
                <a:solidFill>
                  <a:srgbClr val="1F2329"/>
                </a:solidFill>
                <a:ea typeface="Noto Sans SC" panose="020B0200000000000000" charset="-122"/>
                <a:sym typeface="Noto Sans SC" panose="020B0200000000000000" charset="-122"/>
              </a:rPr>
              <a:t>数据分析与传统机器学习</a:t>
            </a:r>
            <a:endParaRPr lang="en-US" altLang="zh-CN" sz="1600" dirty="0"/>
          </a:p>
          <a:p>
            <a:pPr algn="ctr"/>
            <a:endParaRPr lang="en-US" altLang="zh-CN" sz="3200" b="1" dirty="0">
              <a:solidFill>
                <a:srgbClr val="1F2329"/>
              </a:solidFill>
              <a:ea typeface="Noto Sans SC" panose="020B0200000000000000" charset="-122"/>
            </a:endParaRPr>
          </a:p>
        </p:txBody>
      </p:sp>
      <p:cxnSp>
        <p:nvCxnSpPr>
          <p:cNvPr id="13" name="直接连接符 12">
            <a:extLst>
              <a:ext uri="{FF2B5EF4-FFF2-40B4-BE49-F238E27FC236}">
                <a16:creationId xmlns:a16="http://schemas.microsoft.com/office/drawing/2014/main" id="{D2DAABC6-5C6D-DF62-0A2B-31CC4BE37573}"/>
              </a:ext>
            </a:extLst>
          </p:cNvPr>
          <p:cNvCxnSpPr/>
          <p:nvPr/>
        </p:nvCxnSpPr>
        <p:spPr>
          <a:xfrm>
            <a:off x="5544514" y="3115219"/>
            <a:ext cx="1073944" cy="0"/>
          </a:xfrm>
          <a:prstGeom prst="line">
            <a:avLst/>
          </a:prstGeom>
          <a:ln w="28575">
            <a:solidFill>
              <a:srgbClr val="F29635"/>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EE1C94C-B422-96E3-974D-9693CE6C7496}"/>
              </a:ext>
            </a:extLst>
          </p:cNvPr>
          <p:cNvSpPr txBox="1"/>
          <p:nvPr/>
        </p:nvSpPr>
        <p:spPr>
          <a:xfrm>
            <a:off x="3674745" y="3823335"/>
            <a:ext cx="6647180" cy="738664"/>
          </a:xfrm>
          <a:prstGeom prst="rect">
            <a:avLst/>
          </a:prstGeom>
          <a:noFill/>
        </p:spPr>
        <p:txBody>
          <a:bodyPr wrap="square" rtlCol="0">
            <a:spAutoFit/>
          </a:bodyPr>
          <a:lstStyle/>
          <a:p>
            <a:pPr algn="l">
              <a:buSzTx/>
            </a:pPr>
            <a:endParaRPr lang="en-US" altLang="zh-CN" sz="10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en-US" altLang="zh-CN"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Tree>
    <p:extLst>
      <p:ext uri="{BB962C8B-B14F-4D97-AF65-F5344CB8AC3E}">
        <p14:creationId xmlns:p14="http://schemas.microsoft.com/office/powerpoint/2010/main" val="644704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2512E-0D0D-C70F-D971-396A85A50737}"/>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D67E3185-D5FF-6187-0AF3-1881043BA2CA}"/>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传统机器学习</a:t>
            </a:r>
            <a:r>
              <a:rPr lang="zh-CN" altLang="en-US" sz="3200" b="1"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分类流程</a:t>
            </a:r>
            <a:endParaRPr lang="en-US" sz="1100" dirty="0"/>
          </a:p>
        </p:txBody>
      </p:sp>
      <p:sp>
        <p:nvSpPr>
          <p:cNvPr id="3" name="AutoShape 3">
            <a:extLst>
              <a:ext uri="{FF2B5EF4-FFF2-40B4-BE49-F238E27FC236}">
                <a16:creationId xmlns:a16="http://schemas.microsoft.com/office/drawing/2014/main" id="{1DA04421-9970-5AA8-F2F9-48501D20C45E}"/>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29762602-CD58-FECE-552D-34BEF846ADA0}"/>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pic>
        <p:nvPicPr>
          <p:cNvPr id="9" name="图片 8">
            <a:extLst>
              <a:ext uri="{FF2B5EF4-FFF2-40B4-BE49-F238E27FC236}">
                <a16:creationId xmlns:a16="http://schemas.microsoft.com/office/drawing/2014/main" id="{398D66DC-1822-8579-45FC-7B2E2E8457E8}"/>
              </a:ext>
            </a:extLst>
          </p:cNvPr>
          <p:cNvPicPr>
            <a:picLocks noChangeAspect="1"/>
          </p:cNvPicPr>
          <p:nvPr/>
        </p:nvPicPr>
        <p:blipFill>
          <a:blip r:embed="rId3"/>
          <a:stretch>
            <a:fillRect/>
          </a:stretch>
        </p:blipFill>
        <p:spPr>
          <a:xfrm>
            <a:off x="0" y="0"/>
            <a:ext cx="10840376" cy="6858000"/>
          </a:xfrm>
          <a:prstGeom prst="rect">
            <a:avLst/>
          </a:prstGeom>
        </p:spPr>
      </p:pic>
    </p:spTree>
    <p:extLst>
      <p:ext uri="{BB962C8B-B14F-4D97-AF65-F5344CB8AC3E}">
        <p14:creationId xmlns:p14="http://schemas.microsoft.com/office/powerpoint/2010/main" val="18927480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E6FA9-93FF-39C4-C053-610A26204D0D}"/>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D52682E5-AEAC-7594-137E-E5CE6601E355}"/>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数据清洗</a:t>
            </a:r>
            <a:endParaRPr lang="en-US" sz="1100" dirty="0"/>
          </a:p>
        </p:txBody>
      </p:sp>
      <p:sp>
        <p:nvSpPr>
          <p:cNvPr id="3" name="AutoShape 3">
            <a:extLst>
              <a:ext uri="{FF2B5EF4-FFF2-40B4-BE49-F238E27FC236}">
                <a16:creationId xmlns:a16="http://schemas.microsoft.com/office/drawing/2014/main" id="{A9A33C8C-079C-1238-9A88-DF747E2942CD}"/>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DBDB4634-9973-8B2B-ECDF-E8270260D75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4" name="文本框 3">
            <a:extLst>
              <a:ext uri="{FF2B5EF4-FFF2-40B4-BE49-F238E27FC236}">
                <a16:creationId xmlns:a16="http://schemas.microsoft.com/office/drawing/2014/main" id="{72009424-5239-5EF7-C8FF-474F45B44CEF}"/>
              </a:ext>
            </a:extLst>
          </p:cNvPr>
          <p:cNvSpPr txBox="1"/>
          <p:nvPr/>
        </p:nvSpPr>
        <p:spPr>
          <a:xfrm>
            <a:off x="762000" y="1395919"/>
            <a:ext cx="10609634" cy="2031325"/>
          </a:xfrm>
          <a:prstGeom prst="rect">
            <a:avLst/>
          </a:prstGeom>
          <a:noFill/>
        </p:spPr>
        <p:txBody>
          <a:bodyPr wrap="square" rtlCol="0">
            <a:spAutoFit/>
          </a:bodyPr>
          <a:lstStyle/>
          <a:p>
            <a:r>
              <a:rPr lang="zh-CN" altLang="en-US" dirty="0"/>
              <a:t>    数据清洗通常始于评估。它涉及审查数据集以识别需纠正的质量问题。识别到问题时，组织可能会采用各种数据清洗技术</a:t>
            </a:r>
            <a:endParaRPr lang="en-US" altLang="zh-CN" dirty="0"/>
          </a:p>
          <a:p>
            <a:endParaRPr lang="en-US" altLang="zh-CN" dirty="0"/>
          </a:p>
          <a:p>
            <a:pPr fontAlgn="base"/>
            <a:r>
              <a:rPr lang="zh-CN" altLang="en-US" dirty="0"/>
              <a:t>标准化：统一单位格式，像是时间格式等</a:t>
            </a:r>
            <a:endParaRPr lang="en-US" altLang="zh-CN" dirty="0"/>
          </a:p>
          <a:p>
            <a:pPr fontAlgn="base"/>
            <a:endParaRPr lang="en-US" altLang="zh-CN" dirty="0"/>
          </a:p>
          <a:p>
            <a:pPr fontAlgn="base"/>
            <a:r>
              <a:rPr lang="zh-CN" altLang="en-US" dirty="0"/>
              <a:t>解决异常值：由错误、罕见事件或真实异常所引发的与某一数据集中其他数据点存在明显偏差的数据点（箱线图）</a:t>
            </a:r>
            <a:endParaRPr lang="en-US" altLang="zh-CN" dirty="0"/>
          </a:p>
          <a:p>
            <a:pPr fontAlgn="base"/>
            <a:endParaRPr lang="en-US" altLang="zh-CN" dirty="0"/>
          </a:p>
          <a:p>
            <a:pPr fontAlgn="base"/>
            <a:r>
              <a:rPr lang="zh-CN" altLang="en-US" dirty="0"/>
              <a:t>去重：删除多余的数据</a:t>
            </a:r>
            <a:endParaRPr lang="en-US" altLang="zh-CN" dirty="0"/>
          </a:p>
          <a:p>
            <a:pPr fontAlgn="base"/>
            <a:endParaRPr lang="en-US" altLang="zh-CN" dirty="0"/>
          </a:p>
          <a:p>
            <a:pPr fontAlgn="base"/>
            <a:r>
              <a:rPr lang="zh-CN" altLang="en-US" dirty="0"/>
              <a:t>处理缺失值：针对具体问题分析，当数据量比较大时可以直接删除异常值数据。数据量不大时需要保证数据的数学特征不变</a:t>
            </a:r>
            <a:endParaRPr lang="zh-CN" altLang="en-US" b="1" dirty="0"/>
          </a:p>
        </p:txBody>
      </p:sp>
    </p:spTree>
    <p:extLst>
      <p:ext uri="{BB962C8B-B14F-4D97-AF65-F5344CB8AC3E}">
        <p14:creationId xmlns:p14="http://schemas.microsoft.com/office/powerpoint/2010/main" val="1862046246"/>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360</TotalTime>
  <Words>790</Words>
  <Application>Microsoft Office PowerPoint</Application>
  <PresentationFormat>宽屏</PresentationFormat>
  <Paragraphs>127</Paragraphs>
  <Slides>10</Slides>
  <Notes>6</Notes>
  <HiddenSlides>0</HiddenSlides>
  <MMClips>0</MMClips>
  <ScaleCrop>false</ScaleCrop>
  <HeadingPairs>
    <vt:vector size="6" baseType="variant">
      <vt:variant>
        <vt:lpstr>已用的字体</vt:lpstr>
      </vt:variant>
      <vt:variant>
        <vt:i4>3</vt:i4>
      </vt:variant>
      <vt:variant>
        <vt:lpstr>主题</vt:lpstr>
      </vt:variant>
      <vt:variant>
        <vt:i4>2</vt:i4>
      </vt:variant>
      <vt:variant>
        <vt:lpstr>幻灯片标题</vt:lpstr>
      </vt:variant>
      <vt:variant>
        <vt:i4>10</vt:i4>
      </vt:variant>
    </vt:vector>
  </HeadingPairs>
  <TitlesOfParts>
    <vt:vector size="15" baseType="lpstr">
      <vt:lpstr>Noto Sans SC</vt:lpstr>
      <vt:lpstr>黑体</vt:lpstr>
      <vt:lpstr>Arial</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gby@edu.nuc.email</cp:lastModifiedBy>
  <cp:revision>83</cp:revision>
  <dcterms:created xsi:type="dcterms:W3CDTF">2026-03-25T08:22:00Z</dcterms:created>
  <dcterms:modified xsi:type="dcterms:W3CDTF">2026-03-29T05:42:22Z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2052-12.1.0.24657</vt:lpwstr>
  </property>
  <property fmtid="{D5CDD505-2E9C-101B-9397-08002B2CF9AE}" pid="3" name="ICV">
    <vt:lpwstr>8921C6EC268644C88DED4A4F5FCA24EE_12</vt:lpwstr>
  </property>
</Properties>
</file>